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79" r:id="rId8"/>
    <p:sldId id="264" r:id="rId9"/>
    <p:sldId id="265" r:id="rId10"/>
    <p:sldId id="266" r:id="rId11"/>
    <p:sldId id="267" r:id="rId12"/>
    <p:sldId id="269" r:id="rId13"/>
    <p:sldId id="272" r:id="rId14"/>
    <p:sldId id="273" r:id="rId15"/>
    <p:sldId id="274" r:id="rId16"/>
    <p:sldId id="275" r:id="rId17"/>
    <p:sldId id="276" r:id="rId18"/>
    <p:sldId id="278"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BCDDC53-8627-6CF8-6287-2058A278A6BB}">
          <p14:sldIdLst>
            <p14:sldId id="256"/>
          </p14:sldIdLst>
        </p14:section>
        <p14:section name="Problem and architecture" id="{33F86D51-50B5-BF70-EA32-B2695D0D9344}">
          <p14:sldIdLst>
            <p14:sldId id="257"/>
            <p14:sldId id="258"/>
            <p14:sldId id="259"/>
          </p14:sldIdLst>
        </p14:section>
        <p14:section name="dbt transformation" id="{7E82F3BE-042B-27AD-0583-E4ED1D7CDC9A}">
          <p14:sldIdLst>
            <p14:sldId id="260"/>
            <p14:sldId id="261"/>
            <p14:sldId id="279"/>
            <p14:sldId id="264"/>
          </p14:sldIdLst>
        </p14:section>
        <p14:section name="Data quality" id="{D5E840AA-E860-C285-59C6-7231C7CB1661}">
          <p14:sldIdLst>
            <p14:sldId id="265"/>
            <p14:sldId id="266"/>
            <p14:sldId id="267"/>
            <p14:sldId id="269"/>
          </p14:sldIdLst>
        </p14:section>
        <p14:section name="Findings" id="{C483C450-37B4-9139-4F27-3B9CAE6231EE}">
          <p14:sldIdLst>
            <p14:sldId id="272"/>
            <p14:sldId id="273"/>
            <p14:sldId id="274"/>
            <p14:sldId id="275"/>
            <p14:sldId id="276"/>
          </p14:sldIdLst>
        </p14:section>
        <p14:section name="Close" id="{B852EF7D-1DBE-849F-9E22-32513373858F}">
          <p14:sldIdLst>
            <p14:sldId id="27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y wong" initials="sw" lastIdx="6" clrIdx="0">
    <p:extLst>
      <p:ext uri="{19B8F6BF-5375-455C-9EA6-DF929625EA0E}">
        <p15:presenceInfo xmlns:p15="http://schemas.microsoft.com/office/powerpoint/2012/main" userId="8c0bd0d3df39b3d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7" autoAdjust="0"/>
    <p:restoredTop sz="71350" autoAdjust="0"/>
  </p:normalViewPr>
  <p:slideViewPr>
    <p:cSldViewPr snapToGrid="0" snapToObjects="1">
      <p:cViewPr varScale="1">
        <p:scale>
          <a:sx n="70" d="100"/>
          <a:sy n="70" d="100"/>
        </p:scale>
        <p:origin x="269" y="48"/>
      </p:cViewPr>
      <p:guideLst/>
    </p:cSldViewPr>
  </p:slideViewPr>
  <p:outlineViewPr>
    <p:cViewPr>
      <p:scale>
        <a:sx n="33" d="100"/>
        <a:sy n="33" d="100"/>
      </p:scale>
      <p:origin x="0" y="-33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B4A"/>
                </a:solidFill>
                <a:latin typeface="+mn-lt"/>
              </a:defRPr>
            </a:pPr>
            <a:r>
              <a:rPr lang="en-US" sz="1200" b="0" i="0" u="none" strike="noStrike">
                <a:solidFill>
                  <a:srgbClr val="142B4A"/>
                </a:solidFill>
                <a:latin typeface="+mn-lt"/>
              </a:rPr>
              <a:t>Monthly mean price per sq ft, Apr 2013 – Apr 2022</a:t>
            </a:r>
          </a:p>
        </c:rich>
      </c:tx>
      <c:overlay val="0"/>
    </c:title>
    <c:autoTitleDeleted val="0"/>
    <c:plotArea>
      <c:layout/>
      <c:lineChart>
        <c:grouping val="standard"/>
        <c:varyColors val="0"/>
        <c:ser>
          <c:idx val="0"/>
          <c:order val="0"/>
          <c:tx>
            <c:strRef>
              <c:f>Sheet1!$B$1</c:f>
              <c:strCache>
                <c:ptCount val="1"/>
                <c:pt idx="0">
                  <c:v>Median $psf</c:v>
                </c:pt>
              </c:strCache>
            </c:strRef>
          </c:tx>
          <c:spPr>
            <a:ln w="28575" cap="flat">
              <a:solidFill>
                <a:srgbClr val="167D8D"/>
              </a:solidFill>
              <a:prstDash val="solid"/>
              <a:round/>
            </a:ln>
            <a:effectLst/>
          </c:spPr>
          <c:marker>
            <c:symbol val="none"/>
          </c:marker>
          <c:cat>
            <c:strRef>
              <c:f>Sheet1!$A$2:$A$110</c:f>
              <c:strCache>
                <c:ptCount val="109"/>
                <c:pt idx="0">
                  <c:v>2013-04</c:v>
                </c:pt>
                <c:pt idx="1">
                  <c:v>2013-05</c:v>
                </c:pt>
                <c:pt idx="2">
                  <c:v>2013-06</c:v>
                </c:pt>
                <c:pt idx="3">
                  <c:v>2013-07</c:v>
                </c:pt>
                <c:pt idx="4">
                  <c:v>2013-08</c:v>
                </c:pt>
                <c:pt idx="5">
                  <c:v>2013-09</c:v>
                </c:pt>
                <c:pt idx="6">
                  <c:v>2013-10</c:v>
                </c:pt>
                <c:pt idx="7">
                  <c:v>2013-11</c:v>
                </c:pt>
                <c:pt idx="8">
                  <c:v>2013-12</c:v>
                </c:pt>
                <c:pt idx="9">
                  <c:v>2014-01</c:v>
                </c:pt>
                <c:pt idx="10">
                  <c:v>2014-02</c:v>
                </c:pt>
                <c:pt idx="11">
                  <c:v>2014-03</c:v>
                </c:pt>
                <c:pt idx="12">
                  <c:v>2014-04</c:v>
                </c:pt>
                <c:pt idx="13">
                  <c:v>2014-05</c:v>
                </c:pt>
                <c:pt idx="14">
                  <c:v>2014-06</c:v>
                </c:pt>
                <c:pt idx="15">
                  <c:v>2014-07</c:v>
                </c:pt>
                <c:pt idx="16">
                  <c:v>2014-08</c:v>
                </c:pt>
                <c:pt idx="17">
                  <c:v>2014-09</c:v>
                </c:pt>
                <c:pt idx="18">
                  <c:v>2014-10</c:v>
                </c:pt>
                <c:pt idx="19">
                  <c:v>2014-11</c:v>
                </c:pt>
                <c:pt idx="20">
                  <c:v>2014-12</c:v>
                </c:pt>
                <c:pt idx="21">
                  <c:v>2015-01</c:v>
                </c:pt>
                <c:pt idx="22">
                  <c:v>2015-02</c:v>
                </c:pt>
                <c:pt idx="23">
                  <c:v>2015-03</c:v>
                </c:pt>
                <c:pt idx="24">
                  <c:v>2015-04</c:v>
                </c:pt>
                <c:pt idx="25">
                  <c:v>2015-05</c:v>
                </c:pt>
                <c:pt idx="26">
                  <c:v>2015-06</c:v>
                </c:pt>
                <c:pt idx="27">
                  <c:v>2015-07</c:v>
                </c:pt>
                <c:pt idx="28">
                  <c:v>2015-08</c:v>
                </c:pt>
                <c:pt idx="29">
                  <c:v>2015-09</c:v>
                </c:pt>
                <c:pt idx="30">
                  <c:v>2015-10</c:v>
                </c:pt>
                <c:pt idx="31">
                  <c:v>2015-11</c:v>
                </c:pt>
                <c:pt idx="32">
                  <c:v>2015-12</c:v>
                </c:pt>
                <c:pt idx="33">
                  <c:v>2016-01</c:v>
                </c:pt>
                <c:pt idx="34">
                  <c:v>2016-02</c:v>
                </c:pt>
                <c:pt idx="35">
                  <c:v>2016-03</c:v>
                </c:pt>
                <c:pt idx="36">
                  <c:v>2016-04</c:v>
                </c:pt>
                <c:pt idx="37">
                  <c:v>2016-05</c:v>
                </c:pt>
                <c:pt idx="38">
                  <c:v>2016-06</c:v>
                </c:pt>
                <c:pt idx="39">
                  <c:v>2016-07</c:v>
                </c:pt>
                <c:pt idx="40">
                  <c:v>2016-08</c:v>
                </c:pt>
                <c:pt idx="41">
                  <c:v>2016-09</c:v>
                </c:pt>
                <c:pt idx="42">
                  <c:v>2016-10</c:v>
                </c:pt>
                <c:pt idx="43">
                  <c:v>2016-11</c:v>
                </c:pt>
                <c:pt idx="44">
                  <c:v>2016-12</c:v>
                </c:pt>
                <c:pt idx="45">
                  <c:v>2017-01</c:v>
                </c:pt>
                <c:pt idx="46">
                  <c:v>2017-02</c:v>
                </c:pt>
                <c:pt idx="47">
                  <c:v>2017-03</c:v>
                </c:pt>
                <c:pt idx="48">
                  <c:v>2017-04</c:v>
                </c:pt>
                <c:pt idx="49">
                  <c:v>2017-05</c:v>
                </c:pt>
                <c:pt idx="50">
                  <c:v>2017-06</c:v>
                </c:pt>
                <c:pt idx="51">
                  <c:v>2017-07</c:v>
                </c:pt>
                <c:pt idx="52">
                  <c:v>2017-08</c:v>
                </c:pt>
                <c:pt idx="53">
                  <c:v>2017-09</c:v>
                </c:pt>
                <c:pt idx="54">
                  <c:v>2017-10</c:v>
                </c:pt>
                <c:pt idx="55">
                  <c:v>2017-11</c:v>
                </c:pt>
                <c:pt idx="56">
                  <c:v>2017-12</c:v>
                </c:pt>
                <c:pt idx="57">
                  <c:v>2018-01</c:v>
                </c:pt>
                <c:pt idx="58">
                  <c:v>2018-02</c:v>
                </c:pt>
                <c:pt idx="59">
                  <c:v>2018-03</c:v>
                </c:pt>
                <c:pt idx="60">
                  <c:v>2018-04</c:v>
                </c:pt>
                <c:pt idx="61">
                  <c:v>2018-05</c:v>
                </c:pt>
                <c:pt idx="62">
                  <c:v>2018-06</c:v>
                </c:pt>
                <c:pt idx="63">
                  <c:v>2018-07</c:v>
                </c:pt>
                <c:pt idx="64">
                  <c:v>2018-08</c:v>
                </c:pt>
                <c:pt idx="65">
                  <c:v>2018-09</c:v>
                </c:pt>
                <c:pt idx="66">
                  <c:v>2018-10</c:v>
                </c:pt>
                <c:pt idx="67">
                  <c:v>2018-11</c:v>
                </c:pt>
                <c:pt idx="68">
                  <c:v>2018-12</c:v>
                </c:pt>
                <c:pt idx="69">
                  <c:v>2019-01</c:v>
                </c:pt>
                <c:pt idx="70">
                  <c:v>2019-02</c:v>
                </c:pt>
                <c:pt idx="71">
                  <c:v>2019-03</c:v>
                </c:pt>
                <c:pt idx="72">
                  <c:v>2019-04</c:v>
                </c:pt>
                <c:pt idx="73">
                  <c:v>2019-05</c:v>
                </c:pt>
                <c:pt idx="74">
                  <c:v>2019-06</c:v>
                </c:pt>
                <c:pt idx="75">
                  <c:v>2019-07</c:v>
                </c:pt>
                <c:pt idx="76">
                  <c:v>2019-08</c:v>
                </c:pt>
                <c:pt idx="77">
                  <c:v>2019-09</c:v>
                </c:pt>
                <c:pt idx="78">
                  <c:v>2019-10</c:v>
                </c:pt>
                <c:pt idx="79">
                  <c:v>2019-11</c:v>
                </c:pt>
                <c:pt idx="80">
                  <c:v>2019-12</c:v>
                </c:pt>
                <c:pt idx="81">
                  <c:v>2020-01</c:v>
                </c:pt>
                <c:pt idx="82">
                  <c:v>2020-02</c:v>
                </c:pt>
                <c:pt idx="83">
                  <c:v>2020-03</c:v>
                </c:pt>
                <c:pt idx="84">
                  <c:v>2020-04</c:v>
                </c:pt>
                <c:pt idx="85">
                  <c:v>2020-05</c:v>
                </c:pt>
                <c:pt idx="86">
                  <c:v>2020-06</c:v>
                </c:pt>
                <c:pt idx="87">
                  <c:v>2020-07</c:v>
                </c:pt>
                <c:pt idx="88">
                  <c:v>2020-08</c:v>
                </c:pt>
                <c:pt idx="89">
                  <c:v>2020-09</c:v>
                </c:pt>
                <c:pt idx="90">
                  <c:v>2020-10</c:v>
                </c:pt>
                <c:pt idx="91">
                  <c:v>2020-11</c:v>
                </c:pt>
                <c:pt idx="92">
                  <c:v>2020-12</c:v>
                </c:pt>
                <c:pt idx="93">
                  <c:v>2021-01</c:v>
                </c:pt>
                <c:pt idx="94">
                  <c:v>2021-02</c:v>
                </c:pt>
                <c:pt idx="95">
                  <c:v>2021-03</c:v>
                </c:pt>
                <c:pt idx="96">
                  <c:v>2021-04</c:v>
                </c:pt>
                <c:pt idx="97">
                  <c:v>2021-05</c:v>
                </c:pt>
                <c:pt idx="98">
                  <c:v>2021-06</c:v>
                </c:pt>
                <c:pt idx="99">
                  <c:v>2021-07</c:v>
                </c:pt>
                <c:pt idx="100">
                  <c:v>2021-08</c:v>
                </c:pt>
                <c:pt idx="101">
                  <c:v>2021-09</c:v>
                </c:pt>
                <c:pt idx="102">
                  <c:v>2021-10</c:v>
                </c:pt>
                <c:pt idx="103">
                  <c:v>2021-11</c:v>
                </c:pt>
                <c:pt idx="104">
                  <c:v>2021-12</c:v>
                </c:pt>
                <c:pt idx="105">
                  <c:v>2022-01</c:v>
                </c:pt>
                <c:pt idx="106">
                  <c:v>2022-02</c:v>
                </c:pt>
                <c:pt idx="107">
                  <c:v>2022-03</c:v>
                </c:pt>
                <c:pt idx="108">
                  <c:v>2022-04</c:v>
                </c:pt>
              </c:strCache>
            </c:strRef>
          </c:cat>
          <c:val>
            <c:numRef>
              <c:f>Sheet1!$B$2:$B$110</c:f>
              <c:numCache>
                <c:formatCode>General</c:formatCode>
                <c:ptCount val="109"/>
                <c:pt idx="0">
                  <c:v>1300</c:v>
                </c:pt>
                <c:pt idx="1">
                  <c:v>1333</c:v>
                </c:pt>
                <c:pt idx="2">
                  <c:v>1265</c:v>
                </c:pt>
                <c:pt idx="3">
                  <c:v>1426.5</c:v>
                </c:pt>
                <c:pt idx="4">
                  <c:v>1299</c:v>
                </c:pt>
                <c:pt idx="5">
                  <c:v>1431.5</c:v>
                </c:pt>
                <c:pt idx="6">
                  <c:v>1346</c:v>
                </c:pt>
                <c:pt idx="7">
                  <c:v>1191.5</c:v>
                </c:pt>
                <c:pt idx="8">
                  <c:v>1650</c:v>
                </c:pt>
                <c:pt idx="9">
                  <c:v>1271</c:v>
                </c:pt>
                <c:pt idx="10">
                  <c:v>1153</c:v>
                </c:pt>
                <c:pt idx="11">
                  <c:v>1151</c:v>
                </c:pt>
                <c:pt idx="12">
                  <c:v>1245</c:v>
                </c:pt>
                <c:pt idx="13">
                  <c:v>1377</c:v>
                </c:pt>
                <c:pt idx="14">
                  <c:v>1156</c:v>
                </c:pt>
                <c:pt idx="15">
                  <c:v>1278</c:v>
                </c:pt>
                <c:pt idx="16">
                  <c:v>1330</c:v>
                </c:pt>
                <c:pt idx="17">
                  <c:v>1300</c:v>
                </c:pt>
                <c:pt idx="18">
                  <c:v>1355</c:v>
                </c:pt>
                <c:pt idx="19">
                  <c:v>1426</c:v>
                </c:pt>
                <c:pt idx="20">
                  <c:v>1318</c:v>
                </c:pt>
                <c:pt idx="21">
                  <c:v>1253</c:v>
                </c:pt>
                <c:pt idx="22">
                  <c:v>1240</c:v>
                </c:pt>
                <c:pt idx="23">
                  <c:v>1232</c:v>
                </c:pt>
                <c:pt idx="24">
                  <c:v>1285</c:v>
                </c:pt>
                <c:pt idx="25">
                  <c:v>1282</c:v>
                </c:pt>
                <c:pt idx="26">
                  <c:v>1285</c:v>
                </c:pt>
                <c:pt idx="27">
                  <c:v>1044</c:v>
                </c:pt>
                <c:pt idx="28">
                  <c:v>1205</c:v>
                </c:pt>
                <c:pt idx="29">
                  <c:v>1198</c:v>
                </c:pt>
                <c:pt idx="30">
                  <c:v>1270</c:v>
                </c:pt>
                <c:pt idx="31">
                  <c:v>1363</c:v>
                </c:pt>
                <c:pt idx="32">
                  <c:v>1222</c:v>
                </c:pt>
                <c:pt idx="33">
                  <c:v>1235</c:v>
                </c:pt>
                <c:pt idx="34">
                  <c:v>1228.5</c:v>
                </c:pt>
                <c:pt idx="35">
                  <c:v>1272.5</c:v>
                </c:pt>
                <c:pt idx="36">
                  <c:v>1309</c:v>
                </c:pt>
                <c:pt idx="37">
                  <c:v>1389</c:v>
                </c:pt>
                <c:pt idx="38">
                  <c:v>1295</c:v>
                </c:pt>
                <c:pt idx="39">
                  <c:v>1332</c:v>
                </c:pt>
                <c:pt idx="40">
                  <c:v>1278.5</c:v>
                </c:pt>
                <c:pt idx="41">
                  <c:v>1297</c:v>
                </c:pt>
                <c:pt idx="42">
                  <c:v>1299.5</c:v>
                </c:pt>
                <c:pt idx="43">
                  <c:v>1316.5</c:v>
                </c:pt>
                <c:pt idx="44">
                  <c:v>1219</c:v>
                </c:pt>
                <c:pt idx="45">
                  <c:v>1261.5</c:v>
                </c:pt>
                <c:pt idx="46">
                  <c:v>1307</c:v>
                </c:pt>
                <c:pt idx="47">
                  <c:v>1379</c:v>
                </c:pt>
                <c:pt idx="48">
                  <c:v>1490</c:v>
                </c:pt>
                <c:pt idx="49">
                  <c:v>1306</c:v>
                </c:pt>
                <c:pt idx="50">
                  <c:v>1293</c:v>
                </c:pt>
                <c:pt idx="51">
                  <c:v>1351.5</c:v>
                </c:pt>
                <c:pt idx="52">
                  <c:v>1340.5</c:v>
                </c:pt>
                <c:pt idx="53">
                  <c:v>1317.5</c:v>
                </c:pt>
                <c:pt idx="54">
                  <c:v>1394</c:v>
                </c:pt>
                <c:pt idx="55">
                  <c:v>1312</c:v>
                </c:pt>
                <c:pt idx="56">
                  <c:v>1298</c:v>
                </c:pt>
                <c:pt idx="57">
                  <c:v>1314</c:v>
                </c:pt>
                <c:pt idx="58">
                  <c:v>1326.5</c:v>
                </c:pt>
                <c:pt idx="59">
                  <c:v>1360</c:v>
                </c:pt>
                <c:pt idx="60">
                  <c:v>1423.5</c:v>
                </c:pt>
                <c:pt idx="61">
                  <c:v>1402</c:v>
                </c:pt>
                <c:pt idx="62">
                  <c:v>1444</c:v>
                </c:pt>
                <c:pt idx="63">
                  <c:v>1436</c:v>
                </c:pt>
                <c:pt idx="64">
                  <c:v>1467</c:v>
                </c:pt>
                <c:pt idx="65">
                  <c:v>1577.5</c:v>
                </c:pt>
                <c:pt idx="66">
                  <c:v>1414</c:v>
                </c:pt>
                <c:pt idx="67">
                  <c:v>1600</c:v>
                </c:pt>
                <c:pt idx="68">
                  <c:v>1459</c:v>
                </c:pt>
                <c:pt idx="69">
                  <c:v>1454.5</c:v>
                </c:pt>
                <c:pt idx="70">
                  <c:v>1467.5</c:v>
                </c:pt>
                <c:pt idx="71">
                  <c:v>1411</c:v>
                </c:pt>
                <c:pt idx="72">
                  <c:v>1471</c:v>
                </c:pt>
                <c:pt idx="73">
                  <c:v>1522.5</c:v>
                </c:pt>
                <c:pt idx="74">
                  <c:v>1483</c:v>
                </c:pt>
                <c:pt idx="75">
                  <c:v>1517</c:v>
                </c:pt>
                <c:pt idx="76">
                  <c:v>1533</c:v>
                </c:pt>
                <c:pt idx="77">
                  <c:v>1622.5</c:v>
                </c:pt>
                <c:pt idx="78">
                  <c:v>1543.5</c:v>
                </c:pt>
                <c:pt idx="79">
                  <c:v>1634</c:v>
                </c:pt>
                <c:pt idx="80">
                  <c:v>1550</c:v>
                </c:pt>
                <c:pt idx="81">
                  <c:v>1545</c:v>
                </c:pt>
                <c:pt idx="82">
                  <c:v>1666</c:v>
                </c:pt>
                <c:pt idx="83">
                  <c:v>1484</c:v>
                </c:pt>
                <c:pt idx="84">
                  <c:v>1451</c:v>
                </c:pt>
                <c:pt idx="85">
                  <c:v>1574</c:v>
                </c:pt>
                <c:pt idx="86">
                  <c:v>1625</c:v>
                </c:pt>
                <c:pt idx="87">
                  <c:v>1514</c:v>
                </c:pt>
                <c:pt idx="88">
                  <c:v>1576</c:v>
                </c:pt>
                <c:pt idx="89">
                  <c:v>1531.5</c:v>
                </c:pt>
                <c:pt idx="90">
                  <c:v>1461</c:v>
                </c:pt>
                <c:pt idx="91">
                  <c:v>1543</c:v>
                </c:pt>
                <c:pt idx="92">
                  <c:v>1581</c:v>
                </c:pt>
                <c:pt idx="93">
                  <c:v>1719</c:v>
                </c:pt>
                <c:pt idx="94">
                  <c:v>1500</c:v>
                </c:pt>
                <c:pt idx="95">
                  <c:v>1643</c:v>
                </c:pt>
                <c:pt idx="96">
                  <c:v>1645</c:v>
                </c:pt>
                <c:pt idx="97">
                  <c:v>1519</c:v>
                </c:pt>
                <c:pt idx="98">
                  <c:v>1579</c:v>
                </c:pt>
                <c:pt idx="99">
                  <c:v>1619</c:v>
                </c:pt>
                <c:pt idx="100">
                  <c:v>1503</c:v>
                </c:pt>
                <c:pt idx="101">
                  <c:v>1556</c:v>
                </c:pt>
                <c:pt idx="102">
                  <c:v>1606</c:v>
                </c:pt>
                <c:pt idx="103">
                  <c:v>1724</c:v>
                </c:pt>
                <c:pt idx="104">
                  <c:v>1593</c:v>
                </c:pt>
                <c:pt idx="105">
                  <c:v>1629</c:v>
                </c:pt>
                <c:pt idx="106">
                  <c:v>1639</c:v>
                </c:pt>
                <c:pt idx="107">
                  <c:v>1646.5</c:v>
                </c:pt>
                <c:pt idx="108">
                  <c:v>1813</c:v>
                </c:pt>
              </c:numCache>
            </c:numRef>
          </c:val>
          <c:smooth val="0"/>
          <c:extLst>
            <c:ext xmlns:c16="http://schemas.microsoft.com/office/drawing/2014/chart" uri="{C3380CC4-5D6E-409C-BE32-E72D297353CC}">
              <c16:uniqueId val="{00000000-3893-490E-B878-F4D62EFB09AF}"/>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title>
          <c:tx>
            <c:rich>
              <a:bodyPr/>
              <a:lstStyle/>
              <a:p>
                <a:pPr>
                  <a:defRPr sz="1100" b="0" i="0" u="none" strike="noStrike">
                    <a:solidFill>
                      <a:srgbClr val="142B4A"/>
                    </a:solidFill>
                    <a:latin typeface="+mn-lt"/>
                  </a:defRPr>
                </a:pPr>
                <a:r>
                  <a:rPr lang="en-SG" sz="1100" b="0" i="0" u="none" strike="noStrike">
                    <a:solidFill>
                      <a:srgbClr val="142B4A"/>
                    </a:solidFill>
                    <a:latin typeface="+mn-lt"/>
                  </a:rPr>
                  <a:t>Month</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5657A"/>
                </a:solidFill>
                <a:latin typeface="+mn-lt"/>
              </a:defRPr>
            </a:pPr>
            <a:endParaRPr lang="en-US"/>
          </a:p>
        </c:txPr>
        <c:crossAx val="2094734552"/>
        <c:crosses val="autoZero"/>
        <c:auto val="1"/>
        <c:lblAlgn val="ctr"/>
        <c:lblOffset val="100"/>
        <c:tickLblSkip val="6"/>
        <c:noMultiLvlLbl val="1"/>
      </c:catAx>
      <c:valAx>
        <c:axId val="2094734552"/>
        <c:scaling>
          <c:orientation val="minMax"/>
          <c:max val="2500"/>
          <c:min val="0"/>
        </c:scaling>
        <c:delete val="0"/>
        <c:axPos val="l"/>
        <c:majorGridlines>
          <c:spPr>
            <a:ln w="9525" cap="flat">
              <a:solidFill>
                <a:srgbClr val="E3E8EE"/>
              </a:solidFill>
              <a:prstDash val="solid"/>
              <a:round/>
            </a:ln>
          </c:spPr>
        </c:majorGridlines>
        <c:title>
          <c:tx>
            <c:rich>
              <a:bodyPr/>
              <a:lstStyle/>
              <a:p>
                <a:pPr>
                  <a:defRPr sz="1100" b="0" i="0" u="none" strike="noStrike">
                    <a:solidFill>
                      <a:srgbClr val="142B4A"/>
                    </a:solidFill>
                    <a:latin typeface="+mn-lt"/>
                  </a:defRPr>
                </a:pPr>
                <a:r>
                  <a:rPr lang="en-US" sz="1100" b="0" i="0" u="none" strike="noStrike">
                    <a:solidFill>
                      <a:srgbClr val="142B4A"/>
                    </a:solidFill>
                    <a:latin typeface="+mn-lt"/>
                  </a:rPr>
                  <a:t>Average price per sq ft (S$)</a:t>
                </a:r>
              </a:p>
            </c:rich>
          </c:tx>
          <c:overlay val="0"/>
        </c:title>
        <c:numFmt formatCode="#,##0" sourceLinked="0"/>
        <c:majorTickMark val="out"/>
        <c:minorTickMark val="none"/>
        <c:tickLblPos val="nextTo"/>
        <c:spPr>
          <a:ln w="12700" cap="flat">
            <a:solidFill>
              <a:srgbClr val="888888"/>
            </a:solidFill>
            <a:prstDash val="solid"/>
            <a:round/>
          </a:ln>
        </c:spPr>
        <c:txPr>
          <a:bodyPr/>
          <a:lstStyle/>
          <a:p>
            <a:pPr>
              <a:defRPr sz="1050" b="0" i="0" u="none" strike="noStrike">
                <a:solidFill>
                  <a:srgbClr val="55657A"/>
                </a:solidFill>
                <a:latin typeface="+mn-lt"/>
              </a:defRPr>
            </a:pPr>
            <a:endParaRPr lang="en-US"/>
          </a:p>
        </c:txPr>
        <c:crossAx val="2094734554"/>
        <c:crosses val="autoZero"/>
        <c:crossBetween val="between"/>
        <c:majorUnit val="5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B4A"/>
                </a:solidFill>
                <a:latin typeface="+mn-lt"/>
              </a:defRPr>
            </a:pPr>
            <a:r>
              <a:rPr lang="en-US" sz="1200" b="0" i="0" u="none" strike="noStrike">
                <a:solidFill>
                  <a:srgbClr val="142B4A"/>
                </a:solidFill>
                <a:latin typeface="+mn-lt"/>
              </a:rPr>
              <a:t>Top 10 projects by transaction count, Apr 2013 – Apr 2022</a:t>
            </a:r>
          </a:p>
        </c:rich>
      </c:tx>
      <c:overlay val="0"/>
    </c:title>
    <c:autoTitleDeleted val="0"/>
    <c:plotArea>
      <c:layout/>
      <c:barChart>
        <c:barDir val="bar"/>
        <c:grouping val="clustered"/>
        <c:varyColors val="0"/>
        <c:ser>
          <c:idx val="0"/>
          <c:order val="0"/>
          <c:tx>
            <c:strRef>
              <c:f>Sheet1!$B$1</c:f>
              <c:strCache>
                <c:ptCount val="1"/>
                <c:pt idx="0">
                  <c:v>Transactions</c:v>
                </c:pt>
              </c:strCache>
            </c:strRef>
          </c:tx>
          <c:spPr>
            <a:solidFill>
              <a:srgbClr val="167D8D"/>
            </a:solidFill>
            <a:effectLst/>
          </c:spPr>
          <c:invertIfNegative val="0"/>
          <c:dLbls>
            <c:numFmt formatCode="#,##0" sourceLinked="0"/>
            <c:spPr>
              <a:noFill/>
              <a:ln>
                <a:noFill/>
              </a:ln>
              <a:effectLst/>
            </c:spPr>
            <c:txPr>
              <a:bodyPr/>
              <a:lstStyle/>
              <a:p>
                <a:pPr>
                  <a:defRPr sz="1050" b="0" i="0" u="none" strike="noStrike">
                    <a:solidFill>
                      <a:srgbClr val="142B4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THE TAPESTRY</c:v>
                </c:pt>
                <c:pt idx="1">
                  <c:v>STIRLING RESIDENCES</c:v>
                </c:pt>
                <c:pt idx="2">
                  <c:v>THE FLORENCE RESIDENCES</c:v>
                </c:pt>
                <c:pt idx="3">
                  <c:v>KINGSFORD WATERBAY</c:v>
                </c:pt>
                <c:pt idx="4">
                  <c:v>PARC CLEMATIS</c:v>
                </c:pt>
                <c:pt idx="5">
                  <c:v>PARC ESTA</c:v>
                </c:pt>
                <c:pt idx="6">
                  <c:v>RIVERFRONT RESIDENCES</c:v>
                </c:pt>
                <c:pt idx="7">
                  <c:v>HIGH PARK RESIDENCES</c:v>
                </c:pt>
                <c:pt idx="8">
                  <c:v>NORMANTON PARK</c:v>
                </c:pt>
                <c:pt idx="9">
                  <c:v>TREASURE AT TAMPINES</c:v>
                </c:pt>
              </c:strCache>
            </c:strRef>
          </c:cat>
          <c:val>
            <c:numRef>
              <c:f>Sheet1!$B$2:$B$11</c:f>
              <c:numCache>
                <c:formatCode>General</c:formatCode>
                <c:ptCount val="10"/>
                <c:pt idx="0">
                  <c:v>1214</c:v>
                </c:pt>
                <c:pt idx="1">
                  <c:v>1273</c:v>
                </c:pt>
                <c:pt idx="2">
                  <c:v>1347</c:v>
                </c:pt>
                <c:pt idx="3">
                  <c:v>1364</c:v>
                </c:pt>
                <c:pt idx="4">
                  <c:v>1380</c:v>
                </c:pt>
                <c:pt idx="5">
                  <c:v>1406</c:v>
                </c:pt>
                <c:pt idx="6">
                  <c:v>1483</c:v>
                </c:pt>
                <c:pt idx="7">
                  <c:v>1704</c:v>
                </c:pt>
                <c:pt idx="8">
                  <c:v>1753</c:v>
                </c:pt>
                <c:pt idx="9">
                  <c:v>2208</c:v>
                </c:pt>
              </c:numCache>
            </c:numRef>
          </c:val>
          <c:extLst>
            <c:ext xmlns:c16="http://schemas.microsoft.com/office/drawing/2014/chart" uri="{C3380CC4-5D6E-409C-BE32-E72D297353CC}">
              <c16:uniqueId val="{00000000-E9FD-406E-B857-3870C09CF176}"/>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title>
          <c:tx>
            <c:rich>
              <a:bodyPr/>
              <a:lstStyle/>
              <a:p>
                <a:pPr>
                  <a:defRPr sz="1100" b="0" i="0" u="none" strike="noStrike">
                    <a:solidFill>
                      <a:srgbClr val="142B4A"/>
                    </a:solidFill>
                    <a:latin typeface="+mn-lt"/>
                  </a:defRPr>
                </a:pPr>
                <a:r>
                  <a:rPr lang="en-SG" sz="1100" b="0" i="0" u="none" strike="noStrike">
                    <a:solidFill>
                      <a:srgbClr val="142B4A"/>
                    </a:solidFill>
                    <a:latin typeface="+mn-lt"/>
                  </a:rPr>
                  <a:t>Project</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5657A"/>
                </a:solidFill>
                <a:latin typeface="+mn-lt"/>
              </a:defRPr>
            </a:pPr>
            <a:endParaRPr lang="en-US"/>
          </a:p>
        </c:txPr>
        <c:crossAx val="2094734552"/>
        <c:crosses val="autoZero"/>
        <c:auto val="1"/>
        <c:lblAlgn val="ctr"/>
        <c:lblOffset val="100"/>
        <c:noMultiLvlLbl val="1"/>
      </c:catAx>
      <c:valAx>
        <c:axId val="2094734552"/>
        <c:scaling>
          <c:orientation val="minMax"/>
          <c:max val="2500"/>
          <c:min val="0"/>
        </c:scaling>
        <c:delete val="0"/>
        <c:axPos val="b"/>
        <c:majorGridlines>
          <c:spPr>
            <a:ln w="9525" cap="flat">
              <a:solidFill>
                <a:srgbClr val="E3E8EE"/>
              </a:solidFill>
              <a:prstDash val="solid"/>
              <a:round/>
            </a:ln>
          </c:spPr>
        </c:majorGridlines>
        <c:title>
          <c:tx>
            <c:rich>
              <a:bodyPr/>
              <a:lstStyle/>
              <a:p>
                <a:pPr>
                  <a:defRPr sz="1100" b="0" i="0" u="none" strike="noStrike">
                    <a:solidFill>
                      <a:srgbClr val="142B4A"/>
                    </a:solidFill>
                    <a:latin typeface="+mn-lt"/>
                  </a:defRPr>
                </a:pPr>
                <a:r>
                  <a:rPr lang="en-SG" sz="1100" b="0" i="0" u="none" strike="noStrike">
                    <a:solidFill>
                      <a:srgbClr val="142B4A"/>
                    </a:solidFill>
                    <a:latin typeface="+mn-lt"/>
                  </a:rPr>
                  <a:t>Transactions (count)</a:t>
                </a:r>
              </a:p>
            </c:rich>
          </c:tx>
          <c:overlay val="0"/>
        </c:title>
        <c:numFmt formatCode="#,##0" sourceLinked="0"/>
        <c:majorTickMark val="out"/>
        <c:minorTickMark val="none"/>
        <c:tickLblPos val="low"/>
        <c:spPr>
          <a:ln w="12700" cap="flat">
            <a:solidFill>
              <a:srgbClr val="888888"/>
            </a:solidFill>
            <a:prstDash val="solid"/>
            <a:round/>
          </a:ln>
        </c:spPr>
        <c:txPr>
          <a:bodyPr/>
          <a:lstStyle/>
          <a:p>
            <a:pPr>
              <a:defRPr sz="1050" b="0" i="0" u="none" strike="noStrike">
                <a:solidFill>
                  <a:srgbClr val="55657A"/>
                </a:solidFill>
                <a:latin typeface="+mn-lt"/>
              </a:defRPr>
            </a:pPr>
            <a:endParaRPr lang="en-US"/>
          </a:p>
        </c:txPr>
        <c:crossAx val="2094734554"/>
        <c:crosses val="autoZero"/>
        <c:crossBetween val="between"/>
        <c:majorUnit val="50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B4A"/>
                </a:solidFill>
                <a:latin typeface="+mn-lt"/>
              </a:defRPr>
            </a:pPr>
            <a:r>
              <a:rPr lang="en-US" sz="1200" b="0" i="0" u="none" strike="noStrike">
                <a:solidFill>
                  <a:srgbClr val="142B4A"/>
                </a:solidFill>
                <a:latin typeface="+mn-lt"/>
              </a:rPr>
              <a:t>Median price per sq ft by planning region, pooled Apr 2013 – Apr 2022</a:t>
            </a:r>
          </a:p>
        </c:rich>
      </c:tx>
      <c:overlay val="0"/>
    </c:title>
    <c:autoTitleDeleted val="0"/>
    <c:plotArea>
      <c:layout/>
      <c:barChart>
        <c:barDir val="bar"/>
        <c:grouping val="clustered"/>
        <c:varyColors val="0"/>
        <c:ser>
          <c:idx val="0"/>
          <c:order val="0"/>
          <c:tx>
            <c:strRef>
              <c:f>Sheet1!$B$1</c:f>
              <c:strCache>
                <c:ptCount val="1"/>
                <c:pt idx="0">
                  <c:v>Median $psf</c:v>
                </c:pt>
              </c:strCache>
            </c:strRef>
          </c:tx>
          <c:spPr>
            <a:solidFill>
              <a:srgbClr val="167D8D"/>
            </a:solidFill>
            <a:effectLst/>
          </c:spPr>
          <c:invertIfNegative val="0"/>
          <c:dLbls>
            <c:numFmt formatCode="#,##0" sourceLinked="0"/>
            <c:spPr>
              <a:noFill/>
              <a:ln>
                <a:noFill/>
              </a:ln>
              <a:effectLst/>
            </c:spPr>
            <c:txPr>
              <a:bodyPr/>
              <a:lstStyle/>
              <a:p>
                <a:pPr>
                  <a:defRPr sz="1050" b="0" i="0" u="none" strike="noStrike">
                    <a:solidFill>
                      <a:srgbClr val="142B4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NORTH</c:v>
                </c:pt>
                <c:pt idx="1">
                  <c:v>EAST</c:v>
                </c:pt>
                <c:pt idx="2">
                  <c:v>NORTH EAST</c:v>
                </c:pt>
                <c:pt idx="3">
                  <c:v>WEST</c:v>
                </c:pt>
                <c:pt idx="4">
                  <c:v>CENTRAL</c:v>
                </c:pt>
              </c:strCache>
            </c:strRef>
          </c:cat>
          <c:val>
            <c:numRef>
              <c:f>Sheet1!$B$2:$B$6</c:f>
              <c:numCache>
                <c:formatCode>General</c:formatCode>
                <c:ptCount val="5"/>
                <c:pt idx="0">
                  <c:v>1065</c:v>
                </c:pt>
                <c:pt idx="1">
                  <c:v>1121</c:v>
                </c:pt>
                <c:pt idx="2">
                  <c:v>1239</c:v>
                </c:pt>
                <c:pt idx="3">
                  <c:v>1286</c:v>
                </c:pt>
                <c:pt idx="4">
                  <c:v>1689</c:v>
                </c:pt>
              </c:numCache>
            </c:numRef>
          </c:val>
          <c:extLst>
            <c:ext xmlns:c16="http://schemas.microsoft.com/office/drawing/2014/chart" uri="{C3380CC4-5D6E-409C-BE32-E72D297353CC}">
              <c16:uniqueId val="{00000000-D10B-449D-B620-F5DEB4E0C4D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title>
          <c:tx>
            <c:rich>
              <a:bodyPr/>
              <a:lstStyle/>
              <a:p>
                <a:pPr>
                  <a:defRPr sz="1100" b="0" i="0" u="none" strike="noStrike">
                    <a:solidFill>
                      <a:srgbClr val="142B4A"/>
                    </a:solidFill>
                    <a:latin typeface="+mn-lt"/>
                  </a:defRPr>
                </a:pPr>
                <a:r>
                  <a:rPr lang="en-SG" sz="1100" b="0" i="0" u="none" strike="noStrike">
                    <a:solidFill>
                      <a:srgbClr val="142B4A"/>
                    </a:solidFill>
                    <a:latin typeface="+mn-lt"/>
                  </a:rPr>
                  <a:t>Planning region</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5657A"/>
                </a:solidFill>
                <a:latin typeface="+mn-lt"/>
              </a:defRPr>
            </a:pPr>
            <a:endParaRPr lang="en-US"/>
          </a:p>
        </c:txPr>
        <c:crossAx val="2094734552"/>
        <c:crosses val="autoZero"/>
        <c:auto val="1"/>
        <c:lblAlgn val="ctr"/>
        <c:lblOffset val="100"/>
        <c:noMultiLvlLbl val="1"/>
      </c:catAx>
      <c:valAx>
        <c:axId val="2094734552"/>
        <c:scaling>
          <c:orientation val="minMax"/>
          <c:max val="2000"/>
          <c:min val="0"/>
        </c:scaling>
        <c:delete val="0"/>
        <c:axPos val="b"/>
        <c:majorGridlines>
          <c:spPr>
            <a:ln w="9525" cap="flat">
              <a:solidFill>
                <a:srgbClr val="E3E8EE"/>
              </a:solidFill>
              <a:prstDash val="solid"/>
              <a:round/>
            </a:ln>
          </c:spPr>
        </c:majorGridlines>
        <c:title>
          <c:tx>
            <c:rich>
              <a:bodyPr/>
              <a:lstStyle/>
              <a:p>
                <a:pPr>
                  <a:defRPr sz="1100" b="0" i="0" u="none" strike="noStrike">
                    <a:solidFill>
                      <a:srgbClr val="142B4A"/>
                    </a:solidFill>
                    <a:latin typeface="+mn-lt"/>
                  </a:defRPr>
                </a:pPr>
                <a:r>
                  <a:rPr lang="en-US" sz="1100" b="0" i="0" u="none" strike="noStrike">
                    <a:solidFill>
                      <a:srgbClr val="142B4A"/>
                    </a:solidFill>
                    <a:latin typeface="+mn-lt"/>
                  </a:rPr>
                  <a:t>Median price per sq ft (S$)</a:t>
                </a:r>
              </a:p>
            </c:rich>
          </c:tx>
          <c:overlay val="0"/>
        </c:title>
        <c:numFmt formatCode="#,##0" sourceLinked="0"/>
        <c:majorTickMark val="out"/>
        <c:minorTickMark val="none"/>
        <c:tickLblPos val="low"/>
        <c:spPr>
          <a:ln w="12700" cap="flat">
            <a:solidFill>
              <a:srgbClr val="888888"/>
            </a:solidFill>
            <a:prstDash val="solid"/>
            <a:round/>
          </a:ln>
        </c:spPr>
        <c:txPr>
          <a:bodyPr/>
          <a:lstStyle/>
          <a:p>
            <a:pPr>
              <a:defRPr sz="1050" b="0" i="0" u="none" strike="noStrike">
                <a:solidFill>
                  <a:srgbClr val="55657A"/>
                </a:solidFill>
                <a:latin typeface="+mn-lt"/>
              </a:defRPr>
            </a:pPr>
            <a:endParaRPr lang="en-US"/>
          </a:p>
        </c:txPr>
        <c:crossAx val="2094734554"/>
        <c:crosses val="autoZero"/>
        <c:crossBetween val="between"/>
        <c:majorUnit val="50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42B4A"/>
                </a:solidFill>
                <a:latin typeface="+mn-lt"/>
              </a:defRPr>
            </a:pPr>
            <a:r>
              <a:rPr lang="en-US" sz="1200" b="0" i="0" u="none" strike="noStrike">
                <a:solidFill>
                  <a:srgbClr val="142B4A"/>
                </a:solidFill>
                <a:latin typeface="+mn-lt"/>
              </a:rPr>
              <a:t>Purchase type by buyer address group</a:t>
            </a:r>
          </a:p>
        </c:rich>
      </c:tx>
      <c:overlay val="0"/>
    </c:title>
    <c:autoTitleDeleted val="0"/>
    <c:plotArea>
      <c:layout/>
      <c:barChart>
        <c:barDir val="bar"/>
        <c:grouping val="stacked"/>
        <c:varyColors val="0"/>
        <c:ser>
          <c:idx val="0"/>
          <c:order val="0"/>
          <c:tx>
            <c:strRef>
              <c:f>Sheet1!$B$1</c:f>
              <c:strCache>
                <c:ptCount val="1"/>
                <c:pt idx="0">
                  <c:v>New sale</c:v>
                </c:pt>
              </c:strCache>
            </c:strRef>
          </c:tx>
          <c:spPr>
            <a:solidFill>
              <a:srgbClr val="7CC4CD"/>
            </a:solidFill>
            <a:effectLst/>
          </c:spPr>
          <c:invertIfNegative val="0"/>
          <c:dLbls>
            <c:numFmt formatCode="0.0;\-0.0;;" sourceLinked="0"/>
            <c:spPr>
              <a:noFill/>
              <a:ln>
                <a:noFill/>
              </a:ln>
              <a:effectLst/>
            </c:spPr>
            <c:txPr>
              <a:bodyPr/>
              <a:lstStyle/>
              <a:p>
                <a:pPr>
                  <a:defRPr sz="1050" b="0" i="0" u="none" strike="noStrike">
                    <a:solidFill>
                      <a:srgbClr val="142B4A"/>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HDB</c:v>
                </c:pt>
                <c:pt idx="1">
                  <c:v>PRIVATE</c:v>
                </c:pt>
                <c:pt idx="2">
                  <c:v>N.A</c:v>
                </c:pt>
              </c:strCache>
            </c:strRef>
          </c:cat>
          <c:val>
            <c:numRef>
              <c:f>Sheet1!$B$2:$B$4</c:f>
              <c:numCache>
                <c:formatCode>General</c:formatCode>
                <c:ptCount val="3"/>
                <c:pt idx="0">
                  <c:v>53.9</c:v>
                </c:pt>
                <c:pt idx="1">
                  <c:v>39.799999999999997</c:v>
                </c:pt>
                <c:pt idx="2">
                  <c:v>97.1</c:v>
                </c:pt>
              </c:numCache>
            </c:numRef>
          </c:val>
          <c:extLst>
            <c:ext xmlns:c16="http://schemas.microsoft.com/office/drawing/2014/chart" uri="{C3380CC4-5D6E-409C-BE32-E72D297353CC}">
              <c16:uniqueId val="{00000000-53C9-4094-AA6A-8975ABD6B79C}"/>
            </c:ext>
          </c:extLst>
        </c:ser>
        <c:ser>
          <c:idx val="1"/>
          <c:order val="1"/>
          <c:tx>
            <c:strRef>
              <c:f>Sheet1!$C$1</c:f>
              <c:strCache>
                <c:ptCount val="1"/>
                <c:pt idx="0">
                  <c:v>Resale</c:v>
                </c:pt>
              </c:strCache>
            </c:strRef>
          </c:tx>
          <c:spPr>
            <a:solidFill>
              <a:srgbClr val="C5D0DC"/>
            </a:solidFill>
            <a:effectLst/>
          </c:spPr>
          <c:invertIfNegative val="0"/>
          <c:dLbls>
            <c:numFmt formatCode="0.0;\-0.0;;" sourceLinked="0"/>
            <c:spPr>
              <a:noFill/>
              <a:ln>
                <a:noFill/>
              </a:ln>
              <a:effectLst/>
            </c:spPr>
            <c:txPr>
              <a:bodyPr/>
              <a:lstStyle/>
              <a:p>
                <a:pPr>
                  <a:defRPr sz="1050" b="0" i="0" u="none" strike="noStrike">
                    <a:solidFill>
                      <a:srgbClr val="142B4A"/>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HDB</c:v>
                </c:pt>
                <c:pt idx="1">
                  <c:v>PRIVATE</c:v>
                </c:pt>
                <c:pt idx="2">
                  <c:v>N.A</c:v>
                </c:pt>
              </c:strCache>
            </c:strRef>
          </c:cat>
          <c:val>
            <c:numRef>
              <c:f>Sheet1!$C$2:$C$4</c:f>
              <c:numCache>
                <c:formatCode>General</c:formatCode>
                <c:ptCount val="3"/>
                <c:pt idx="0">
                  <c:v>43</c:v>
                </c:pt>
                <c:pt idx="1">
                  <c:v>58.1</c:v>
                </c:pt>
                <c:pt idx="2">
                  <c:v>2.9</c:v>
                </c:pt>
              </c:numCache>
            </c:numRef>
          </c:val>
          <c:extLst>
            <c:ext xmlns:c16="http://schemas.microsoft.com/office/drawing/2014/chart" uri="{C3380CC4-5D6E-409C-BE32-E72D297353CC}">
              <c16:uniqueId val="{00000001-53C9-4094-AA6A-8975ABD6B79C}"/>
            </c:ext>
          </c:extLst>
        </c:ser>
        <c:ser>
          <c:idx val="2"/>
          <c:order val="2"/>
          <c:tx>
            <c:strRef>
              <c:f>Sheet1!$D$1</c:f>
              <c:strCache>
                <c:ptCount val="1"/>
                <c:pt idx="0">
                  <c:v>Sub sale</c:v>
                </c:pt>
              </c:strCache>
            </c:strRef>
          </c:tx>
          <c:spPr>
            <a:solidFill>
              <a:srgbClr val="E4A64B"/>
            </a:solidFill>
            <a:effectLst/>
          </c:spPr>
          <c:invertIfNegative val="0"/>
          <c:dLbls>
            <c:numFmt formatCode="0.0;\-0.0;;" sourceLinked="0"/>
            <c:spPr>
              <a:noFill/>
              <a:ln>
                <a:noFill/>
              </a:ln>
              <a:effectLst/>
            </c:spPr>
            <c:txPr>
              <a:bodyPr/>
              <a:lstStyle/>
              <a:p>
                <a:pPr>
                  <a:defRPr sz="1050" b="0" i="0" u="none" strike="noStrike">
                    <a:solidFill>
                      <a:srgbClr val="142B4A"/>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HDB</c:v>
                </c:pt>
                <c:pt idx="1">
                  <c:v>PRIVATE</c:v>
                </c:pt>
                <c:pt idx="2">
                  <c:v>N.A</c:v>
                </c:pt>
              </c:strCache>
            </c:strRef>
          </c:cat>
          <c:val>
            <c:numRef>
              <c:f>Sheet1!$D$2:$D$4</c:f>
              <c:numCache>
                <c:formatCode>General</c:formatCode>
                <c:ptCount val="3"/>
                <c:pt idx="0">
                  <c:v>3.1</c:v>
                </c:pt>
                <c:pt idx="1">
                  <c:v>2.1</c:v>
                </c:pt>
                <c:pt idx="2">
                  <c:v>0</c:v>
                </c:pt>
              </c:numCache>
            </c:numRef>
          </c:val>
          <c:extLst>
            <c:ext xmlns:c16="http://schemas.microsoft.com/office/drawing/2014/chart" uri="{C3380CC4-5D6E-409C-BE32-E72D297353CC}">
              <c16:uniqueId val="{00000002-53C9-4094-AA6A-8975ABD6B79C}"/>
            </c:ext>
          </c:extLst>
        </c:ser>
        <c:dLbls>
          <c:dLblPos val="ctr"/>
          <c:showLegendKey val="0"/>
          <c:showVal val="1"/>
          <c:showCatName val="0"/>
          <c:showSerName val="0"/>
          <c:showPercent val="0"/>
          <c:showBubbleSize val="0"/>
        </c:dLbls>
        <c:gapWidth val="45"/>
        <c:overlap val="100"/>
        <c:axId val="2094734554"/>
        <c:axId val="2094734552"/>
      </c:barChart>
      <c:catAx>
        <c:axId val="2094734554"/>
        <c:scaling>
          <c:orientation val="minMax"/>
        </c:scaling>
        <c:delete val="0"/>
        <c:axPos val="l"/>
        <c:title>
          <c:tx>
            <c:rich>
              <a:bodyPr/>
              <a:lstStyle/>
              <a:p>
                <a:pPr>
                  <a:defRPr sz="1100" b="0" i="0" u="none" strike="noStrike">
                    <a:solidFill>
                      <a:srgbClr val="142B4A"/>
                    </a:solidFill>
                    <a:latin typeface="+mn-lt"/>
                  </a:defRPr>
                </a:pPr>
                <a:r>
                  <a:rPr lang="en-SG" sz="1100" b="0" i="0" u="none" strike="noStrike">
                    <a:solidFill>
                      <a:srgbClr val="142B4A"/>
                    </a:solidFill>
                    <a:latin typeface="+mn-lt"/>
                  </a:rPr>
                  <a:t>Buyer address type</a:t>
                </a:r>
              </a:p>
            </c:rich>
          </c:tx>
          <c:overlay val="0"/>
        </c:title>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5657A"/>
                </a:solidFill>
                <a:latin typeface="+mn-lt"/>
              </a:defRPr>
            </a:pPr>
            <a:endParaRPr lang="en-US"/>
          </a:p>
        </c:txPr>
        <c:crossAx val="2094734552"/>
        <c:crosses val="autoZero"/>
        <c:auto val="1"/>
        <c:lblAlgn val="ctr"/>
        <c:lblOffset val="100"/>
        <c:noMultiLvlLbl val="1"/>
      </c:catAx>
      <c:valAx>
        <c:axId val="2094734552"/>
        <c:scaling>
          <c:orientation val="minMax"/>
          <c:max val="100"/>
          <c:min val="0"/>
        </c:scaling>
        <c:delete val="0"/>
        <c:axPos val="b"/>
        <c:majorGridlines>
          <c:spPr>
            <a:ln w="9525" cap="flat">
              <a:solidFill>
                <a:srgbClr val="E3E8EE"/>
              </a:solidFill>
              <a:prstDash val="solid"/>
              <a:round/>
            </a:ln>
          </c:spPr>
        </c:majorGridlines>
        <c:title>
          <c:tx>
            <c:rich>
              <a:bodyPr/>
              <a:lstStyle/>
              <a:p>
                <a:pPr>
                  <a:defRPr sz="1100" b="0" i="0" u="none" strike="noStrike">
                    <a:solidFill>
                      <a:srgbClr val="142B4A"/>
                    </a:solidFill>
                    <a:latin typeface="+mn-lt"/>
                  </a:defRPr>
                </a:pPr>
                <a:r>
                  <a:rPr lang="en-SG" sz="1100" b="0" i="0" u="none" strike="noStrike">
                    <a:solidFill>
                      <a:srgbClr val="142B4A"/>
                    </a:solidFill>
                    <a:latin typeface="+mn-lt"/>
                  </a:rPr>
                  <a:t>% of each group’s purchases</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1050" b="0" i="0" u="none" strike="noStrike">
                <a:solidFill>
                  <a:srgbClr val="55657A"/>
                </a:solidFill>
                <a:latin typeface="+mn-lt"/>
              </a:defRPr>
            </a:pPr>
            <a:endParaRPr lang="en-US"/>
          </a:p>
        </c:txPr>
        <c:crossAx val="2094734554"/>
        <c:crosses val="autoZero"/>
        <c:crossBetween val="between"/>
        <c:majorUnit val="20"/>
      </c:valAx>
      <c:spPr>
        <a:noFill/>
        <a:ln>
          <a:noFill/>
        </a:ln>
        <a:effectLst/>
      </c:spPr>
    </c:plotArea>
    <c:legend>
      <c:legendPos val="t"/>
      <c:overlay val="0"/>
      <c:txPr>
        <a:bodyPr/>
        <a:lstStyle/>
        <a:p>
          <a:pPr>
            <a:defRPr sz="1050">
              <a:solidFill>
                <a:srgbClr val="142B4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8545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20 seconds]</a:t>
            </a:r>
          </a:p>
          <a:p>
            <a:r>
              <a:t>Good afternoon. We are Group 5, and this is our Singapore Private Property Transaction Pipeline project. We built a repeatable pipeline that takes 19 URA CSV exports, transforms them into a tested star schema, and then uses the data to identify patterns in Singapore’s private residential property market.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10 seconds]</a:t>
            </a:r>
          </a:p>
          <a:p>
            <a:r>
              <a:t>I’ll start with the problem we found in the raw data, and then walk through the architecture we built to address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 minute]</a:t>
            </a:r>
          </a:p>
          <a:p>
            <a:r>
              <a:t>The key issue with the raw URA exports is that several data defects can fail silently.</a:t>
            </a:r>
          </a:p>
          <a:p>
            <a:endParaRPr/>
          </a:p>
          <a:p>
            <a:r>
              <a:t>First, prices and areas contain thousands separators. For example, a value such as “987,000” can become NULL if we cast it directly to a number. That means the value disappears rather than producing an obvious error. In our dataset, this affects all 170,224 prices if they are read naively.</a:t>
            </a:r>
          </a:p>
          <a:p>
            <a:endParaRPr/>
          </a:p>
          <a:p>
            <a:r>
              <a:t>Second, the sale date is stored as text. If we sort it as text, dates appear in alphabetical order rather than chronological order, making a reliable monthly trend difficult to produce.</a:t>
            </a:r>
          </a:p>
          <a:p>
            <a:endParaRPr/>
          </a:p>
          <a:p>
            <a:r>
              <a:t>Third, the source has no transaction ID. Two otherwise identical sales cannot be distinguished by a source identifier, so we create a transaction key using a row number as part of the key.</a:t>
            </a:r>
          </a:p>
          <a:p>
            <a:endParaRPr/>
          </a:p>
          <a:p>
            <a:r>
              <a:t>The dataset contains 19 downloads, 170,224 rows and 21 columns, all initially stored as text. None of these problems necessarily raises an error. Our aim is not just to clean the data; it is to make these silent failures visible before they affect the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[Approx. 1 minute 10 seconds]</a:t>
            </a:r>
          </a:p>
          <a:p>
            <a:r>
              <a:rPr dirty="0"/>
              <a:t>This diagram shows the pipeline from left to right.</a:t>
            </a:r>
          </a:p>
          <a:p>
            <a:endParaRPr dirty="0"/>
          </a:p>
          <a:p>
            <a:r>
              <a:rPr dirty="0"/>
              <a:t>First, on our local machine, a Jupyter notebook combines the 19 URA CSV files into one table in </a:t>
            </a:r>
            <a:r>
              <a:rPr dirty="0" err="1"/>
              <a:t>DuckDB</a:t>
            </a:r>
            <a:r>
              <a:rPr dirty="0"/>
              <a:t>. </a:t>
            </a:r>
            <a:r>
              <a:rPr dirty="0" err="1"/>
              <a:t>Meltano</a:t>
            </a:r>
            <a:r>
              <a:rPr dirty="0"/>
              <a:t> then extracts the data from </a:t>
            </a:r>
            <a:r>
              <a:rPr dirty="0" err="1"/>
              <a:t>DuckDB</a:t>
            </a:r>
            <a:r>
              <a:rPr dirty="0"/>
              <a:t> and loads it into </a:t>
            </a:r>
            <a:r>
              <a:rPr dirty="0" err="1"/>
              <a:t>BigQuery</a:t>
            </a:r>
            <a:r>
              <a:rPr dirty="0"/>
              <a:t>.</a:t>
            </a:r>
          </a:p>
          <a:p>
            <a:endParaRPr dirty="0"/>
          </a:p>
          <a:p>
            <a:r>
              <a:rPr dirty="0"/>
              <a:t>Inside </a:t>
            </a:r>
            <a:r>
              <a:rPr dirty="0" err="1"/>
              <a:t>BigQuery</a:t>
            </a:r>
            <a:r>
              <a:rPr dirty="0"/>
              <a:t>, </a:t>
            </a:r>
            <a:r>
              <a:rPr dirty="0" err="1"/>
              <a:t>dbt</a:t>
            </a:r>
            <a:r>
              <a:rPr dirty="0"/>
              <a:t> performs the transformations. It builds the staging table first, runs 11 staging tests, and then builds the star schema and runs the remaining nine tests. If the staging tests fail, the star-schema models are skipped.</a:t>
            </a:r>
          </a:p>
          <a:p>
            <a:endParaRPr dirty="0"/>
          </a:p>
          <a:p>
            <a:r>
              <a:rPr dirty="0"/>
              <a:t>On the right, Great Expectations and our analysis notebook read data back out of </a:t>
            </a:r>
            <a:r>
              <a:rPr dirty="0" err="1"/>
              <a:t>BigQuery</a:t>
            </a:r>
            <a:r>
              <a:rPr dirty="0"/>
              <a:t>. That validation and analysis work happens locally in Python, using pandas.</a:t>
            </a:r>
          </a:p>
          <a:p>
            <a:endParaRPr lang="en-US" dirty="0"/>
          </a:p>
          <a:p>
            <a:r>
              <a:rPr lang="en-GB" dirty="0"/>
              <a:t>Additionally, we</a:t>
            </a:r>
            <a:r>
              <a:rPr lang="en-GB" baseline="0" dirty="0"/>
              <a:t> also did analysis in power BI, by reading data from Google </a:t>
            </a:r>
            <a:r>
              <a:rPr lang="en-GB" baseline="0" dirty="0" err="1"/>
              <a:t>BigQuery</a:t>
            </a:r>
            <a:r>
              <a:rPr lang="en-GB" baseline="0" dirty="0"/>
              <a:t> directly, and Jen will be sharing the analysis for power bi.</a:t>
            </a:r>
            <a:endParaRPr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10 seconds]</a:t>
            </a:r>
          </a:p>
          <a:p>
            <a:r>
              <a:t>Next, I’ll explain how we used dbt to clean the raw text, test the cleaned data, and organise it into a star schema.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 minute]</a:t>
            </a:r>
          </a:p>
          <a:p>
            <a:r>
              <a:t>This slide uses one real transaction to show how the staging rules work.</a:t>
            </a:r>
          </a:p>
          <a:p>
            <a:endParaRPr/>
          </a:p>
          <a:p>
            <a:r>
              <a:t>The first rule removes thousands separators from price and area fields so that values such as “2,491,000” and “1,108.69” can be stored as numbers. Across the dataset, this rule was applied to six price and area columns, covering 565,219 values.</a:t>
            </a:r>
          </a:p>
          <a:p>
            <a:endParaRPr/>
          </a:p>
          <a:p>
            <a:r>
              <a:t>The second rule converts the sale date from text, such as “29 Jun 2019”, into a proper date. This allows us to group transactions by month and analyse trends over time.</a:t>
            </a:r>
          </a:p>
          <a:p>
            <a:endParaRPr/>
          </a:p>
          <a:p>
            <a:r>
              <a:t>The third rule treats a dash in nett_price as missing data, not as zero. That distinction matters: treating missing values as zero would pull the average down dramatically. For the 933 transactions with actual nett prices, the average is about 1.5 million dollars, rather than about 8,200 dollars if the missing values were incorrectly counted as zero.</a:t>
            </a:r>
          </a:p>
          <a:p>
            <a:endParaRPr/>
          </a:p>
          <a:p>
            <a:r>
              <a:t>Finally, we keep postal fields as text. A postal code such as “089396” would lose its leading zero if converted to a number, and converting it back to text would not restore that zero. These rules help preserve both the meaning and usability of the original data.</a:t>
            </a:r>
          </a:p>
          <a:p>
            <a:endParaRPr/>
          </a:p>
          <a:p>
            <a:r>
              <a:t>A quick explanation of the terms: parsing means interpreting text according to a format, such as reading “29 Jun 2019” as a date. Casting means converting a value into a data type, such as converting cleaned text into a number. Cleaning means preparing the raw value first, for example by removing the comma from “2,491,000”. In our staging layer, these steps work together: we clean the text, then cast or parse it into a usable numeric or date value. You can think of parsing as understanding what the text represents, and casting as changing the type the computer stores it as.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[Approx. 50 seconds]</a:t>
            </a:r>
          </a:p>
          <a:p>
            <a:r>
              <a:t>After cleaning the data, we run 11 dbt tests on the staging table before allowing the star schema to build.</a:t>
            </a:r>
          </a:p>
          <a:p>
            <a:endParaRPr/>
          </a:p>
          <a:p>
            <a:r>
              <a:t>This is important because functions such as SAFE_CAST and SAFE.PARSE_DATE do not necessarily stop the build when they encounter a bad value. Instead, they can return NULL. Without tests, those NULLs could flow downstream while the build appears successful.</a:t>
            </a:r>
          </a:p>
          <a:p>
            <a:endParaRPr/>
          </a:p>
          <a:p>
            <a:r>
              <a:t>We therefore use seven not-null tests: six for the numeric fields and one for sale_date. We also use four accepted-values tests to check that key categorical fields contain expected values, such as the known sale types, property types, planning regions and purchaser address indicators.</a:t>
            </a:r>
          </a:p>
          <a:p>
            <a:endParaRPr/>
          </a:p>
          <a:p>
            <a:r>
              <a:t>The purpose is to catch parsing problems or unexpected categories early. If any of these staging tests fail, dbt skips the dependent star-schema models rather than building them on top of uncleaned data.</a:t>
            </a:r>
          </a:p>
          <a:p>
            <a:endParaRPr/>
          </a:p>
          <a:p>
            <a:r>
              <a:t>In simple terms, parsing interprets the text as a date, while casting converts a value to a data type. SAFE.PARSE_DATE can return NULL when the text does not match the expected date format, which is why the not-null test is important.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 minute 20 seconds]</a:t>
            </a:r>
          </a:p>
          <a:p>
            <a:r>
              <a:t>The raw transaction table contains 21 columns, and we account for all of them in the star schema.</a:t>
            </a:r>
          </a:p>
          <a:p>
            <a:endParaRPr/>
          </a:p>
          <a:p>
            <a:r>
              <a:t>Four columns go into dim_project, which describes the property project. Six go into dim_location, which describes the address and its geographic classifications. The remaining 11 source columns go into fact_transaction, which records the transaction details.</a:t>
            </a:r>
          </a:p>
          <a:p>
            <a:endParaRPr/>
          </a:p>
          <a:p>
            <a:r>
              <a:t>The star schema adds five columns of its own: three surrogate keys and two calculated measures. The surrogate keys identify each transaction, project and location. Because the source does not provide a transaction ID, the transaction key uses a fingerprint hash together with a row number so that identical-looking sales remain distinct.</a:t>
            </a:r>
          </a:p>
          <a:p>
            <a:endParaRPr/>
          </a:p>
          <a:p>
            <a:r>
              <a:t>The two calculated measures are new_trans_price, calculated by multiplying area in square feet by price per square foot, and percentage_difference, which compares that reconstructed price with the recorded transaction price.</a:t>
            </a:r>
          </a:p>
          <a:p>
            <a:endParaRPr/>
          </a:p>
          <a:p>
            <a:r>
              <a:t>That comparison is important later, because it is the basis of one of our Great Expectations checks. One design detail to note is that completion_date remains in dim_project, so that dimension has five columns in total.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10 seconds]</a:t>
            </a:r>
          </a:p>
          <a:p>
            <a:r>
              <a:t>Now that the pipeline and star schema are in place, I’ll move on to data quality: how we selected the tests, what Great Expectations adds, and what the failed checks actually tell us.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[Approx. 1 minute]</a:t>
            </a:r>
          </a:p>
          <a:p>
            <a:r>
              <a:rPr dirty="0"/>
              <a:t>We designed the </a:t>
            </a:r>
            <a:r>
              <a:rPr dirty="0" err="1"/>
              <a:t>dbt</a:t>
            </a:r>
            <a:r>
              <a:rPr dirty="0"/>
              <a:t> tests by asking five practical questions.</a:t>
            </a:r>
          </a:p>
          <a:p>
            <a:endParaRPr dirty="0"/>
          </a:p>
          <a:p>
            <a:r>
              <a:rPr dirty="0"/>
              <a:t>First, what makes a row unique? That leads to unique tests on the transaction key and the two dimension keys.</a:t>
            </a:r>
          </a:p>
          <a:p>
            <a:endParaRPr dirty="0"/>
          </a:p>
          <a:p>
            <a:r>
              <a:rPr dirty="0"/>
              <a:t>Second, which columns would cause problems if they were empty? That leads to not-null tests on the keys and on the seven fields checked in staging.</a:t>
            </a:r>
          </a:p>
          <a:p>
            <a:endParaRPr dirty="0"/>
          </a:p>
          <a:p>
            <a:r>
              <a:rPr dirty="0"/>
              <a:t>Third, which columns refer to another table? </a:t>
            </a:r>
            <a:r>
              <a:rPr lang="en-SG" sz="1200" b="0" i="0" kern="1200" dirty="0">
                <a:solidFill>
                  <a:schemeClr val="tx1"/>
                </a:solidFill>
                <a:effectLst/>
                <a:latin typeface="+mn-lt"/>
                <a:ea typeface="+mn-ea"/>
                <a:cs typeface="+mn-cs"/>
              </a:rPr>
              <a:t>Relationship tests ensure every </a:t>
            </a:r>
            <a:r>
              <a:rPr lang="en-SG" sz="1200" b="0" i="0" kern="1200" dirty="0" err="1">
                <a:solidFill>
                  <a:schemeClr val="tx1"/>
                </a:solidFill>
                <a:effectLst/>
                <a:latin typeface="+mn-lt"/>
                <a:ea typeface="+mn-ea"/>
                <a:cs typeface="+mn-cs"/>
              </a:rPr>
              <a:t>project_key</a:t>
            </a:r>
            <a:r>
              <a:rPr lang="en-SG" sz="1200" b="0" i="0" kern="1200" dirty="0">
                <a:solidFill>
                  <a:schemeClr val="tx1"/>
                </a:solidFill>
                <a:effectLst/>
                <a:latin typeface="+mn-lt"/>
                <a:ea typeface="+mn-ea"/>
                <a:cs typeface="+mn-cs"/>
              </a:rPr>
              <a:t> and </a:t>
            </a:r>
            <a:r>
              <a:rPr lang="en-SG" sz="1200" b="0" i="0" kern="1200" dirty="0" err="1">
                <a:solidFill>
                  <a:schemeClr val="tx1"/>
                </a:solidFill>
                <a:effectLst/>
                <a:latin typeface="+mn-lt"/>
                <a:ea typeface="+mn-ea"/>
                <a:cs typeface="+mn-cs"/>
              </a:rPr>
              <a:t>location_key</a:t>
            </a:r>
            <a:r>
              <a:rPr lang="en-SG" sz="1200" b="0" i="0" kern="1200" dirty="0">
                <a:solidFill>
                  <a:schemeClr val="tx1"/>
                </a:solidFill>
                <a:effectLst/>
                <a:latin typeface="+mn-lt"/>
                <a:ea typeface="+mn-ea"/>
                <a:cs typeface="+mn-cs"/>
              </a:rPr>
              <a:t> in the transaction table matches a valid record in its respective dimension table, preventing orphaned references.</a:t>
            </a:r>
          </a:p>
          <a:p>
            <a:endParaRPr lang="en-SG" sz="1200" b="0" i="0" kern="1200" dirty="0">
              <a:solidFill>
                <a:schemeClr val="tx1"/>
              </a:solidFill>
              <a:effectLst/>
              <a:latin typeface="+mn-lt"/>
              <a:ea typeface="+mn-ea"/>
              <a:cs typeface="+mn-cs"/>
            </a:endParaRPr>
          </a:p>
          <a:p>
            <a:r>
              <a:rPr dirty="0"/>
              <a:t>Fourth, which columns should only contain a fixed set of values? We use accepted-values tests for four categorical fields.</a:t>
            </a:r>
          </a:p>
          <a:p>
            <a:endParaRPr dirty="0"/>
          </a:p>
          <a:p>
            <a:r>
              <a:rPr dirty="0"/>
              <a:t>Finally, what business or arithmetic rules are not covered by those standard tests? We use a custom SQL test to check that the seven measures are positive.</a:t>
            </a:r>
          </a:p>
          <a:p>
            <a:endParaRPr dirty="0"/>
          </a:p>
          <a:p>
            <a:r>
              <a:rPr dirty="0"/>
              <a:t>The file placement follows a simple principle: tests that apply to individual columns are generally defined in schema files, while a rule that needs custom SQL is placed in the tests folder. For checks involving ranges or comparisons between columns, we chose Great Expectations rather than writing a larger set of custom SQL tests.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 minute]</a:t>
            </a:r>
          </a:p>
          <a:p>
            <a:r>
              <a:t>We use both dbt and Great Expectations, but they serve slightly different purposes.</a:t>
            </a:r>
          </a:p>
          <a:p>
            <a:endParaRPr/>
          </a:p>
          <a:p>
            <a:r>
              <a:t>There are 20 dbt tests in total: 11 on staging and nine on the star schema. Great Expectations runs 15 expectations on the fact table. Twelve pass and three fail.</a:t>
            </a:r>
          </a:p>
          <a:p>
            <a:endParaRPr/>
          </a:p>
          <a:p>
            <a:r>
              <a:t>Six of the Great Expectations checks add rules that are not covered by the existing dbt tests, including checks for the number of units, a transaction-price threshold, the difference between reconstructed and recorded prices, and the presence of sale_date in the dataframe.</a:t>
            </a:r>
          </a:p>
          <a:p>
            <a:endParaRPr/>
          </a:p>
          <a:p>
            <a:r>
              <a:t>The other nine checks repeat rules already tested by dbt. We keep those repeats because dbt tests the tables inside BigQuery, while Great Expectations tests the dataframe that our analysis actually uses. This gives us a check at the point where the data enters the analysis workflow.</a:t>
            </a:r>
          </a:p>
          <a:p>
            <a:endParaRPr/>
          </a:p>
          <a:p>
            <a:r>
              <a:t>There is one limitation we should acknowledge: we do not compare the row count in BigQuery with the row count in pandas. So, if rows were lost between those two stages, both test suites could still pass without detecting the loss.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 minute 10 seconds]</a:t>
            </a:r>
          </a:p>
          <a:p>
            <a:r>
              <a:t>The three failed Great Expectations checks highlight unusual records, but they do not automatically mean the data is wrong.</a:t>
            </a:r>
          </a:p>
          <a:p>
            <a:endParaRPr/>
          </a:p>
          <a:p>
            <a:r>
              <a:t>First, 180 rows fail the check that number_of_units equals one. These rows record multiple units and include bulk or en-bloc transactions. For example, one transaction records 560 units for 970 million dollars, or about 1.73 million dollars per unit. These are genuine transactions, so we retain them. We would exclude them only for an analysis specifically focused on typical single-unit purchases.</a:t>
            </a:r>
          </a:p>
          <a:p>
            <a:endParaRPr/>
          </a:p>
          <a:p>
            <a:r>
              <a:t>Second, 72 rows exceed our 75-million-dollar transaction-price threshold. Seventy-one of those are the same multi-unit transactions. This shows why the threshold needs to be interpreted at the transaction level, not the individual-unit level. The largest genuine single-unit transaction in this dataset is 86,499,999 dollars, so our 75-million-dollar cap also flags a single-unit sale. The cap is our assumption, not an official rule established by the source.</a:t>
            </a:r>
          </a:p>
          <a:p>
            <a:endParaRPr/>
          </a:p>
          <a:p>
            <a:r>
              <a:t>Third, 202 rows have a difference of more than 2.5 per cent between the recorded transaction price and the price reconstructed from area multiplied by price per square foot. We could not explain these differences. Rounding the published price per square foot to whole dollars would produce only about 0.03 to 0.05 per cent difference at the price levels tested, which is far too small to explain the failures.</a:t>
            </a:r>
          </a:p>
          <a:p>
            <a:endParaRPr/>
          </a:p>
          <a:p>
            <a:r>
              <a:t>So, these checks identify records that deserve investigation; they do not prove that the underlying prices are incorrect. The 180 multi-unit rows do not change the overall median transaction price, but their own median transaction value is much higher, which can materially affect totals and sums.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10 seconds]</a:t>
            </a:r>
          </a:p>
          <a:p>
            <a:r>
              <a:t>With the pipeline and data-quality checks covered, I’ll now share four findings from the transaction data: price trends over time, the projects with the most transactions, regional differences, and buyer groups based on the recorded address indicator.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 minute]</a:t>
            </a:r>
          </a:p>
          <a:p>
            <a:r>
              <a:t>We analysed monthly median prices per square foot across 109 months, from April 2013 to April 2022, using 170,224 transactions.</a:t>
            </a:r>
          </a:p>
          <a:p>
            <a:endParaRPr/>
          </a:p>
          <a:p>
            <a:r>
              <a:t>The lowest monthly median was 1,044 dollars per square foot in July 2015. The highest was 1,813 dollars in April 2022. That is a 74 per cent difference between the lowest and highest monthly medians.</a:t>
            </a:r>
          </a:p>
          <a:p>
            <a:endParaRPr/>
          </a:p>
          <a:p>
            <a:r>
              <a:t>It is important not to describe this as growth from the beginning to the end of the period. It compares the peak with the trough, and the April 2013 median was already above the July 2015 low.</a:t>
            </a:r>
          </a:p>
          <a:p>
            <a:endParaRPr/>
          </a:p>
          <a:p>
            <a:r>
              <a:t>We use the median rather than the mean because transaction prices are heavily skewed. A small number of very large transactions can pull the mean away from what a typical transaction looks like.</a:t>
            </a:r>
          </a:p>
          <a:p>
            <a:endParaRPr/>
          </a:p>
          <a:p>
            <a:r>
              <a:t>One final caveat is that the source data for April 2022 only runs to the 17th of the month. That final monthly point is therefore based on a partial month and fewer transactions than a complete month.</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50 seconds]</a:t>
            </a:r>
          </a:p>
          <a:p>
            <a:r>
              <a:t>The ten projects with the highest transaction counts account for 15,132 sales, or 8.9 per cent of all transactions in the dataset.</a:t>
            </a:r>
          </a:p>
          <a:p>
            <a:endParaRPr/>
          </a:p>
          <a:p>
            <a:r>
              <a:t>Treasure at Tampines ranks first, with 2,208 transactions. That alone represents about 1.3 per cent of the entire dataset. There is also a gap of 994 transactions between the first- and tenth-ranked projects.</a:t>
            </a:r>
          </a:p>
          <a:p>
            <a:endParaRPr/>
          </a:p>
          <a:p>
            <a:r>
              <a:t>The important point is what this ranking measures. It counts transactions, not total sales value, quality or desirability. A large development that launched during our study period may generate hundreds of transactions, while an older or smaller development may record far fewer.</a:t>
            </a:r>
          </a:p>
          <a:p>
            <a:endParaRPr/>
          </a:p>
          <a:p>
            <a:r>
              <a:t>So, the ranking helps us see where transaction volume is concentrated. That can be useful when thinking about market activity and liquidity, but it should not be interpreted as a ranking of the best properties to buy.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 minute]</a:t>
            </a:r>
          </a:p>
          <a:p>
            <a:r>
              <a:t>The Central Region has the highest pooled median price at 1,689 dollars per square foot, compared with 1,065 dollars in the North. Central’s median is therefore about 1.59 times the North’s.</a:t>
            </a:r>
          </a:p>
          <a:p>
            <a:endParaRPr/>
          </a:p>
          <a:p>
            <a:r>
              <a:t>Central also accounts for the largest share of transactions: 86,110 sales, or 50.6 per cent of the total. The North has the fewest transactions, with 5,993, or 3.5 per cent.</a:t>
            </a:r>
          </a:p>
          <a:p>
            <a:endParaRPr/>
          </a:p>
          <a:p>
            <a:r>
              <a:t>Transaction volume and price do not follow the same ranking in every region. For example, the East has more transactions than the West, but a lower median price per square foot.</a:t>
            </a:r>
          </a:p>
          <a:p>
            <a:endParaRPr/>
          </a:p>
          <a:p>
            <a:r>
              <a:t>There is an important caveat: these medians are pooled across the full 109-month period. The Central-to-North price ratio narrows from 1.72 in 2014 to 1.51 in 2021. A single pooled median hides that change over time.</a:t>
            </a:r>
          </a:p>
          <a:p>
            <a:endParaRPr/>
          </a:p>
          <a:p>
            <a:r>
              <a:t>These results describe differences in the transactions recorded in each region. They do not, by themselves, estimate the value contributed by location, because other factors such as property type, size and timing are not controlled for here.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[Approx. 1 minute]</a:t>
            </a:r>
          </a:p>
          <a:p>
            <a:r>
              <a:t>For this analysis, buyers are grouped by the address indicator recorded in the URA data: Private, HDB or N.A. This is an address-based grouping, not a confirmed buyer identity or nationality.</a:t>
            </a:r>
          </a:p>
          <a:p>
            <a:endParaRPr/>
          </a:p>
          <a:p>
            <a:r>
              <a:t>The Private-address group has 88,914 transactions and a median transaction price of 1.42 million dollars. The HDB-address group has 68,528 transactions and a median of 1,100,800 dollars. The difference in median transaction price is 319,200 dollars.</a:t>
            </a:r>
          </a:p>
          <a:p>
            <a:endParaRPr/>
          </a:p>
          <a:p>
            <a:r>
              <a:t>However, the difference becomes smaller when we look at price per square foot. The HDB-address group has a median of 1,327 dollars per square foot, compared with 1,452 dollars for the Private-address group. The HDB-address group also buys smaller properties at the median: 883 square feet compared with 1,055 square feet. So, property size helps explain part of the difference in total transaction prices.</a:t>
            </a:r>
          </a:p>
          <a:p>
            <a:endParaRPr/>
          </a:p>
          <a:p>
            <a:r>
              <a:t>The HDB-address group also has a higher share of new-sale purchases: 53.9 per cent, compared with 39.8 per cent for the Private-address group.</a:t>
            </a:r>
          </a:p>
          <a:p>
            <a:endParaRPr/>
          </a:p>
          <a:p>
            <a:r>
              <a:t>The N.A group represents 7.5 per cent of sales, and 97.1 per cent of its purchases are new launches. The slide suggests these may be foreign investors, but we need to be careful: the dataset records an address indicator, not nationality or investor status. That interpretation is an inference, not something the data proves.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listening. Our project brings together 19 URA CSV exports using DuckDB, Meltano, BigQuery, dbt and Great Expectations, then uses the resulting star schema to analyse private residential transactions from April 2013 to April 2022.</a:t>
            </a:r>
          </a:p>
          <a:p>
            <a:endParaRPr/>
          </a:p>
          <a:p>
            <a:r>
              <a:t>We’re happy to take questions.</a:t>
            </a:r>
          </a:p>
          <a:p>
            <a:endParaRPr/>
          </a:p>
          <a:p>
            <a:r>
              <a:t>If asked why we did not use incremental loading: the source does not provide a transaction ID, which makes reliable identification of new versus previously loaded records more difficult.</a:t>
            </a:r>
          </a:p>
          <a:p>
            <a:endParaRPr/>
          </a:p>
          <a:p>
            <a:r>
              <a:t>If asked why dim_location is relatively large: it stores unit-level address information, so multiple units or addresses can create many distinct location records.</a:t>
            </a:r>
          </a:p>
          <a:p>
            <a:endParaRPr/>
          </a:p>
          <a:p>
            <a:r>
              <a:t>If asked why we use two testing tools: dbt tests the warehouse tables, while Great Expectations checks the dataframe used for analysis and supports checks such as ranges and comparisons between columns.</a:t>
            </a:r>
          </a:p>
          <a:p>
            <a:endParaRPr/>
          </a:p>
          <a:p>
            <a:r>
              <a:t>If asked whether the new-launch pattern proves a price premium: no. This analysis is descriptive and does not control for differences in property size, location, timing or other factors.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rtlCol="0"/>
          <a:lstStyle>
            <a:lvl1pPr marL="0" indent="0">
              <a:buNone/>
              <a:defRPr lang="en-US" sz="1200" b="1" kern="0" spc="200" dirty="0">
                <a:solidFill>
                  <a:srgbClr val="167D8D"/>
                </a:solidFill>
              </a:defRPr>
            </a:lvl1pPr>
          </a:lstStyle>
          <a:p>
            <a:pPr marL="0" indent="0">
              <a:buNone/>
            </a:pPr>
            <a:endParaRPr lang="en-US" sz="1200" dirty="0"/>
          </a:p>
        </p:txBody>
      </p:sp>
      <p:sp>
        <p:nvSpPr>
          <p:cNvPr id="3" name="Text 0"/>
          <p:cNvSpPr>
            <a:spLocks noGrp="1"/>
          </p:cNvSpPr>
          <p:nvPr>
            <p:ph type="title" idx="101" hasCustomPrompt="1"/>
          </p:nvPr>
        </p:nvSpPr>
        <p:spPr>
          <a:xfrm>
            <a:off x="548640" y="585216"/>
            <a:ext cx="11094415" cy="731520"/>
          </a:xfrm>
          <a:prstGeom prst="rect">
            <a:avLst/>
          </a:prstGeom>
          <a:noFill/>
          <a:ln/>
        </p:spPr>
        <p:txBody>
          <a:bodyPr wrap="square" rtlCol="0"/>
          <a:lstStyle>
            <a:lvl1pPr marL="0" indent="0" algn="l">
              <a:buNone/>
              <a:defRPr lang="en-US" sz="2400" b="1" dirty="0">
                <a:solidFill>
                  <a:srgbClr val="142B4A"/>
                </a:solidFill>
                <a:latin typeface="Cambria" pitchFamily="34" charset="0"/>
                <a:ea typeface="Cambria" pitchFamily="34" charset="-122"/>
                <a:cs typeface="Cambria" pitchFamily="34" charset="-120"/>
              </a:defRPr>
            </a:lvl1pPr>
          </a:lstStyle>
          <a:p>
            <a:pPr marL="0" indent="0" algn="l">
              <a:buNone/>
            </a:pPr>
            <a:endParaRPr lang="en-US" sz="2400" dirty="0"/>
          </a:p>
        </p:txBody>
      </p:sp>
      <p:sp>
        <p:nvSpPr>
          <p:cNvPr id="4" name="Text 0"/>
          <p:cNvSpPr/>
          <p:nvPr/>
        </p:nvSpPr>
        <p:spPr>
          <a:xfrm>
            <a:off x="548640" y="6473952"/>
            <a:ext cx="8229600" cy="201168"/>
          </a:xfrm>
          <a:prstGeom prst="rect">
            <a:avLst/>
          </a:prstGeom>
          <a:noFill/>
          <a:ln/>
        </p:spPr>
        <p:txBody>
          <a:bodyPr wrap="square" lIns="0" tIns="0" rIns="0" bIns="0" rtlCol="0" anchor="ctr"/>
          <a:lstStyle/>
          <a:p>
            <a:pPr marL="0" indent="0">
              <a:buNone/>
            </a:pPr>
            <a:r>
              <a:rPr lang="en-US" sz="1000" dirty="0">
                <a:solidFill>
                  <a:srgbClr val="7A8797"/>
                </a:solidFill>
              </a:rPr>
              <a:t>Data: URA private residential transactions, Apr 2013 – Apr 2022  ·  Group 5, Project 2</a:t>
            </a:r>
            <a:endParaRPr lang="en-US" sz="1000" dirty="0"/>
          </a:p>
        </p:txBody>
      </p:sp>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42B4A"/>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rtlCol="0"/>
          <a:lstStyle>
            <a:lvl1pPr marL="0" indent="0">
              <a:buNone/>
              <a:defRPr lang="en-US" sz="1200" b="1" kern="0" spc="200" dirty="0">
                <a:solidFill>
                  <a:srgbClr val="6CC6D3"/>
                </a:solidFill>
              </a:defRPr>
            </a:lvl1pPr>
          </a:lstStyle>
          <a:p>
            <a:pPr marL="0" indent="0">
              <a:buNone/>
            </a:pPr>
            <a:endParaRPr lang="en-US" sz="1200" dirty="0"/>
          </a:p>
        </p:txBody>
      </p:sp>
      <p:sp>
        <p:nvSpPr>
          <p:cNvPr id="3" name="Text 0"/>
          <p:cNvSpPr>
            <a:spLocks noGrp="1"/>
          </p:cNvSpPr>
          <p:nvPr>
            <p:ph type="title" idx="101" hasCustomPrompt="1"/>
          </p:nvPr>
        </p:nvSpPr>
        <p:spPr>
          <a:xfrm>
            <a:off x="548640" y="585216"/>
            <a:ext cx="11094415" cy="731520"/>
          </a:xfrm>
          <a:prstGeom prst="rect">
            <a:avLst/>
          </a:prstGeom>
          <a:noFill/>
          <a:ln/>
        </p:spPr>
        <p:txBody>
          <a:bodyPr wrap="square" rtlCol="0"/>
          <a:lstStyle>
            <a:lvl1pPr marL="0" indent="0" algn="l">
              <a:buNone/>
              <a:defRPr lang="en-US" sz="2400" b="1" dirty="0">
                <a:solidFill>
                  <a:srgbClr val="FFFFFF"/>
                </a:solidFill>
                <a:latin typeface="Cambria" pitchFamily="34" charset="0"/>
                <a:ea typeface="Cambria" pitchFamily="34" charset="-122"/>
                <a:cs typeface="Cambria" pitchFamily="34" charset="-120"/>
              </a:defRPr>
            </a:lvl1pPr>
          </a:lstStyle>
          <a:p>
            <a:pPr marL="0" indent="0" algn="l">
              <a:buNone/>
            </a:pPr>
            <a:endParaRPr lang="en-US" sz="2400" dirty="0"/>
          </a:p>
        </p:txBody>
      </p:sp>
      <p:sp>
        <p:nvSpPr>
          <p:cNvPr id="4" name="Text 0"/>
          <p:cNvSpPr/>
          <p:nvPr/>
        </p:nvSpPr>
        <p:spPr>
          <a:xfrm>
            <a:off x="548640" y="6473952"/>
            <a:ext cx="8229600" cy="201168"/>
          </a:xfrm>
          <a:prstGeom prst="rect">
            <a:avLst/>
          </a:prstGeom>
          <a:noFill/>
          <a:ln/>
        </p:spPr>
        <p:txBody>
          <a:bodyPr wrap="square" lIns="0" tIns="0" rIns="0" bIns="0" rtlCol="0" anchor="ctr"/>
          <a:lstStyle/>
          <a:p>
            <a:pPr marL="0" indent="0">
              <a:buNone/>
            </a:pPr>
            <a:r>
              <a:rPr lang="en-US" sz="1000" dirty="0">
                <a:solidFill>
                  <a:srgbClr val="8FA3BB"/>
                </a:solidFill>
              </a:rPr>
              <a:t>Data: URA private residential transactions, Apr 2013 – Apr 2022  ·  Group 5, Project 2</a:t>
            </a:r>
            <a:endParaRPr lang="en-US" sz="1000" dirty="0"/>
          </a:p>
        </p:txBody>
      </p:sp>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8FA3BB"/>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RE_DARK">
    <p:bg>
      <p:bgPr>
        <a:solidFill>
          <a:srgbClr val="142B4A"/>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llustration of a data pipeline flowing into an analytics dashboard"/>
          <p:cNvPicPr>
            <a:picLocks noChangeAspect="1"/>
          </p:cNvPicPr>
          <p:nvPr/>
        </p:nvPicPr>
        <p:blipFill>
          <a:blip r:embed="rId3"/>
          <a:stretch>
            <a:fillRect/>
          </a:stretch>
        </p:blipFill>
        <p:spPr>
          <a:xfrm>
            <a:off x="5952744" y="0"/>
            <a:ext cx="6238951" cy="6858000"/>
          </a:xfrm>
          <a:prstGeom prst="rect">
            <a:avLst/>
          </a:prstGeom>
        </p:spPr>
      </p:pic>
      <p:sp>
        <p:nvSpPr>
          <p:cNvPr id="3" name="Text 0"/>
          <p:cNvSpPr txBox="1"/>
          <p:nvPr/>
        </p:nvSpPr>
        <p:spPr>
          <a:xfrm>
            <a:off x="548640" y="2331720"/>
            <a:ext cx="5120640" cy="274320"/>
          </a:xfrm>
          <a:prstGeom prst="rect">
            <a:avLst/>
          </a:prstGeom>
          <a:noFill/>
          <a:ln/>
        </p:spPr>
        <p:txBody>
          <a:bodyPr wrap="square" lIns="0" tIns="0" rIns="0" bIns="0" rtlCol="0" anchor="t"/>
          <a:lstStyle/>
          <a:p>
            <a:pPr marL="0" indent="0">
              <a:buNone/>
            </a:pPr>
            <a:r>
              <a:rPr lang="en-US" sz="1400" b="1" kern="0" spc="300" dirty="0">
                <a:solidFill>
                  <a:srgbClr val="6CC6D3"/>
                </a:solidFill>
              </a:rPr>
              <a:t>GROUP 5  ·  PROJECT 2</a:t>
            </a:r>
            <a:endParaRPr lang="en-US" sz="1400" dirty="0"/>
          </a:p>
        </p:txBody>
      </p:sp>
      <p:sp>
        <p:nvSpPr>
          <p:cNvPr id="4" name="Text 1"/>
          <p:cNvSpPr txBox="1"/>
          <p:nvPr/>
        </p:nvSpPr>
        <p:spPr>
          <a:xfrm>
            <a:off x="548640" y="2743200"/>
            <a:ext cx="5212080" cy="164592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Singapore Private Property Transaction Pipeline</a:t>
            </a:r>
            <a:endParaRPr lang="en-US" sz="4400" dirty="0"/>
          </a:p>
        </p:txBody>
      </p:sp>
      <p:sp>
        <p:nvSpPr>
          <p:cNvPr id="5" name="Text 2"/>
          <p:cNvSpPr txBox="1"/>
          <p:nvPr/>
        </p:nvSpPr>
        <p:spPr>
          <a:xfrm>
            <a:off x="640080" y="5793935"/>
            <a:ext cx="4937760" cy="320040"/>
          </a:xfrm>
          <a:prstGeom prst="rect">
            <a:avLst/>
          </a:prstGeom>
          <a:noFill/>
          <a:ln/>
        </p:spPr>
        <p:txBody>
          <a:bodyPr wrap="square" lIns="0" tIns="0" rIns="0" bIns="0" rtlCol="0" anchor="t"/>
          <a:lstStyle/>
          <a:p>
            <a:pPr marL="0" indent="0">
              <a:buNone/>
            </a:pPr>
            <a:r>
              <a:rPr lang="en-US" sz="1400" dirty="0">
                <a:solidFill>
                  <a:srgbClr val="BCC9D9"/>
                </a:solidFill>
              </a:rPr>
              <a:t>URA private residential transactions, April 2013 – April 2022</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103120"/>
            <a:ext cx="5486400" cy="365760"/>
          </a:xfrm>
          <a:prstGeom prst="rect">
            <a:avLst/>
          </a:prstGeom>
          <a:noFill/>
          <a:ln/>
        </p:spPr>
        <p:txBody>
          <a:bodyPr wrap="square" lIns="0" tIns="0" rIns="0" bIns="0" rtlCol="0" anchor="t"/>
          <a:lstStyle/>
          <a:p>
            <a:pPr marL="0" indent="0">
              <a:buNone/>
            </a:pPr>
            <a:r>
              <a:rPr lang="en-US" sz="1600" b="1" kern="0" spc="300" dirty="0">
                <a:solidFill>
                  <a:srgbClr val="6CC6D3"/>
                </a:solidFill>
              </a:rPr>
              <a:t>PART 1 OF 4</a:t>
            </a:r>
            <a:endParaRPr lang="en-US" sz="1600" dirty="0"/>
          </a:p>
        </p:txBody>
      </p:sp>
      <p:sp>
        <p:nvSpPr>
          <p:cNvPr id="3" name="Text 1"/>
          <p:cNvSpPr txBox="1"/>
          <p:nvPr/>
        </p:nvSpPr>
        <p:spPr>
          <a:xfrm>
            <a:off x="548640" y="2651760"/>
            <a:ext cx="6035040" cy="16459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The problem and the architecture</a:t>
            </a:r>
            <a:endParaRPr lang="en-US" sz="4000" dirty="0"/>
          </a:p>
        </p:txBody>
      </p:sp>
      <p:sp>
        <p:nvSpPr>
          <p:cNvPr id="4" name="Text 2"/>
          <p:cNvSpPr txBox="1"/>
          <p:nvPr/>
        </p:nvSpPr>
        <p:spPr>
          <a:xfrm>
            <a:off x="7498080" y="1920240"/>
            <a:ext cx="4114800" cy="219456"/>
          </a:xfrm>
          <a:prstGeom prst="rect">
            <a:avLst/>
          </a:prstGeom>
          <a:noFill/>
          <a:ln/>
        </p:spPr>
        <p:txBody>
          <a:bodyPr wrap="square" lIns="0" tIns="0" rIns="0" bIns="0" rtlCol="0" anchor="ctr"/>
          <a:lstStyle/>
          <a:p>
            <a:pPr marL="0" indent="0">
              <a:buNone/>
            </a:pPr>
            <a:r>
              <a:rPr lang="en-US" sz="1100" b="1" kern="0" spc="150" dirty="0">
                <a:solidFill>
                  <a:srgbClr val="6CC6D3"/>
                </a:solidFill>
              </a:rPr>
              <a:t>IN THIS SECTION</a:t>
            </a:r>
            <a:endParaRPr lang="en-US" sz="1100" dirty="0"/>
          </a:p>
        </p:txBody>
      </p:sp>
      <p:sp>
        <p:nvSpPr>
          <p:cNvPr id="5" name="Text 3"/>
          <p:cNvSpPr txBox="1"/>
          <p:nvPr/>
        </p:nvSpPr>
        <p:spPr>
          <a:xfrm>
            <a:off x="7498080" y="2286000"/>
            <a:ext cx="4160520" cy="2377440"/>
          </a:xfrm>
          <a:prstGeom prst="rect">
            <a:avLst/>
          </a:prstGeom>
          <a:noFill/>
          <a:ln/>
        </p:spPr>
        <p:txBody>
          <a:bodyPr wrap="square" lIns="0" tIns="0" rIns="0" bIns="0" rtlCol="0" anchor="t"/>
          <a:lstStyle/>
          <a:p>
            <a:pPr marL="0" indent="0">
              <a:spcAft>
                <a:spcPts val="1200"/>
              </a:spcAft>
              <a:buNone/>
            </a:pPr>
            <a:r>
              <a:rPr lang="en-US" sz="1400" b="1" dirty="0">
                <a:solidFill>
                  <a:srgbClr val="6CC6D3"/>
                </a:solidFill>
              </a:rPr>
              <a:t>01  </a:t>
            </a:r>
            <a:r>
              <a:rPr lang="en-US" sz="1400" dirty="0">
                <a:solidFill>
                  <a:srgbClr val="FFFFFF"/>
                </a:solidFill>
              </a:rPr>
              <a:t>The problem</a:t>
            </a:r>
            <a:endParaRPr lang="en-US" sz="1200" dirty="0"/>
          </a:p>
          <a:p>
            <a:pPr marL="0" indent="0">
              <a:spcAft>
                <a:spcPts val="1200"/>
              </a:spcAft>
              <a:buNone/>
            </a:pPr>
            <a:r>
              <a:rPr lang="en-US" sz="1400" b="1" dirty="0">
                <a:solidFill>
                  <a:srgbClr val="6CC6D3"/>
                </a:solidFill>
              </a:rPr>
              <a:t>02  </a:t>
            </a:r>
            <a:r>
              <a:rPr lang="en-US" sz="1400" dirty="0">
                <a:solidFill>
                  <a:srgbClr val="FFFFFF"/>
                </a:solidFill>
              </a:rPr>
              <a:t>Architecture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01  THE PROBLEM</a:t>
            </a:r>
            <a:endParaRPr lang="en-US" sz="1200" dirty="0"/>
          </a:p>
        </p:txBody>
      </p:sp>
      <p:sp>
        <p:nvSpPr>
          <p:cNvPr id="3" name="Text 0"/>
          <p:cNvSpPr>
            <a:spLocks noGrp="1"/>
          </p:cNvSpPr>
          <p:nvPr>
            <p:ph type="title" idx="101" hasCustomPrompt="1"/>
          </p:nvPr>
        </p:nvSpPr>
        <p:spPr>
          <a:xfrm>
            <a:off x="548640" y="877824"/>
            <a:ext cx="11094415" cy="438912"/>
          </a:xfrm>
          <a:prstGeom prst="rect">
            <a:avLst/>
          </a:prstGeom>
          <a:noFill/>
          <a:ln/>
        </p:spPr>
        <p:txBody>
          <a:bodyPr wrap="square" lIns="0" tIns="0" rIns="0" bIns="0" rtlCol="0" anchor="t"/>
          <a:lstStyle/>
          <a:p>
            <a:pPr marL="0" indent="0" algn="l">
              <a:buNone/>
            </a:pPr>
            <a:r>
              <a:rPr lang="en-US" sz="2400" b="1" dirty="0">
                <a:solidFill>
                  <a:srgbClr val="142B4A"/>
                </a:solidFill>
                <a:latin typeface="Cambria" pitchFamily="34" charset="0"/>
                <a:ea typeface="Cambria" pitchFamily="34" charset="-122"/>
                <a:cs typeface="Cambria" pitchFamily="34" charset="-120"/>
              </a:rPr>
              <a:t>Every defect in the raw export fails silently</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3786466412"/>
              </p:ext>
            </p:extLst>
          </p:nvPr>
        </p:nvGraphicFramePr>
        <p:xfrm>
          <a:off x="548640" y="1554480"/>
          <a:ext cx="7589520" cy="3383280"/>
        </p:xfrm>
        <a:graphic>
          <a:graphicData uri="http://schemas.openxmlformats.org/drawingml/2006/table">
            <a:tbl>
              <a:tblPr/>
              <a:tblGrid>
                <a:gridCol w="1554480">
                  <a:extLst>
                    <a:ext uri="{9D8B030D-6E8A-4147-A177-3AD203B41FA5}">
                      <a16:colId xmlns:a16="http://schemas.microsoft.com/office/drawing/2014/main" val="20000"/>
                    </a:ext>
                  </a:extLst>
                </a:gridCol>
                <a:gridCol w="1700000">
                  <a:extLst>
                    <a:ext uri="{9D8B030D-6E8A-4147-A177-3AD203B41FA5}">
                      <a16:colId xmlns:a16="http://schemas.microsoft.com/office/drawing/2014/main" val="20001"/>
                    </a:ext>
                  </a:extLst>
                </a:gridCol>
                <a:gridCol w="1700000">
                  <a:extLst>
                    <a:ext uri="{9D8B030D-6E8A-4147-A177-3AD203B41FA5}">
                      <a16:colId xmlns:a16="http://schemas.microsoft.com/office/drawing/2014/main" val="20002"/>
                    </a:ext>
                  </a:extLst>
                </a:gridCol>
                <a:gridCol w="2635040">
                  <a:extLst>
                    <a:ext uri="{9D8B030D-6E8A-4147-A177-3AD203B41FA5}">
                      <a16:colId xmlns:a16="http://schemas.microsoft.com/office/drawing/2014/main" val="20003"/>
                    </a:ext>
                  </a:extLst>
                </a:gridCol>
              </a:tblGrid>
              <a:tr h="472609">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FIELD</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A NAIVE READ GIVES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WHAT IS TRUE</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WHY NOTHING COMPLAINS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extLst>
                  <a:ext uri="{0D108BD9-81ED-4DB2-BD59-A6C34878D82A}">
                    <a16:rowId xmlns:a16="http://schemas.microsoft.com/office/drawing/2014/main" val="10000"/>
                  </a:ext>
                </a:extLst>
              </a:tr>
              <a:tr h="922713">
                <a:tc>
                  <a:txBody>
                    <a:bodyPr/>
                    <a:lstStyle/>
                    <a:p>
                      <a:pPr marL="0" indent="0">
                        <a:buNone/>
                      </a:pPr>
                      <a:r>
                        <a:rPr lang="en-US" sz="1150" b="1" dirty="0">
                          <a:solidFill>
                            <a:srgbClr val="142B4A"/>
                          </a:solidFill>
                          <a:latin typeface="Calibri" pitchFamily="34" charset="0"/>
                          <a:ea typeface="Calibri" pitchFamily="34" charset="-122"/>
                          <a:cs typeface="Calibri" pitchFamily="34" charset="-120"/>
                        </a:rPr>
                        <a:t>Prices and areas</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200" dirty="0">
                          <a:solidFill>
                            <a:srgbClr val="142B4A"/>
                          </a:solidFill>
                          <a:latin typeface="Courier New" pitchFamily="34" charset="0"/>
                          <a:ea typeface="Courier New" pitchFamily="34" charset="-122"/>
                          <a:cs typeface="Courier New" pitchFamily="34" charset="-120"/>
                        </a:rPr>
                        <a:t>every value empty</a:t>
                      </a:r>
                      <a:endParaRPr lang="en-US" sz="12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150" dirty="0">
                          <a:solidFill>
                            <a:srgbClr val="142B4A"/>
                          </a:solidFill>
                          <a:latin typeface="Calibri" pitchFamily="34" charset="0"/>
                          <a:ea typeface="Calibri" pitchFamily="34" charset="-122"/>
                          <a:cs typeface="Calibri" pitchFamily="34" charset="-120"/>
                        </a:rPr>
                        <a:t>170,224 prices · 144,977 $psf</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200" dirty="0">
                          <a:solidFill>
                            <a:srgbClr val="167D8D"/>
                          </a:solidFill>
                          <a:latin typeface="Courier New" pitchFamily="34" charset="0"/>
                          <a:ea typeface="Courier New" pitchFamily="34" charset="-122"/>
                          <a:cs typeface="Courier New" pitchFamily="34" charset="-120"/>
                        </a:rPr>
                        <a:t>Thousands separators. A cast of "987,000" returns NULL, not an error.</a:t>
                      </a:r>
                      <a:endParaRPr lang="en-US" sz="12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1"/>
                  </a:ext>
                </a:extLst>
              </a:tr>
              <a:tr h="993979">
                <a:tc>
                  <a:txBody>
                    <a:bodyPr/>
                    <a:lstStyle/>
                    <a:p>
                      <a:pPr marL="0" indent="0">
                        <a:buNone/>
                      </a:pPr>
                      <a:r>
                        <a:rPr lang="en-US" sz="1150" b="1" dirty="0">
                          <a:solidFill>
                            <a:srgbClr val="142B4A"/>
                          </a:solidFill>
                          <a:latin typeface="Calibri" pitchFamily="34" charset="0"/>
                          <a:ea typeface="Calibri" pitchFamily="34" charset="-122"/>
                          <a:cs typeface="Calibri" pitchFamily="34" charset="-120"/>
                        </a:rPr>
                        <a:t>Sale date</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200" dirty="0">
                          <a:solidFill>
                            <a:srgbClr val="142B4A"/>
                          </a:solidFill>
                          <a:latin typeface="Courier New" pitchFamily="34" charset="0"/>
                          <a:ea typeface="Courier New" pitchFamily="34" charset="-122"/>
                          <a:cs typeface="Courier New" pitchFamily="34" charset="-120"/>
                        </a:rPr>
                        <a:t>no trend possible</a:t>
                      </a:r>
                      <a:endParaRPr lang="en-US" sz="12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50" dirty="0">
                          <a:solidFill>
                            <a:srgbClr val="142B4A"/>
                          </a:solidFill>
                          <a:latin typeface="Calibri" pitchFamily="34" charset="0"/>
                          <a:ea typeface="Calibri" pitchFamily="34" charset="-122"/>
                          <a:cs typeface="Calibri" pitchFamily="34" charset="-120"/>
                        </a:rPr>
                        <a:t>109 months</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200" dirty="0">
                          <a:solidFill>
                            <a:srgbClr val="167D8D"/>
                          </a:solidFill>
                          <a:latin typeface="Courier New" pitchFamily="34" charset="0"/>
                          <a:ea typeface="Courier New" pitchFamily="34" charset="-122"/>
                          <a:cs typeface="Courier New" pitchFamily="34" charset="-120"/>
                        </a:rPr>
                        <a:t>Stored as text, so it sorts alphabetically: "01 Apr 2013" is followed by "01 Apr 2014".</a:t>
                      </a:r>
                      <a:endParaRPr lang="en-US" sz="12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2"/>
                  </a:ext>
                </a:extLst>
              </a:tr>
              <a:tr h="993979">
                <a:tc>
                  <a:txBody>
                    <a:bodyPr/>
                    <a:lstStyle/>
                    <a:p>
                      <a:pPr marL="0" indent="0">
                        <a:buNone/>
                      </a:pPr>
                      <a:r>
                        <a:rPr lang="en-US" sz="1150" b="1" dirty="0">
                          <a:solidFill>
                            <a:srgbClr val="142B4A"/>
                          </a:solidFill>
                          <a:latin typeface="Calibri" pitchFamily="34" charset="0"/>
                          <a:ea typeface="Calibri" pitchFamily="34" charset="-122"/>
                          <a:cs typeface="Calibri" pitchFamily="34" charset="-120"/>
                        </a:rPr>
                        <a:t>Transaction ID</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200" dirty="0">
                          <a:solidFill>
                            <a:srgbClr val="142B4A"/>
                          </a:solidFill>
                          <a:latin typeface="Courier New" pitchFamily="34" charset="0"/>
                          <a:ea typeface="Courier New" pitchFamily="34" charset="-122"/>
                          <a:cs typeface="Courier New" pitchFamily="34" charset="-120"/>
                        </a:rPr>
                        <a:t>repeat sales look identical</a:t>
                      </a:r>
                      <a:endParaRPr lang="en-US" sz="12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50" dirty="0">
                          <a:solidFill>
                            <a:srgbClr val="142B4A"/>
                          </a:solidFill>
                          <a:latin typeface="Calibri" pitchFamily="34" charset="0"/>
                          <a:ea typeface="Calibri" pitchFamily="34" charset="-122"/>
                          <a:cs typeface="Calibri" pitchFamily="34" charset="-120"/>
                        </a:rPr>
                        <a:t>no identifier exists</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200" dirty="0">
                          <a:solidFill>
                            <a:srgbClr val="167D8D"/>
                          </a:solidFill>
                          <a:latin typeface="Courier New" pitchFamily="34" charset="0"/>
                          <a:ea typeface="Courier New" pitchFamily="34" charset="-122"/>
                          <a:cs typeface="Courier New" pitchFamily="34" charset="-120"/>
                        </a:rPr>
                        <a:t>Nothing in the source separates two identical sales, so transaction_key adds a row number.</a:t>
                      </a:r>
                      <a:endParaRPr lang="en-US" sz="12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2"/>
          <p:cNvSpPr/>
          <p:nvPr/>
        </p:nvSpPr>
        <p:spPr>
          <a:xfrm>
            <a:off x="8412480" y="1554480"/>
            <a:ext cx="3230575" cy="3383280"/>
          </a:xfrm>
          <a:prstGeom prst="roundRect">
            <a:avLst>
              <a:gd name="adj" fmla="val 1981"/>
            </a:avLst>
          </a:prstGeom>
          <a:solidFill>
            <a:srgbClr val="F4F6F8"/>
          </a:solidFill>
          <a:ln w="9525">
            <a:solidFill>
              <a:srgbClr val="D9E0E8"/>
            </a:solidFill>
            <a:prstDash val="solid"/>
          </a:ln>
        </p:spPr>
      </p:sp>
      <p:sp>
        <p:nvSpPr>
          <p:cNvPr id="7" name="Text 3"/>
          <p:cNvSpPr txBox="1"/>
          <p:nvPr/>
        </p:nvSpPr>
        <p:spPr>
          <a:xfrm>
            <a:off x="8686800" y="1719072"/>
            <a:ext cx="2743200" cy="457200"/>
          </a:xfrm>
          <a:prstGeom prst="rect">
            <a:avLst/>
          </a:prstGeom>
          <a:noFill/>
          <a:ln/>
        </p:spPr>
        <p:txBody>
          <a:bodyPr wrap="square" lIns="0" tIns="0" rIns="0" bIns="0" rtlCol="0" anchor="ctr"/>
          <a:lstStyle/>
          <a:p>
            <a:pPr marL="0" indent="0">
              <a:buNone/>
            </a:pPr>
            <a:r>
              <a:rPr lang="en-US" sz="3000" b="1" dirty="0">
                <a:solidFill>
                  <a:srgbClr val="167D8D"/>
                </a:solidFill>
                <a:latin typeface="Cambria" pitchFamily="34" charset="0"/>
                <a:ea typeface="Cambria" pitchFamily="34" charset="-122"/>
                <a:cs typeface="Cambria" pitchFamily="34" charset="-120"/>
              </a:rPr>
              <a:t>19</a:t>
            </a:r>
            <a:endParaRPr lang="en-US" sz="3000" dirty="0"/>
          </a:p>
        </p:txBody>
      </p:sp>
      <p:sp>
        <p:nvSpPr>
          <p:cNvPr id="8" name="Text 4"/>
          <p:cNvSpPr txBox="1"/>
          <p:nvPr/>
        </p:nvSpPr>
        <p:spPr>
          <a:xfrm>
            <a:off x="8686800" y="2176272"/>
            <a:ext cx="2743200" cy="274320"/>
          </a:xfrm>
          <a:prstGeom prst="rect">
            <a:avLst/>
          </a:prstGeom>
          <a:noFill/>
          <a:ln/>
        </p:spPr>
        <p:txBody>
          <a:bodyPr wrap="square" lIns="0" tIns="0" rIns="0" bIns="0" rtlCol="0" anchor="t"/>
          <a:lstStyle/>
          <a:p>
            <a:pPr marL="0" indent="0">
              <a:buNone/>
            </a:pPr>
            <a:r>
              <a:rPr lang="en-US" sz="1200" dirty="0">
                <a:solidFill>
                  <a:srgbClr val="55657A"/>
                </a:solidFill>
              </a:rPr>
              <a:t>downloads from URA</a:t>
            </a:r>
            <a:endParaRPr lang="en-US" sz="1200" dirty="0"/>
          </a:p>
        </p:txBody>
      </p:sp>
      <p:sp>
        <p:nvSpPr>
          <p:cNvPr id="9" name="Text 5"/>
          <p:cNvSpPr txBox="1"/>
          <p:nvPr/>
        </p:nvSpPr>
        <p:spPr>
          <a:xfrm>
            <a:off x="8686800" y="2532888"/>
            <a:ext cx="2743200" cy="457200"/>
          </a:xfrm>
          <a:prstGeom prst="rect">
            <a:avLst/>
          </a:prstGeom>
          <a:noFill/>
          <a:ln/>
        </p:spPr>
        <p:txBody>
          <a:bodyPr wrap="square" lIns="0" tIns="0" rIns="0" bIns="0" rtlCol="0" anchor="ctr"/>
          <a:lstStyle/>
          <a:p>
            <a:pPr marL="0" indent="0">
              <a:buNone/>
            </a:pPr>
            <a:r>
              <a:rPr lang="en-US" sz="3000" b="1" dirty="0">
                <a:solidFill>
                  <a:srgbClr val="167D8D"/>
                </a:solidFill>
                <a:latin typeface="Cambria" pitchFamily="34" charset="0"/>
                <a:ea typeface="Cambria" pitchFamily="34" charset="-122"/>
                <a:cs typeface="Cambria" pitchFamily="34" charset="-120"/>
              </a:rPr>
              <a:t>170,224</a:t>
            </a:r>
            <a:endParaRPr lang="en-US" sz="3000" dirty="0"/>
          </a:p>
        </p:txBody>
      </p:sp>
      <p:sp>
        <p:nvSpPr>
          <p:cNvPr id="10" name="Text 6"/>
          <p:cNvSpPr txBox="1"/>
          <p:nvPr/>
        </p:nvSpPr>
        <p:spPr>
          <a:xfrm>
            <a:off x="8686800" y="2990088"/>
            <a:ext cx="2743200" cy="274320"/>
          </a:xfrm>
          <a:prstGeom prst="rect">
            <a:avLst/>
          </a:prstGeom>
          <a:noFill/>
          <a:ln/>
        </p:spPr>
        <p:txBody>
          <a:bodyPr wrap="square" lIns="0" tIns="0" rIns="0" bIns="0" rtlCol="0" anchor="t"/>
          <a:lstStyle/>
          <a:p>
            <a:pPr marL="0" indent="0">
              <a:buNone/>
            </a:pPr>
            <a:r>
              <a:rPr lang="en-US" sz="1200" dirty="0">
                <a:solidFill>
                  <a:srgbClr val="55657A"/>
                </a:solidFill>
              </a:rPr>
              <a:t>rows loaded</a:t>
            </a:r>
            <a:endParaRPr lang="en-US" sz="1200" dirty="0"/>
          </a:p>
        </p:txBody>
      </p:sp>
      <p:sp>
        <p:nvSpPr>
          <p:cNvPr id="11" name="Text 7"/>
          <p:cNvSpPr txBox="1"/>
          <p:nvPr/>
        </p:nvSpPr>
        <p:spPr>
          <a:xfrm>
            <a:off x="8686800" y="3346704"/>
            <a:ext cx="2743200" cy="457200"/>
          </a:xfrm>
          <a:prstGeom prst="rect">
            <a:avLst/>
          </a:prstGeom>
          <a:noFill/>
          <a:ln/>
        </p:spPr>
        <p:txBody>
          <a:bodyPr wrap="square" lIns="0" tIns="0" rIns="0" bIns="0" rtlCol="0" anchor="ctr"/>
          <a:lstStyle/>
          <a:p>
            <a:pPr marL="0" indent="0">
              <a:buNone/>
            </a:pPr>
            <a:r>
              <a:rPr lang="en-US" sz="3000" b="1" dirty="0">
                <a:solidFill>
                  <a:srgbClr val="167D8D"/>
                </a:solidFill>
                <a:latin typeface="Cambria" pitchFamily="34" charset="0"/>
                <a:ea typeface="Cambria" pitchFamily="34" charset="-122"/>
                <a:cs typeface="Cambria" pitchFamily="34" charset="-120"/>
              </a:rPr>
              <a:t>21</a:t>
            </a:r>
            <a:endParaRPr lang="en-US" sz="3000" dirty="0"/>
          </a:p>
        </p:txBody>
      </p:sp>
      <p:sp>
        <p:nvSpPr>
          <p:cNvPr id="12" name="Text 8"/>
          <p:cNvSpPr txBox="1"/>
          <p:nvPr/>
        </p:nvSpPr>
        <p:spPr>
          <a:xfrm>
            <a:off x="8686800" y="3803904"/>
            <a:ext cx="2743200" cy="274320"/>
          </a:xfrm>
          <a:prstGeom prst="rect">
            <a:avLst/>
          </a:prstGeom>
          <a:noFill/>
          <a:ln/>
        </p:spPr>
        <p:txBody>
          <a:bodyPr wrap="square" lIns="0" tIns="0" rIns="0" bIns="0" rtlCol="0" anchor="t"/>
          <a:lstStyle/>
          <a:p>
            <a:pPr marL="0" indent="0">
              <a:buNone/>
            </a:pPr>
            <a:r>
              <a:rPr lang="en-US" sz="1200" dirty="0">
                <a:solidFill>
                  <a:srgbClr val="55657A"/>
                </a:solidFill>
              </a:rPr>
              <a:t>columns, all text</a:t>
            </a:r>
            <a:endParaRPr lang="en-US" sz="1200" dirty="0"/>
          </a:p>
        </p:txBody>
      </p:sp>
      <p:sp>
        <p:nvSpPr>
          <p:cNvPr id="13" name="Text 9"/>
          <p:cNvSpPr txBox="1"/>
          <p:nvPr/>
        </p:nvSpPr>
        <p:spPr>
          <a:xfrm>
            <a:off x="8686800" y="4160520"/>
            <a:ext cx="2743200" cy="457200"/>
          </a:xfrm>
          <a:prstGeom prst="rect">
            <a:avLst/>
          </a:prstGeom>
          <a:noFill/>
          <a:ln/>
        </p:spPr>
        <p:txBody>
          <a:bodyPr wrap="square" lIns="0" tIns="0" rIns="0" bIns="0" rtlCol="0" anchor="ctr"/>
          <a:lstStyle/>
          <a:p>
            <a:pPr marL="0" indent="0">
              <a:buNone/>
            </a:pPr>
            <a:r>
              <a:rPr lang="en-US" sz="3000" b="1" dirty="0">
                <a:solidFill>
                  <a:srgbClr val="167D8D"/>
                </a:solidFill>
                <a:latin typeface="Cambria" pitchFamily="34" charset="0"/>
                <a:ea typeface="Cambria" pitchFamily="34" charset="-122"/>
                <a:cs typeface="Cambria" pitchFamily="34" charset="-120"/>
              </a:rPr>
              <a:t>0</a:t>
            </a:r>
            <a:endParaRPr lang="en-US" sz="3000" dirty="0"/>
          </a:p>
        </p:txBody>
      </p:sp>
      <p:sp>
        <p:nvSpPr>
          <p:cNvPr id="14" name="Text 10"/>
          <p:cNvSpPr txBox="1"/>
          <p:nvPr/>
        </p:nvSpPr>
        <p:spPr>
          <a:xfrm>
            <a:off x="8686800" y="4617720"/>
            <a:ext cx="2743200" cy="274320"/>
          </a:xfrm>
          <a:prstGeom prst="rect">
            <a:avLst/>
          </a:prstGeom>
          <a:noFill/>
          <a:ln/>
        </p:spPr>
        <p:txBody>
          <a:bodyPr wrap="square" lIns="0" tIns="0" rIns="0" bIns="0" rtlCol="0" anchor="t"/>
          <a:lstStyle/>
          <a:p>
            <a:pPr marL="0" indent="0">
              <a:buNone/>
            </a:pPr>
            <a:r>
              <a:rPr lang="en-US" sz="1200" dirty="0">
                <a:solidFill>
                  <a:srgbClr val="55657A"/>
                </a:solidFill>
              </a:rPr>
              <a:t>transaction IDs in the source</a:t>
            </a:r>
            <a:endParaRPr lang="en-US" sz="1200" dirty="0"/>
          </a:p>
        </p:txBody>
      </p:sp>
      <p:sp>
        <p:nvSpPr>
          <p:cNvPr id="15" name="Shape 11"/>
          <p:cNvSpPr/>
          <p:nvPr/>
        </p:nvSpPr>
        <p:spPr>
          <a:xfrm>
            <a:off x="548640" y="5257800"/>
            <a:ext cx="11094415" cy="685800"/>
          </a:xfrm>
          <a:prstGeom prst="roundRect">
            <a:avLst>
              <a:gd name="adj" fmla="val 9333"/>
            </a:avLst>
          </a:prstGeom>
          <a:solidFill>
            <a:srgbClr val="E3F1F3"/>
          </a:solidFill>
          <a:ln w="9525">
            <a:solidFill>
              <a:srgbClr val="E3F1F3"/>
            </a:solidFill>
            <a:prstDash val="solid"/>
          </a:ln>
        </p:spPr>
      </p:sp>
      <p:sp>
        <p:nvSpPr>
          <p:cNvPr id="16" name="Text 12"/>
          <p:cNvSpPr txBox="1"/>
          <p:nvPr/>
        </p:nvSpPr>
        <p:spPr>
          <a:xfrm>
            <a:off x="822960" y="5257800"/>
            <a:ext cx="10545775" cy="685800"/>
          </a:xfrm>
          <a:prstGeom prst="rect">
            <a:avLst/>
          </a:prstGeom>
          <a:noFill/>
          <a:ln/>
        </p:spPr>
        <p:txBody>
          <a:bodyPr wrap="square" lIns="0" tIns="0" rIns="0" bIns="0" rtlCol="0" anchor="ctr"/>
          <a:lstStyle/>
          <a:p>
            <a:pPr marL="0" indent="0">
              <a:buNone/>
            </a:pPr>
            <a:r>
              <a:rPr lang="en-US" sz="1600" i="1" dirty="0">
                <a:solidFill>
                  <a:srgbClr val="142B4A"/>
                </a:solidFill>
              </a:rPr>
              <a:t>Not one of these raises an error. The pipeline’s job is not to clean the data — it is to make a wrong number impossible to produce quietly.</a:t>
            </a:r>
            <a:endParaRPr lang="en-US" sz="1600" dirty="0"/>
          </a:p>
        </p:txBody>
      </p:sp>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02  ARCHITECTURE</a:t>
            </a:r>
            <a:endParaRPr lang="en-US" sz="1200" dirty="0"/>
          </a:p>
        </p:txBody>
      </p:sp>
      <p:sp>
        <p:nvSpPr>
          <p:cNvPr id="3" name="Text 0"/>
          <p:cNvSpPr>
            <a:spLocks noGrp="1"/>
          </p:cNvSpPr>
          <p:nvPr>
            <p:ph type="title" idx="101" hasCustomPrompt="1"/>
          </p:nvPr>
        </p:nvSpPr>
        <p:spPr>
          <a:xfrm>
            <a:off x="548640" y="585216"/>
            <a:ext cx="11094415" cy="731520"/>
          </a:xfrm>
          <a:prstGeom prst="rect">
            <a:avLst/>
          </a:prstGeom>
          <a:noFill/>
          <a:ln/>
        </p:spPr>
        <p:txBody>
          <a:bodyPr wrap="square" lIns="0" tIns="0" rIns="0" bIns="0" rtlCol="0" anchor="t"/>
          <a:lstStyle/>
          <a:p>
            <a:pPr marL="0" indent="0" algn="l">
              <a:buNone/>
            </a:pPr>
            <a:r>
              <a:rPr lang="en-US" sz="2400" b="1" dirty="0">
                <a:solidFill>
                  <a:srgbClr val="142B4A"/>
                </a:solidFill>
                <a:latin typeface="Cambria" pitchFamily="34" charset="0"/>
                <a:ea typeface="Cambria" pitchFamily="34" charset="-122"/>
                <a:cs typeface="Cambria" pitchFamily="34" charset="-120"/>
              </a:rPr>
              <a:t>Only dbt runs inside BigQuery; Great Expectations and the analysis notebook read out of it</a:t>
            </a:r>
            <a:endParaRPr lang="en-US" sz="2400" dirty="0"/>
          </a:p>
        </p:txBody>
      </p:sp>
      <p:sp>
        <p:nvSpPr>
          <p:cNvPr id="5" name="Shape 2"/>
          <p:cNvSpPr/>
          <p:nvPr/>
        </p:nvSpPr>
        <p:spPr>
          <a:xfrm>
            <a:off x="548640" y="1600200"/>
            <a:ext cx="4846320" cy="2011680"/>
          </a:xfrm>
          <a:prstGeom prst="roundRect">
            <a:avLst>
              <a:gd name="adj" fmla="val 4545"/>
            </a:avLst>
          </a:prstGeom>
          <a:solidFill>
            <a:srgbClr val="F4F6F8"/>
          </a:solidFill>
          <a:ln w="9525">
            <a:solidFill>
              <a:srgbClr val="D9E0E8"/>
            </a:solidFill>
            <a:prstDash val="solid"/>
          </a:ln>
        </p:spPr>
        <p:txBody>
          <a:bodyPr/>
          <a:lstStyle/>
          <a:p>
            <a:endParaRPr/>
          </a:p>
        </p:txBody>
      </p:sp>
      <p:sp>
        <p:nvSpPr>
          <p:cNvPr id="6" name="Text 3"/>
          <p:cNvSpPr txBox="1"/>
          <p:nvPr/>
        </p:nvSpPr>
        <p:spPr>
          <a:xfrm>
            <a:off x="548640" y="1691640"/>
            <a:ext cx="4846320" cy="219456"/>
          </a:xfrm>
          <a:prstGeom prst="rect">
            <a:avLst/>
          </a:prstGeom>
          <a:noFill/>
          <a:ln/>
        </p:spPr>
        <p:txBody>
          <a:bodyPr wrap="square" lIns="0" tIns="0" rIns="0" bIns="0" rtlCol="0" anchor="ctr"/>
          <a:lstStyle/>
          <a:p>
            <a:pPr marL="0" indent="0" algn="ctr">
              <a:buNone/>
            </a:pPr>
            <a:r>
              <a:rPr lang="en-US" sz="1000" b="1" kern="0" spc="150" dirty="0">
                <a:solidFill>
                  <a:srgbClr val="55657A"/>
                </a:solidFill>
              </a:rPr>
              <a:t>ON YOUR MACHINE</a:t>
            </a:r>
            <a:endParaRPr lang="en-US" sz="1000" dirty="0"/>
          </a:p>
        </p:txBody>
      </p:sp>
      <p:sp>
        <p:nvSpPr>
          <p:cNvPr id="7" name="Shape 4"/>
          <p:cNvSpPr/>
          <p:nvPr/>
        </p:nvSpPr>
        <p:spPr>
          <a:xfrm>
            <a:off x="5623560" y="1600200"/>
            <a:ext cx="2651760" cy="2011680"/>
          </a:xfrm>
          <a:prstGeom prst="roundRect">
            <a:avLst>
              <a:gd name="adj" fmla="val 4545"/>
            </a:avLst>
          </a:prstGeom>
          <a:solidFill>
            <a:srgbClr val="F4F6F8"/>
          </a:solidFill>
          <a:ln w="9525">
            <a:solidFill>
              <a:srgbClr val="D9E0E8"/>
            </a:solidFill>
            <a:prstDash val="solid"/>
          </a:ln>
        </p:spPr>
        <p:txBody>
          <a:bodyPr/>
          <a:lstStyle/>
          <a:p>
            <a:endParaRPr/>
          </a:p>
        </p:txBody>
      </p:sp>
      <p:sp>
        <p:nvSpPr>
          <p:cNvPr id="8" name="Text 5"/>
          <p:cNvSpPr txBox="1"/>
          <p:nvPr/>
        </p:nvSpPr>
        <p:spPr>
          <a:xfrm>
            <a:off x="5623560" y="1691640"/>
            <a:ext cx="2651760" cy="219456"/>
          </a:xfrm>
          <a:prstGeom prst="rect">
            <a:avLst/>
          </a:prstGeom>
          <a:noFill/>
          <a:ln/>
        </p:spPr>
        <p:txBody>
          <a:bodyPr wrap="square" lIns="0" tIns="0" rIns="0" bIns="0" rtlCol="0" anchor="ctr"/>
          <a:lstStyle/>
          <a:p>
            <a:pPr marL="0" indent="0" algn="ctr">
              <a:buNone/>
            </a:pPr>
            <a:r>
              <a:rPr lang="en-US" sz="1000" b="1" kern="0" spc="150" dirty="0">
                <a:solidFill>
                  <a:srgbClr val="55657A"/>
                </a:solidFill>
              </a:rPr>
              <a:t>EXTRACT + LOAD</a:t>
            </a:r>
            <a:endParaRPr lang="en-US" sz="1000" dirty="0"/>
          </a:p>
        </p:txBody>
      </p:sp>
      <p:sp>
        <p:nvSpPr>
          <p:cNvPr id="9" name="Shape 6"/>
          <p:cNvSpPr/>
          <p:nvPr/>
        </p:nvSpPr>
        <p:spPr>
          <a:xfrm>
            <a:off x="8622792" y="1600200"/>
            <a:ext cx="3017520" cy="4160520"/>
          </a:xfrm>
          <a:prstGeom prst="roundRect">
            <a:avLst>
              <a:gd name="adj" fmla="val 3030"/>
            </a:avLst>
          </a:prstGeom>
          <a:solidFill>
            <a:srgbClr val="F4F6F8"/>
          </a:solidFill>
          <a:ln w="9525">
            <a:solidFill>
              <a:srgbClr val="D9E0E8"/>
            </a:solidFill>
            <a:prstDash val="solid"/>
          </a:ln>
        </p:spPr>
        <p:txBody>
          <a:bodyPr/>
          <a:lstStyle/>
          <a:p>
            <a:endParaRPr/>
          </a:p>
        </p:txBody>
      </p:sp>
      <p:sp>
        <p:nvSpPr>
          <p:cNvPr id="10" name="Text 7"/>
          <p:cNvSpPr txBox="1"/>
          <p:nvPr/>
        </p:nvSpPr>
        <p:spPr>
          <a:xfrm>
            <a:off x="8622792" y="1691640"/>
            <a:ext cx="3017520" cy="219456"/>
          </a:xfrm>
          <a:prstGeom prst="rect">
            <a:avLst/>
          </a:prstGeom>
          <a:noFill/>
          <a:ln/>
        </p:spPr>
        <p:txBody>
          <a:bodyPr wrap="square" lIns="0" tIns="0" rIns="0" bIns="0" rtlCol="0" anchor="ctr"/>
          <a:lstStyle/>
          <a:p>
            <a:pPr marL="0" indent="0" algn="ctr">
              <a:buNone/>
            </a:pPr>
            <a:r>
              <a:rPr lang="en-US" sz="1000" b="1" kern="0" spc="150" dirty="0">
                <a:solidFill>
                  <a:srgbClr val="55657A"/>
                </a:solidFill>
              </a:rPr>
              <a:t>INSIDE GOOGLE BIGQUERY</a:t>
            </a:r>
            <a:endParaRPr lang="en-US" sz="1000" dirty="0"/>
          </a:p>
        </p:txBody>
      </p:sp>
      <p:sp>
        <p:nvSpPr>
          <p:cNvPr id="11" name="Shape 8"/>
          <p:cNvSpPr/>
          <p:nvPr/>
        </p:nvSpPr>
        <p:spPr>
          <a:xfrm>
            <a:off x="548640" y="3977640"/>
            <a:ext cx="7726680" cy="1783080"/>
          </a:xfrm>
          <a:prstGeom prst="roundRect">
            <a:avLst>
              <a:gd name="adj" fmla="val 5128"/>
            </a:avLst>
          </a:prstGeom>
          <a:solidFill>
            <a:srgbClr val="F4F6F8"/>
          </a:solidFill>
          <a:ln w="9525">
            <a:solidFill>
              <a:srgbClr val="D9E0E8"/>
            </a:solidFill>
            <a:prstDash val="solid"/>
          </a:ln>
        </p:spPr>
        <p:txBody>
          <a:bodyPr/>
          <a:lstStyle/>
          <a:p>
            <a:endParaRPr/>
          </a:p>
        </p:txBody>
      </p:sp>
      <p:sp>
        <p:nvSpPr>
          <p:cNvPr id="12" name="Text 9"/>
          <p:cNvSpPr txBox="1"/>
          <p:nvPr/>
        </p:nvSpPr>
        <p:spPr>
          <a:xfrm>
            <a:off x="548640" y="4069080"/>
            <a:ext cx="7726680" cy="219456"/>
          </a:xfrm>
          <a:prstGeom prst="rect">
            <a:avLst/>
          </a:prstGeom>
          <a:noFill/>
          <a:ln/>
        </p:spPr>
        <p:txBody>
          <a:bodyPr wrap="square" lIns="0" tIns="0" rIns="0" bIns="0" rtlCol="0" anchor="ctr"/>
          <a:lstStyle/>
          <a:p>
            <a:pPr marL="0" indent="0" algn="ctr">
              <a:buNone/>
            </a:pPr>
            <a:r>
              <a:rPr lang="en-US" sz="1000" b="1" kern="0" spc="150" dirty="0">
                <a:solidFill>
                  <a:srgbClr val="55657A"/>
                </a:solidFill>
              </a:rPr>
              <a:t>READS DATA OUT OF BIGQUERY</a:t>
            </a:r>
            <a:endParaRPr lang="en-US" sz="1000" dirty="0"/>
          </a:p>
        </p:txBody>
      </p:sp>
      <p:sp>
        <p:nvSpPr>
          <p:cNvPr id="13" name="Shape 10"/>
          <p:cNvSpPr/>
          <p:nvPr/>
        </p:nvSpPr>
        <p:spPr>
          <a:xfrm>
            <a:off x="777240" y="1965960"/>
            <a:ext cx="1874520" cy="1463040"/>
          </a:xfrm>
          <a:prstGeom prst="roundRect">
            <a:avLst>
              <a:gd name="adj" fmla="val 4375"/>
            </a:avLst>
          </a:prstGeom>
          <a:solidFill>
            <a:srgbClr val="FFFFFF"/>
          </a:solidFill>
          <a:ln w="9525">
            <a:solidFill>
              <a:srgbClr val="D9E0E8"/>
            </a:solidFill>
            <a:prstDash val="solid"/>
          </a:ln>
        </p:spPr>
        <p:txBody>
          <a:bodyPr/>
          <a:lstStyle/>
          <a:p>
            <a:endParaRPr/>
          </a:p>
        </p:txBody>
      </p:sp>
      <p:pic>
        <p:nvPicPr>
          <p:cNvPr id="14" name="Image 0" descr="preencoded.png"/>
          <p:cNvPicPr>
            <a:picLocks noChangeAspect="1"/>
          </p:cNvPicPr>
          <p:nvPr/>
        </p:nvPicPr>
        <p:blipFill>
          <a:blip r:embed="rId3"/>
          <a:stretch>
            <a:fillRect/>
          </a:stretch>
        </p:blipFill>
        <p:spPr>
          <a:xfrm>
            <a:off x="1485900" y="2121408"/>
            <a:ext cx="457200" cy="457200"/>
          </a:xfrm>
          <a:prstGeom prst="rect">
            <a:avLst/>
          </a:prstGeom>
        </p:spPr>
      </p:pic>
      <p:sp>
        <p:nvSpPr>
          <p:cNvPr id="15" name="Text 11"/>
          <p:cNvSpPr txBox="1"/>
          <p:nvPr/>
        </p:nvSpPr>
        <p:spPr>
          <a:xfrm>
            <a:off x="868680" y="2651760"/>
            <a:ext cx="1691640" cy="274320"/>
          </a:xfrm>
          <a:prstGeom prst="rect">
            <a:avLst/>
          </a:prstGeom>
          <a:noFill/>
          <a:ln/>
        </p:spPr>
        <p:txBody>
          <a:bodyPr wrap="square" lIns="0" tIns="0" rIns="0" bIns="0" rtlCol="0" anchor="ctr"/>
          <a:lstStyle/>
          <a:p>
            <a:pPr marL="0" indent="0" algn="ctr">
              <a:buNone/>
            </a:pPr>
            <a:r>
              <a:rPr lang="en-US" sz="1400" b="1" dirty="0">
                <a:solidFill>
                  <a:srgbClr val="142B4A"/>
                </a:solidFill>
              </a:rPr>
              <a:t>19 URA CSVs</a:t>
            </a:r>
            <a:endParaRPr lang="en-US" sz="1400" dirty="0"/>
          </a:p>
        </p:txBody>
      </p:sp>
      <p:sp>
        <p:nvSpPr>
          <p:cNvPr id="16" name="Text 12"/>
          <p:cNvSpPr txBox="1"/>
          <p:nvPr/>
        </p:nvSpPr>
        <p:spPr>
          <a:xfrm>
            <a:off x="868680" y="2944368"/>
            <a:ext cx="1691640" cy="237744"/>
          </a:xfrm>
          <a:prstGeom prst="rect">
            <a:avLst/>
          </a:prstGeom>
          <a:noFill/>
          <a:ln/>
        </p:spPr>
        <p:txBody>
          <a:bodyPr wrap="square" lIns="0" tIns="0" rIns="0" bIns="0" rtlCol="0" anchor="ctr"/>
          <a:lstStyle/>
          <a:p>
            <a:pPr marL="0" indent="0" algn="ctr">
              <a:buNone/>
            </a:pPr>
            <a:r>
              <a:rPr lang="en-US" sz="1100" dirty="0">
                <a:solidFill>
                  <a:srgbClr val="55657A"/>
                </a:solidFill>
              </a:rPr>
              <a:t>Source files</a:t>
            </a:r>
            <a:endParaRPr lang="en-US" sz="1100" dirty="0"/>
          </a:p>
        </p:txBody>
      </p:sp>
      <p:sp>
        <p:nvSpPr>
          <p:cNvPr id="17" name="Shape 13"/>
          <p:cNvSpPr/>
          <p:nvPr/>
        </p:nvSpPr>
        <p:spPr>
          <a:xfrm>
            <a:off x="3291840" y="1965960"/>
            <a:ext cx="1874520" cy="1463040"/>
          </a:xfrm>
          <a:prstGeom prst="roundRect">
            <a:avLst>
              <a:gd name="adj" fmla="val 4375"/>
            </a:avLst>
          </a:prstGeom>
          <a:solidFill>
            <a:srgbClr val="FFFFFF"/>
          </a:solidFill>
          <a:ln w="9525">
            <a:solidFill>
              <a:srgbClr val="D9E0E8"/>
            </a:solidFill>
            <a:prstDash val="solid"/>
          </a:ln>
        </p:spPr>
        <p:txBody>
          <a:bodyPr/>
          <a:lstStyle/>
          <a:p>
            <a:endParaRPr/>
          </a:p>
        </p:txBody>
      </p:sp>
      <p:pic>
        <p:nvPicPr>
          <p:cNvPr id="18" name="Image 1" descr="preencoded.png"/>
          <p:cNvPicPr>
            <a:picLocks noChangeAspect="1"/>
          </p:cNvPicPr>
          <p:nvPr/>
        </p:nvPicPr>
        <p:blipFill>
          <a:blip r:embed="rId4"/>
          <a:stretch>
            <a:fillRect/>
          </a:stretch>
        </p:blipFill>
        <p:spPr>
          <a:xfrm>
            <a:off x="4000500" y="2121408"/>
            <a:ext cx="457200" cy="457200"/>
          </a:xfrm>
          <a:prstGeom prst="rect">
            <a:avLst/>
          </a:prstGeom>
        </p:spPr>
      </p:pic>
      <p:sp>
        <p:nvSpPr>
          <p:cNvPr id="19" name="Text 14"/>
          <p:cNvSpPr txBox="1"/>
          <p:nvPr/>
        </p:nvSpPr>
        <p:spPr>
          <a:xfrm>
            <a:off x="3383280" y="2651760"/>
            <a:ext cx="1691640" cy="274320"/>
          </a:xfrm>
          <a:prstGeom prst="rect">
            <a:avLst/>
          </a:prstGeom>
          <a:noFill/>
          <a:ln/>
        </p:spPr>
        <p:txBody>
          <a:bodyPr wrap="square" lIns="0" tIns="0" rIns="0" bIns="0" rtlCol="0" anchor="ctr"/>
          <a:lstStyle/>
          <a:p>
            <a:pPr marL="0" indent="0" algn="ctr">
              <a:buNone/>
            </a:pPr>
            <a:r>
              <a:rPr lang="en-US" sz="1400" b="1" dirty="0">
                <a:solidFill>
                  <a:srgbClr val="142B4A"/>
                </a:solidFill>
              </a:rPr>
              <a:t>Jupyter + DuckDB</a:t>
            </a:r>
            <a:endParaRPr lang="en-US" sz="1400" dirty="0"/>
          </a:p>
        </p:txBody>
      </p:sp>
      <p:sp>
        <p:nvSpPr>
          <p:cNvPr id="20" name="Text 15"/>
          <p:cNvSpPr txBox="1"/>
          <p:nvPr/>
        </p:nvSpPr>
        <p:spPr>
          <a:xfrm>
            <a:off x="3383280" y="2944368"/>
            <a:ext cx="1691640" cy="237744"/>
          </a:xfrm>
          <a:prstGeom prst="rect">
            <a:avLst/>
          </a:prstGeom>
          <a:noFill/>
          <a:ln/>
        </p:spPr>
        <p:txBody>
          <a:bodyPr wrap="square" lIns="0" tIns="0" rIns="0" bIns="0" rtlCol="0" anchor="ctr"/>
          <a:lstStyle/>
          <a:p>
            <a:pPr marL="0" indent="0" algn="ctr">
              <a:buNone/>
            </a:pPr>
            <a:r>
              <a:rPr lang="en-US" sz="1100" dirty="0">
                <a:solidFill>
                  <a:srgbClr val="55657A"/>
                </a:solidFill>
              </a:rPr>
              <a:t>One combined table</a:t>
            </a:r>
            <a:endParaRPr lang="en-US" sz="1100" dirty="0"/>
          </a:p>
        </p:txBody>
      </p:sp>
      <p:sp>
        <p:nvSpPr>
          <p:cNvPr id="21" name="Shape 16"/>
          <p:cNvSpPr/>
          <p:nvPr/>
        </p:nvSpPr>
        <p:spPr>
          <a:xfrm>
            <a:off x="5852160" y="1965960"/>
            <a:ext cx="2194560" cy="1463040"/>
          </a:xfrm>
          <a:prstGeom prst="roundRect">
            <a:avLst>
              <a:gd name="adj" fmla="val 4375"/>
            </a:avLst>
          </a:prstGeom>
          <a:solidFill>
            <a:srgbClr val="FFFFFF"/>
          </a:solidFill>
          <a:ln w="9525">
            <a:solidFill>
              <a:srgbClr val="D9E0E8"/>
            </a:solidFill>
            <a:prstDash val="solid"/>
          </a:ln>
        </p:spPr>
        <p:txBody>
          <a:bodyPr/>
          <a:lstStyle/>
          <a:p>
            <a:endParaRPr/>
          </a:p>
        </p:txBody>
      </p:sp>
      <p:pic>
        <p:nvPicPr>
          <p:cNvPr id="22" name="Image 2" descr="preencoded.png"/>
          <p:cNvPicPr>
            <a:picLocks noChangeAspect="1"/>
          </p:cNvPicPr>
          <p:nvPr/>
        </p:nvPicPr>
        <p:blipFill>
          <a:blip r:embed="rId5"/>
          <a:stretch>
            <a:fillRect/>
          </a:stretch>
        </p:blipFill>
        <p:spPr>
          <a:xfrm>
            <a:off x="6720840" y="2121408"/>
            <a:ext cx="457200" cy="457200"/>
          </a:xfrm>
          <a:prstGeom prst="rect">
            <a:avLst/>
          </a:prstGeom>
        </p:spPr>
      </p:pic>
      <p:sp>
        <p:nvSpPr>
          <p:cNvPr id="23" name="Text 17"/>
          <p:cNvSpPr txBox="1"/>
          <p:nvPr/>
        </p:nvSpPr>
        <p:spPr>
          <a:xfrm>
            <a:off x="5943600" y="2651760"/>
            <a:ext cx="2011680" cy="274320"/>
          </a:xfrm>
          <a:prstGeom prst="rect">
            <a:avLst/>
          </a:prstGeom>
          <a:noFill/>
          <a:ln/>
        </p:spPr>
        <p:txBody>
          <a:bodyPr wrap="square" lIns="0" tIns="0" rIns="0" bIns="0" rtlCol="0" anchor="ctr"/>
          <a:lstStyle/>
          <a:p>
            <a:pPr marL="0" indent="0" algn="ctr">
              <a:buNone/>
            </a:pPr>
            <a:r>
              <a:rPr lang="en-US" sz="1400" b="1" dirty="0">
                <a:solidFill>
                  <a:srgbClr val="142B4A"/>
                </a:solidFill>
              </a:rPr>
              <a:t>Meltano</a:t>
            </a:r>
            <a:endParaRPr lang="en-US" sz="1400" dirty="0"/>
          </a:p>
        </p:txBody>
      </p:sp>
      <p:sp>
        <p:nvSpPr>
          <p:cNvPr id="24" name="Text 18"/>
          <p:cNvSpPr txBox="1"/>
          <p:nvPr/>
        </p:nvSpPr>
        <p:spPr>
          <a:xfrm>
            <a:off x="5943600" y="2944368"/>
            <a:ext cx="2011680" cy="237744"/>
          </a:xfrm>
          <a:prstGeom prst="rect">
            <a:avLst/>
          </a:prstGeom>
          <a:noFill/>
          <a:ln/>
        </p:spPr>
        <p:txBody>
          <a:bodyPr wrap="square" lIns="0" tIns="0" rIns="0" bIns="0" rtlCol="0" anchor="ctr"/>
          <a:lstStyle/>
          <a:p>
            <a:pPr marL="0" indent="0" algn="ctr">
              <a:buNone/>
            </a:pPr>
            <a:r>
              <a:rPr lang="en-US" sz="1100" dirty="0">
                <a:solidFill>
                  <a:srgbClr val="55657A"/>
                </a:solidFill>
              </a:rPr>
              <a:t>tap to target</a:t>
            </a:r>
            <a:endParaRPr lang="en-US" sz="1100" dirty="0"/>
          </a:p>
        </p:txBody>
      </p:sp>
      <p:sp>
        <p:nvSpPr>
          <p:cNvPr id="25" name="Shape 19"/>
          <p:cNvSpPr/>
          <p:nvPr/>
        </p:nvSpPr>
        <p:spPr>
          <a:xfrm>
            <a:off x="8851392" y="1965960"/>
            <a:ext cx="2560320" cy="1463040"/>
          </a:xfrm>
          <a:prstGeom prst="roundRect">
            <a:avLst>
              <a:gd name="adj" fmla="val 4375"/>
            </a:avLst>
          </a:prstGeom>
          <a:solidFill>
            <a:srgbClr val="FFFFFF"/>
          </a:solidFill>
          <a:ln w="25400">
            <a:solidFill>
              <a:srgbClr val="167D8D"/>
            </a:solidFill>
            <a:prstDash val="solid"/>
          </a:ln>
        </p:spPr>
        <p:txBody>
          <a:bodyPr/>
          <a:lstStyle/>
          <a:p>
            <a:endParaRPr/>
          </a:p>
        </p:txBody>
      </p:sp>
      <p:pic>
        <p:nvPicPr>
          <p:cNvPr id="26" name="Image 3" descr="preencoded.png"/>
          <p:cNvPicPr>
            <a:picLocks noChangeAspect="1"/>
          </p:cNvPicPr>
          <p:nvPr/>
        </p:nvPicPr>
        <p:blipFill>
          <a:blip r:embed="rId6"/>
          <a:stretch>
            <a:fillRect/>
          </a:stretch>
        </p:blipFill>
        <p:spPr>
          <a:xfrm>
            <a:off x="9902952" y="2121408"/>
            <a:ext cx="457200" cy="457200"/>
          </a:xfrm>
          <a:prstGeom prst="rect">
            <a:avLst/>
          </a:prstGeom>
        </p:spPr>
      </p:pic>
      <p:sp>
        <p:nvSpPr>
          <p:cNvPr id="27" name="Text 20"/>
          <p:cNvSpPr txBox="1"/>
          <p:nvPr/>
        </p:nvSpPr>
        <p:spPr>
          <a:xfrm>
            <a:off x="8942832" y="2651760"/>
            <a:ext cx="2377440" cy="274320"/>
          </a:xfrm>
          <a:prstGeom prst="rect">
            <a:avLst/>
          </a:prstGeom>
          <a:noFill/>
          <a:ln/>
        </p:spPr>
        <p:txBody>
          <a:bodyPr wrap="square" lIns="0" tIns="0" rIns="0" bIns="0" rtlCol="0" anchor="ctr"/>
          <a:lstStyle/>
          <a:p>
            <a:pPr marL="0" indent="0" algn="ctr">
              <a:buNone/>
            </a:pPr>
            <a:r>
              <a:rPr lang="en-US" sz="1400" b="1" dirty="0">
                <a:solidFill>
                  <a:srgbClr val="142B4A"/>
                </a:solidFill>
              </a:rPr>
              <a:t>Google BigQuery</a:t>
            </a:r>
            <a:endParaRPr lang="en-US" sz="1400" dirty="0"/>
          </a:p>
        </p:txBody>
      </p:sp>
      <p:sp>
        <p:nvSpPr>
          <p:cNvPr id="28" name="Text 21"/>
          <p:cNvSpPr txBox="1"/>
          <p:nvPr/>
        </p:nvSpPr>
        <p:spPr>
          <a:xfrm>
            <a:off x="8942832" y="2944368"/>
            <a:ext cx="2377440" cy="237744"/>
          </a:xfrm>
          <a:prstGeom prst="rect">
            <a:avLst/>
          </a:prstGeom>
          <a:noFill/>
          <a:ln/>
        </p:spPr>
        <p:txBody>
          <a:bodyPr wrap="square" lIns="0" tIns="0" rIns="0" bIns="0" rtlCol="0" anchor="ctr"/>
          <a:lstStyle/>
          <a:p>
            <a:pPr marL="0" indent="0" algn="ctr">
              <a:buNone/>
            </a:pPr>
            <a:r>
              <a:rPr lang="en-US" sz="1100" dirty="0">
                <a:solidFill>
                  <a:srgbClr val="55657A"/>
                </a:solidFill>
              </a:rPr>
              <a:t>170,224 rows</a:t>
            </a:r>
            <a:endParaRPr lang="en-US" sz="1100" dirty="0"/>
          </a:p>
        </p:txBody>
      </p:sp>
      <p:sp>
        <p:nvSpPr>
          <p:cNvPr id="29" name="Shape 22"/>
          <p:cNvSpPr/>
          <p:nvPr/>
        </p:nvSpPr>
        <p:spPr>
          <a:xfrm>
            <a:off x="8851392" y="4023360"/>
            <a:ext cx="2560320" cy="1463040"/>
          </a:xfrm>
          <a:prstGeom prst="roundRect">
            <a:avLst>
              <a:gd name="adj" fmla="val 4375"/>
            </a:avLst>
          </a:prstGeom>
          <a:solidFill>
            <a:srgbClr val="FFFFFF"/>
          </a:solidFill>
          <a:ln w="9525">
            <a:solidFill>
              <a:srgbClr val="D9E0E8"/>
            </a:solidFill>
            <a:prstDash val="solid"/>
          </a:ln>
        </p:spPr>
        <p:txBody>
          <a:bodyPr/>
          <a:lstStyle/>
          <a:p>
            <a:endParaRPr/>
          </a:p>
        </p:txBody>
      </p:sp>
      <p:pic>
        <p:nvPicPr>
          <p:cNvPr id="30" name="Image 4" descr="preencoded.png"/>
          <p:cNvPicPr>
            <a:picLocks noChangeAspect="1"/>
          </p:cNvPicPr>
          <p:nvPr/>
        </p:nvPicPr>
        <p:blipFill>
          <a:blip r:embed="rId7"/>
          <a:stretch>
            <a:fillRect/>
          </a:stretch>
        </p:blipFill>
        <p:spPr>
          <a:xfrm>
            <a:off x="9902952" y="4178808"/>
            <a:ext cx="457200" cy="457200"/>
          </a:xfrm>
          <a:prstGeom prst="rect">
            <a:avLst/>
          </a:prstGeom>
        </p:spPr>
      </p:pic>
      <p:sp>
        <p:nvSpPr>
          <p:cNvPr id="31" name="Text 23"/>
          <p:cNvSpPr txBox="1"/>
          <p:nvPr/>
        </p:nvSpPr>
        <p:spPr>
          <a:xfrm>
            <a:off x="8942832" y="4709160"/>
            <a:ext cx="2377440" cy="274320"/>
          </a:xfrm>
          <a:prstGeom prst="rect">
            <a:avLst/>
          </a:prstGeom>
          <a:noFill/>
          <a:ln/>
        </p:spPr>
        <p:txBody>
          <a:bodyPr wrap="square" lIns="0" tIns="0" rIns="0" bIns="0" rtlCol="0" anchor="ctr"/>
          <a:lstStyle/>
          <a:p>
            <a:pPr marL="0" indent="0" algn="ctr">
              <a:buNone/>
            </a:pPr>
            <a:r>
              <a:rPr lang="en-US" sz="1400" b="1" dirty="0">
                <a:solidFill>
                  <a:srgbClr val="142B4A"/>
                </a:solidFill>
              </a:rPr>
              <a:t>dbt</a:t>
            </a:r>
            <a:endParaRPr lang="en-US" sz="1400" dirty="0"/>
          </a:p>
        </p:txBody>
      </p:sp>
      <p:sp>
        <p:nvSpPr>
          <p:cNvPr id="32" name="Text 24"/>
          <p:cNvSpPr txBox="1"/>
          <p:nvPr/>
        </p:nvSpPr>
        <p:spPr>
          <a:xfrm>
            <a:off x="8942832" y="5001768"/>
            <a:ext cx="2377440" cy="466344"/>
          </a:xfrm>
          <a:prstGeom prst="rect">
            <a:avLst/>
          </a:prstGeom>
          <a:noFill/>
          <a:ln/>
        </p:spPr>
        <p:txBody>
          <a:bodyPr wrap="square" lIns="0" tIns="0" rIns="0" bIns="0" rtlCol="0" anchor="ctr"/>
          <a:lstStyle/>
          <a:p>
            <a:pPr marL="0" indent="0" algn="ctr">
              <a:buNone/>
            </a:pPr>
            <a:r>
              <a:rPr lang="en-US" sz="1100" dirty="0">
                <a:solidFill>
                  <a:srgbClr val="55657A"/>
                </a:solidFill>
              </a:rPr>
              <a:t>Staging  11 tests</a:t>
            </a:r>
          </a:p>
          <a:p>
            <a:pPr marL="0" indent="0" algn="ctr">
              <a:buNone/>
            </a:pPr>
            <a:r>
              <a:rPr lang="en-US" sz="1100" dirty="0">
                <a:solidFill>
                  <a:srgbClr val="55657A"/>
                </a:solidFill>
              </a:rPr>
              <a:t> Star schema 9 tests</a:t>
            </a:r>
            <a:endParaRPr lang="en-US" sz="1100" dirty="0"/>
          </a:p>
        </p:txBody>
      </p:sp>
      <p:sp>
        <p:nvSpPr>
          <p:cNvPr id="33" name="Shape 25"/>
          <p:cNvSpPr/>
          <p:nvPr/>
        </p:nvSpPr>
        <p:spPr>
          <a:xfrm>
            <a:off x="777240" y="4389120"/>
            <a:ext cx="3474720" cy="1188720"/>
          </a:xfrm>
          <a:prstGeom prst="roundRect">
            <a:avLst>
              <a:gd name="adj" fmla="val 5385"/>
            </a:avLst>
          </a:prstGeom>
          <a:solidFill>
            <a:srgbClr val="FFFFFF"/>
          </a:solidFill>
          <a:ln w="9525">
            <a:solidFill>
              <a:srgbClr val="D9E0E8"/>
            </a:solidFill>
            <a:prstDash val="solid"/>
          </a:ln>
        </p:spPr>
        <p:txBody>
          <a:bodyPr/>
          <a:lstStyle/>
          <a:p>
            <a:endParaRPr/>
          </a:p>
        </p:txBody>
      </p:sp>
      <p:pic>
        <p:nvPicPr>
          <p:cNvPr id="34" name="Image 5" descr="preencoded.png"/>
          <p:cNvPicPr>
            <a:picLocks noChangeAspect="1"/>
          </p:cNvPicPr>
          <p:nvPr/>
        </p:nvPicPr>
        <p:blipFill>
          <a:blip r:embed="rId8"/>
          <a:stretch>
            <a:fillRect/>
          </a:stretch>
        </p:blipFill>
        <p:spPr>
          <a:xfrm>
            <a:off x="2331720" y="4498848"/>
            <a:ext cx="365760" cy="365760"/>
          </a:xfrm>
          <a:prstGeom prst="rect">
            <a:avLst/>
          </a:prstGeom>
        </p:spPr>
      </p:pic>
      <p:sp>
        <p:nvSpPr>
          <p:cNvPr id="35" name="Text 26"/>
          <p:cNvSpPr txBox="1"/>
          <p:nvPr/>
        </p:nvSpPr>
        <p:spPr>
          <a:xfrm>
            <a:off x="868680" y="4937760"/>
            <a:ext cx="3291840" cy="274320"/>
          </a:xfrm>
          <a:prstGeom prst="rect">
            <a:avLst/>
          </a:prstGeom>
          <a:noFill/>
          <a:ln/>
        </p:spPr>
        <p:txBody>
          <a:bodyPr wrap="square" lIns="0" tIns="0" rIns="0" bIns="0" rtlCol="0" anchor="ctr"/>
          <a:lstStyle/>
          <a:p>
            <a:pPr marL="0" indent="0" algn="ctr">
              <a:buNone/>
            </a:pPr>
            <a:r>
              <a:rPr lang="en-US" sz="1400" b="1" dirty="0">
                <a:solidFill>
                  <a:srgbClr val="142B4A"/>
                </a:solidFill>
              </a:rPr>
              <a:t>Jupyter + GX</a:t>
            </a:r>
            <a:endParaRPr lang="en-US" sz="1400" dirty="0"/>
          </a:p>
        </p:txBody>
      </p:sp>
      <p:sp>
        <p:nvSpPr>
          <p:cNvPr id="36" name="Text 27"/>
          <p:cNvSpPr txBox="1"/>
          <p:nvPr/>
        </p:nvSpPr>
        <p:spPr>
          <a:xfrm>
            <a:off x="868680" y="5230368"/>
            <a:ext cx="3291840" cy="237744"/>
          </a:xfrm>
          <a:prstGeom prst="rect">
            <a:avLst/>
          </a:prstGeom>
          <a:noFill/>
          <a:ln/>
        </p:spPr>
        <p:txBody>
          <a:bodyPr wrap="square" lIns="0" tIns="0" rIns="0" bIns="0" rtlCol="0" anchor="ctr"/>
          <a:lstStyle/>
          <a:p>
            <a:pPr marL="0" indent="0" algn="ctr">
              <a:buNone/>
            </a:pPr>
            <a:r>
              <a:rPr lang="en-US" sz="1100" dirty="0">
                <a:solidFill>
                  <a:srgbClr val="55657A"/>
                </a:solidFill>
              </a:rPr>
              <a:t>Validates fact table</a:t>
            </a:r>
            <a:endParaRPr lang="en-US" sz="1100" dirty="0"/>
          </a:p>
        </p:txBody>
      </p:sp>
      <p:sp>
        <p:nvSpPr>
          <p:cNvPr id="37" name="Shape 28"/>
          <p:cNvSpPr/>
          <p:nvPr/>
        </p:nvSpPr>
        <p:spPr>
          <a:xfrm>
            <a:off x="4572000" y="4389120"/>
            <a:ext cx="3474720" cy="1188720"/>
          </a:xfrm>
          <a:prstGeom prst="roundRect">
            <a:avLst>
              <a:gd name="adj" fmla="val 5385"/>
            </a:avLst>
          </a:prstGeom>
          <a:solidFill>
            <a:srgbClr val="FFFFFF"/>
          </a:solidFill>
          <a:ln w="9525">
            <a:solidFill>
              <a:srgbClr val="D9E0E8"/>
            </a:solidFill>
            <a:prstDash val="solid"/>
          </a:ln>
        </p:spPr>
        <p:txBody>
          <a:bodyPr/>
          <a:lstStyle/>
          <a:p>
            <a:endParaRPr/>
          </a:p>
        </p:txBody>
      </p:sp>
      <p:pic>
        <p:nvPicPr>
          <p:cNvPr id="38" name="Image 6" descr="preencoded.png"/>
          <p:cNvPicPr>
            <a:picLocks noChangeAspect="1"/>
          </p:cNvPicPr>
          <p:nvPr/>
        </p:nvPicPr>
        <p:blipFill>
          <a:blip r:embed="rId9"/>
          <a:stretch>
            <a:fillRect/>
          </a:stretch>
        </p:blipFill>
        <p:spPr>
          <a:xfrm>
            <a:off x="6126480" y="4498848"/>
            <a:ext cx="365760" cy="365760"/>
          </a:xfrm>
          <a:prstGeom prst="rect">
            <a:avLst/>
          </a:prstGeom>
        </p:spPr>
      </p:pic>
      <p:sp>
        <p:nvSpPr>
          <p:cNvPr id="39" name="Text 29"/>
          <p:cNvSpPr txBox="1"/>
          <p:nvPr/>
        </p:nvSpPr>
        <p:spPr>
          <a:xfrm>
            <a:off x="4663440" y="4937760"/>
            <a:ext cx="3291840" cy="274320"/>
          </a:xfrm>
          <a:prstGeom prst="rect">
            <a:avLst/>
          </a:prstGeom>
          <a:noFill/>
          <a:ln/>
        </p:spPr>
        <p:txBody>
          <a:bodyPr wrap="square" lIns="0" tIns="0" rIns="0" bIns="0" rtlCol="0" anchor="ctr"/>
          <a:lstStyle/>
          <a:p>
            <a:pPr marL="0" indent="0" algn="ctr">
              <a:buNone/>
            </a:pPr>
            <a:r>
              <a:rPr lang="en-US" sz="1400" b="1" dirty="0">
                <a:solidFill>
                  <a:srgbClr val="142B4A"/>
                </a:solidFill>
              </a:rPr>
              <a:t>Jupyter + pandas</a:t>
            </a:r>
          </a:p>
          <a:p>
            <a:pPr marL="0" indent="0" algn="ctr">
              <a:buNone/>
            </a:pPr>
            <a:r>
              <a:rPr lang="en-US" sz="1400" b="1" dirty="0">
                <a:solidFill>
                  <a:srgbClr val="142B4A"/>
                </a:solidFill>
              </a:rPr>
              <a:t>BI</a:t>
            </a:r>
            <a:endParaRPr lang="en-US" sz="1400" dirty="0"/>
          </a:p>
        </p:txBody>
      </p:sp>
      <p:sp>
        <p:nvSpPr>
          <p:cNvPr id="40" name="Text 30"/>
          <p:cNvSpPr txBox="1"/>
          <p:nvPr/>
        </p:nvSpPr>
        <p:spPr>
          <a:xfrm>
            <a:off x="4663440" y="5230368"/>
            <a:ext cx="3291840" cy="237744"/>
          </a:xfrm>
          <a:prstGeom prst="rect">
            <a:avLst/>
          </a:prstGeom>
          <a:noFill/>
          <a:ln/>
        </p:spPr>
        <p:txBody>
          <a:bodyPr wrap="square" lIns="0" tIns="0" rIns="0" bIns="0" rtlCol="0" anchor="ctr"/>
          <a:lstStyle/>
          <a:p>
            <a:pPr marL="0" indent="0" algn="ctr">
              <a:buNone/>
            </a:pPr>
            <a:r>
              <a:rPr lang="en-US" sz="1100" dirty="0">
                <a:solidFill>
                  <a:srgbClr val="55657A"/>
                </a:solidFill>
              </a:rPr>
              <a:t>Analysis</a:t>
            </a:r>
            <a:endParaRPr lang="en-US" sz="1100" dirty="0"/>
          </a:p>
        </p:txBody>
      </p:sp>
      <p:sp>
        <p:nvSpPr>
          <p:cNvPr id="41" name="Shape 31"/>
          <p:cNvSpPr/>
          <p:nvPr/>
        </p:nvSpPr>
        <p:spPr>
          <a:xfrm>
            <a:off x="2651760" y="2697480"/>
            <a:ext cx="640080" cy="0"/>
          </a:xfrm>
          <a:prstGeom prst="line">
            <a:avLst/>
          </a:prstGeom>
          <a:noFill/>
          <a:ln w="22225">
            <a:solidFill>
              <a:srgbClr val="167D8D"/>
            </a:solidFill>
            <a:prstDash val="solid"/>
            <a:tailEnd type="triangle"/>
          </a:ln>
        </p:spPr>
        <p:txBody>
          <a:bodyPr/>
          <a:lstStyle/>
          <a:p>
            <a:endParaRPr/>
          </a:p>
        </p:txBody>
      </p:sp>
      <p:sp>
        <p:nvSpPr>
          <p:cNvPr id="42" name="Text 32"/>
          <p:cNvSpPr txBox="1"/>
          <p:nvPr/>
        </p:nvSpPr>
        <p:spPr>
          <a:xfrm>
            <a:off x="2651760" y="2423160"/>
            <a:ext cx="640080" cy="201168"/>
          </a:xfrm>
          <a:prstGeom prst="rect">
            <a:avLst/>
          </a:prstGeom>
          <a:noFill/>
          <a:ln/>
        </p:spPr>
        <p:txBody>
          <a:bodyPr wrap="square" lIns="0" tIns="0" rIns="0" bIns="0" rtlCol="0" anchor="ctr"/>
          <a:lstStyle/>
          <a:p>
            <a:pPr marL="0" indent="0" algn="ctr">
              <a:buNone/>
            </a:pPr>
            <a:r>
              <a:rPr lang="en-US" sz="1050" i="1" dirty="0">
                <a:solidFill>
                  <a:srgbClr val="167D8D"/>
                </a:solidFill>
              </a:rPr>
              <a:t>Ingest</a:t>
            </a:r>
            <a:endParaRPr lang="en-US" sz="1050" dirty="0"/>
          </a:p>
        </p:txBody>
      </p:sp>
      <p:sp>
        <p:nvSpPr>
          <p:cNvPr id="43" name="Shape 33"/>
          <p:cNvSpPr/>
          <p:nvPr/>
        </p:nvSpPr>
        <p:spPr>
          <a:xfrm>
            <a:off x="5166360" y="2697480"/>
            <a:ext cx="685800" cy="0"/>
          </a:xfrm>
          <a:prstGeom prst="line">
            <a:avLst/>
          </a:prstGeom>
          <a:noFill/>
          <a:ln w="22225">
            <a:solidFill>
              <a:srgbClr val="167D8D"/>
            </a:solidFill>
            <a:prstDash val="solid"/>
            <a:tailEnd type="triangle"/>
          </a:ln>
        </p:spPr>
        <p:txBody>
          <a:bodyPr/>
          <a:lstStyle/>
          <a:p>
            <a:endParaRPr/>
          </a:p>
        </p:txBody>
      </p:sp>
      <p:sp>
        <p:nvSpPr>
          <p:cNvPr id="44" name="Text 34"/>
          <p:cNvSpPr txBox="1"/>
          <p:nvPr/>
        </p:nvSpPr>
        <p:spPr>
          <a:xfrm>
            <a:off x="5166360" y="2423160"/>
            <a:ext cx="685800" cy="201168"/>
          </a:xfrm>
          <a:prstGeom prst="rect">
            <a:avLst/>
          </a:prstGeom>
          <a:noFill/>
          <a:ln/>
        </p:spPr>
        <p:txBody>
          <a:bodyPr wrap="square" lIns="0" tIns="0" rIns="0" bIns="0" rtlCol="0" anchor="ctr"/>
          <a:lstStyle/>
          <a:p>
            <a:pPr marL="0" indent="0" algn="ctr">
              <a:buNone/>
            </a:pPr>
            <a:r>
              <a:rPr lang="en-US" sz="1050" i="1" dirty="0">
                <a:solidFill>
                  <a:srgbClr val="167D8D"/>
                </a:solidFill>
              </a:rPr>
              <a:t>Extract</a:t>
            </a:r>
            <a:endParaRPr lang="en-US" sz="1050" dirty="0"/>
          </a:p>
        </p:txBody>
      </p:sp>
      <p:sp>
        <p:nvSpPr>
          <p:cNvPr id="45" name="Shape 35"/>
          <p:cNvSpPr/>
          <p:nvPr/>
        </p:nvSpPr>
        <p:spPr>
          <a:xfrm>
            <a:off x="8046720" y="2697480"/>
            <a:ext cx="804672" cy="0"/>
          </a:xfrm>
          <a:prstGeom prst="line">
            <a:avLst/>
          </a:prstGeom>
          <a:noFill/>
          <a:ln w="22225">
            <a:solidFill>
              <a:srgbClr val="167D8D"/>
            </a:solidFill>
            <a:prstDash val="solid"/>
            <a:tailEnd type="triangle"/>
          </a:ln>
        </p:spPr>
        <p:txBody>
          <a:bodyPr/>
          <a:lstStyle/>
          <a:p>
            <a:endParaRPr/>
          </a:p>
        </p:txBody>
      </p:sp>
      <p:sp>
        <p:nvSpPr>
          <p:cNvPr id="46" name="Text 36"/>
          <p:cNvSpPr txBox="1"/>
          <p:nvPr/>
        </p:nvSpPr>
        <p:spPr>
          <a:xfrm>
            <a:off x="8046720" y="2423160"/>
            <a:ext cx="804672" cy="201168"/>
          </a:xfrm>
          <a:prstGeom prst="rect">
            <a:avLst/>
          </a:prstGeom>
          <a:noFill/>
          <a:ln/>
        </p:spPr>
        <p:txBody>
          <a:bodyPr wrap="square" lIns="0" tIns="0" rIns="0" bIns="0" rtlCol="0" anchor="ctr"/>
          <a:lstStyle/>
          <a:p>
            <a:pPr marL="0" indent="0" algn="ctr">
              <a:buNone/>
            </a:pPr>
            <a:r>
              <a:rPr lang="en-US" sz="1050" i="1" dirty="0">
                <a:solidFill>
                  <a:srgbClr val="167D8D"/>
                </a:solidFill>
              </a:rPr>
              <a:t>Load</a:t>
            </a:r>
            <a:endParaRPr lang="en-US" sz="1050" dirty="0"/>
          </a:p>
        </p:txBody>
      </p:sp>
      <p:sp>
        <p:nvSpPr>
          <p:cNvPr id="47" name="Shape 37"/>
          <p:cNvSpPr/>
          <p:nvPr/>
        </p:nvSpPr>
        <p:spPr>
          <a:xfrm>
            <a:off x="10131552" y="3429000"/>
            <a:ext cx="0" cy="594360"/>
          </a:xfrm>
          <a:prstGeom prst="line">
            <a:avLst/>
          </a:prstGeom>
          <a:noFill/>
          <a:ln w="22225">
            <a:solidFill>
              <a:srgbClr val="167D8D"/>
            </a:solidFill>
            <a:prstDash val="solid"/>
            <a:headEnd type="triangle"/>
            <a:tailEnd type="triangle"/>
          </a:ln>
        </p:spPr>
        <p:txBody>
          <a:bodyPr/>
          <a:lstStyle/>
          <a:p>
            <a:endParaRPr/>
          </a:p>
        </p:txBody>
      </p:sp>
      <p:sp>
        <p:nvSpPr>
          <p:cNvPr id="48" name="Text 38"/>
          <p:cNvSpPr txBox="1"/>
          <p:nvPr/>
        </p:nvSpPr>
        <p:spPr>
          <a:xfrm>
            <a:off x="10241280" y="3630168"/>
            <a:ext cx="1097280" cy="201168"/>
          </a:xfrm>
          <a:prstGeom prst="rect">
            <a:avLst/>
          </a:prstGeom>
          <a:noFill/>
          <a:ln/>
        </p:spPr>
        <p:txBody>
          <a:bodyPr wrap="square" lIns="0" tIns="0" rIns="0" bIns="0" rtlCol="0" anchor="ctr"/>
          <a:lstStyle/>
          <a:p>
            <a:pPr marL="0" indent="0">
              <a:buNone/>
            </a:pPr>
            <a:r>
              <a:rPr lang="en-US" sz="1050" i="1" dirty="0">
                <a:solidFill>
                  <a:srgbClr val="167D8D"/>
                </a:solidFill>
              </a:rPr>
              <a:t>Transform</a:t>
            </a:r>
            <a:endParaRPr lang="en-US" sz="1050" dirty="0"/>
          </a:p>
        </p:txBody>
      </p:sp>
      <p:sp>
        <p:nvSpPr>
          <p:cNvPr id="49" name="Shape 39"/>
          <p:cNvSpPr/>
          <p:nvPr/>
        </p:nvSpPr>
        <p:spPr>
          <a:xfrm>
            <a:off x="9144000" y="3429000"/>
            <a:ext cx="0" cy="365760"/>
          </a:xfrm>
          <a:prstGeom prst="line">
            <a:avLst/>
          </a:prstGeom>
          <a:noFill/>
          <a:ln w="22225">
            <a:solidFill>
              <a:srgbClr val="167D8D"/>
            </a:solidFill>
            <a:prstDash val="solid"/>
          </a:ln>
        </p:spPr>
        <p:txBody>
          <a:bodyPr/>
          <a:lstStyle/>
          <a:p>
            <a:endParaRPr/>
          </a:p>
        </p:txBody>
      </p:sp>
      <p:sp>
        <p:nvSpPr>
          <p:cNvPr id="50" name="Shape 40"/>
          <p:cNvSpPr/>
          <p:nvPr/>
        </p:nvSpPr>
        <p:spPr>
          <a:xfrm>
            <a:off x="2514600" y="3794760"/>
            <a:ext cx="6629400" cy="0"/>
          </a:xfrm>
          <a:prstGeom prst="line">
            <a:avLst/>
          </a:prstGeom>
          <a:noFill/>
          <a:ln w="22225">
            <a:solidFill>
              <a:srgbClr val="167D8D"/>
            </a:solidFill>
            <a:prstDash val="solid"/>
          </a:ln>
        </p:spPr>
        <p:txBody>
          <a:bodyPr/>
          <a:lstStyle/>
          <a:p>
            <a:endParaRPr/>
          </a:p>
        </p:txBody>
      </p:sp>
      <p:sp>
        <p:nvSpPr>
          <p:cNvPr id="51" name="Shape 41"/>
          <p:cNvSpPr/>
          <p:nvPr/>
        </p:nvSpPr>
        <p:spPr>
          <a:xfrm>
            <a:off x="2514600" y="3794760"/>
            <a:ext cx="0" cy="594360"/>
          </a:xfrm>
          <a:prstGeom prst="line">
            <a:avLst/>
          </a:prstGeom>
          <a:noFill/>
          <a:ln w="22225">
            <a:solidFill>
              <a:srgbClr val="167D8D"/>
            </a:solidFill>
            <a:prstDash val="solid"/>
            <a:tailEnd type="triangle"/>
          </a:ln>
        </p:spPr>
        <p:txBody>
          <a:bodyPr/>
          <a:lstStyle/>
          <a:p>
            <a:endParaRPr/>
          </a:p>
        </p:txBody>
      </p:sp>
      <p:sp>
        <p:nvSpPr>
          <p:cNvPr id="52" name="Shape 42"/>
          <p:cNvSpPr/>
          <p:nvPr/>
        </p:nvSpPr>
        <p:spPr>
          <a:xfrm>
            <a:off x="6309360" y="3794760"/>
            <a:ext cx="0" cy="594360"/>
          </a:xfrm>
          <a:prstGeom prst="line">
            <a:avLst/>
          </a:prstGeom>
          <a:noFill/>
          <a:ln w="22225">
            <a:solidFill>
              <a:srgbClr val="167D8D"/>
            </a:solidFill>
            <a:prstDash val="solid"/>
            <a:tailEnd type="triangle"/>
          </a:ln>
        </p:spPr>
        <p:txBody>
          <a:bodyPr/>
          <a:lstStyle/>
          <a:p>
            <a:endParaRPr/>
          </a:p>
        </p:txBody>
      </p:sp>
      <p:sp>
        <p:nvSpPr>
          <p:cNvPr id="53" name="Text 43"/>
          <p:cNvSpPr txBox="1"/>
          <p:nvPr/>
        </p:nvSpPr>
        <p:spPr>
          <a:xfrm>
            <a:off x="2633472" y="4096512"/>
            <a:ext cx="914400" cy="201168"/>
          </a:xfrm>
          <a:prstGeom prst="rect">
            <a:avLst/>
          </a:prstGeom>
          <a:noFill/>
          <a:ln/>
        </p:spPr>
        <p:txBody>
          <a:bodyPr wrap="square" lIns="0" tIns="0" rIns="0" bIns="0" rtlCol="0" anchor="ctr"/>
          <a:lstStyle/>
          <a:p>
            <a:pPr marL="0" indent="0">
              <a:buNone/>
            </a:pPr>
            <a:r>
              <a:rPr lang="en-US" sz="1050" i="1" dirty="0">
                <a:solidFill>
                  <a:srgbClr val="167D8D"/>
                </a:solidFill>
              </a:rPr>
              <a:t>Validate</a:t>
            </a:r>
            <a:endParaRPr lang="en-US" sz="1050" dirty="0"/>
          </a:p>
        </p:txBody>
      </p:sp>
      <p:sp>
        <p:nvSpPr>
          <p:cNvPr id="54" name="Text 44"/>
          <p:cNvSpPr txBox="1"/>
          <p:nvPr/>
        </p:nvSpPr>
        <p:spPr>
          <a:xfrm>
            <a:off x="6428232" y="4096512"/>
            <a:ext cx="822960" cy="201168"/>
          </a:xfrm>
          <a:prstGeom prst="rect">
            <a:avLst/>
          </a:prstGeom>
          <a:noFill/>
          <a:ln/>
        </p:spPr>
        <p:txBody>
          <a:bodyPr wrap="square" lIns="0" tIns="0" rIns="0" bIns="0" rtlCol="0" anchor="ctr"/>
          <a:lstStyle/>
          <a:p>
            <a:pPr marL="0" indent="0">
              <a:buNone/>
            </a:pPr>
            <a:r>
              <a:rPr lang="en-US" sz="1050" i="1" dirty="0">
                <a:solidFill>
                  <a:srgbClr val="167D8D"/>
                </a:solidFill>
              </a:rPr>
              <a:t>Analyse</a:t>
            </a:r>
            <a:endParaRPr lang="en-US" sz="1050" dirty="0"/>
          </a:p>
        </p:txBody>
      </p:sp>
      <p:sp>
        <p:nvSpPr>
          <p:cNvPr id="4"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4</a:t>
            </a:fld>
            <a:endParaRPr lang="en-US"/>
          </a:p>
        </p:txBody>
      </p:sp>
      <p:sp>
        <p:nvSpPr>
          <p:cNvPr id="55" name="TextBox 54"/>
          <p:cNvSpPr txBox="1"/>
          <p:nvPr/>
        </p:nvSpPr>
        <p:spPr>
          <a:xfrm>
            <a:off x="548640" y="6016752"/>
            <a:ext cx="11091672" cy="365760"/>
          </a:xfrm>
          <a:prstGeom prst="rect">
            <a:avLst/>
          </a:prstGeom>
          <a:noFill/>
        </p:spPr>
        <p:txBody>
          <a:bodyPr wrap="square">
            <a:spAutoFit/>
          </a:bodyPr>
          <a:lstStyle/>
          <a:p>
            <a:r>
              <a:rPr sz="1050">
                <a:solidFill>
                  <a:srgbClr val="55657A"/>
                </a:solidFill>
              </a:rPr>
              <a:t>dbt build runs the 11 staging tests before the star schema; if they fail, the star models are skipped.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103120"/>
            <a:ext cx="5486400" cy="365760"/>
          </a:xfrm>
          <a:prstGeom prst="rect">
            <a:avLst/>
          </a:prstGeom>
          <a:noFill/>
          <a:ln/>
        </p:spPr>
        <p:txBody>
          <a:bodyPr wrap="square" lIns="0" tIns="0" rIns="0" bIns="0" rtlCol="0" anchor="t"/>
          <a:lstStyle/>
          <a:p>
            <a:pPr marL="0" indent="0">
              <a:buNone/>
            </a:pPr>
            <a:r>
              <a:rPr lang="en-US" sz="1600" b="1" kern="0" spc="300" dirty="0">
                <a:solidFill>
                  <a:srgbClr val="6CC6D3"/>
                </a:solidFill>
              </a:rPr>
              <a:t>PART 2 OF 4</a:t>
            </a:r>
            <a:endParaRPr lang="en-US" sz="1600" dirty="0"/>
          </a:p>
        </p:txBody>
      </p:sp>
      <p:sp>
        <p:nvSpPr>
          <p:cNvPr id="3" name="Text 1"/>
          <p:cNvSpPr txBox="1"/>
          <p:nvPr/>
        </p:nvSpPr>
        <p:spPr>
          <a:xfrm>
            <a:off x="548640" y="2651760"/>
            <a:ext cx="6035040" cy="16459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dbt: staging and the star schema</a:t>
            </a:r>
            <a:endParaRPr lang="en-US" sz="4000" dirty="0"/>
          </a:p>
        </p:txBody>
      </p:sp>
      <p:sp>
        <p:nvSpPr>
          <p:cNvPr id="4" name="Text 2"/>
          <p:cNvSpPr txBox="1"/>
          <p:nvPr/>
        </p:nvSpPr>
        <p:spPr>
          <a:xfrm>
            <a:off x="7498080" y="1920240"/>
            <a:ext cx="4114800" cy="219456"/>
          </a:xfrm>
          <a:prstGeom prst="rect">
            <a:avLst/>
          </a:prstGeom>
          <a:noFill/>
          <a:ln/>
        </p:spPr>
        <p:txBody>
          <a:bodyPr wrap="square" lIns="0" tIns="0" rIns="0" bIns="0" rtlCol="0" anchor="ctr"/>
          <a:lstStyle/>
          <a:p>
            <a:pPr marL="0" indent="0">
              <a:buNone/>
            </a:pPr>
            <a:r>
              <a:rPr lang="en-US" sz="1100" b="1" kern="0" spc="150" dirty="0">
                <a:solidFill>
                  <a:srgbClr val="6CC6D3"/>
                </a:solidFill>
              </a:rPr>
              <a:t>IN THIS SECTION</a:t>
            </a:r>
            <a:endParaRPr lang="en-US" sz="1100" dirty="0"/>
          </a:p>
        </p:txBody>
      </p:sp>
      <p:sp>
        <p:nvSpPr>
          <p:cNvPr id="5" name="Text 3"/>
          <p:cNvSpPr txBox="1"/>
          <p:nvPr/>
        </p:nvSpPr>
        <p:spPr>
          <a:xfrm>
            <a:off x="7498080" y="2286000"/>
            <a:ext cx="4160520" cy="2377440"/>
          </a:xfrm>
          <a:prstGeom prst="rect">
            <a:avLst/>
          </a:prstGeom>
          <a:noFill/>
          <a:ln/>
        </p:spPr>
        <p:txBody>
          <a:bodyPr wrap="square" lIns="0" tIns="0" rIns="0" bIns="0" rtlCol="0" anchor="t"/>
          <a:lstStyle/>
          <a:p>
            <a:pPr marL="0" indent="0">
              <a:spcAft>
                <a:spcPts val="1200"/>
              </a:spcAft>
              <a:buNone/>
            </a:pPr>
            <a:r>
              <a:rPr lang="en-US" sz="1400" b="1" dirty="0">
                <a:solidFill>
                  <a:srgbClr val="6CC6D3"/>
                </a:solidFill>
              </a:rPr>
              <a:t>03  </a:t>
            </a:r>
            <a:r>
              <a:rPr lang="en-US" sz="1400" dirty="0">
                <a:solidFill>
                  <a:srgbClr val="FFFFFF"/>
                </a:solidFill>
              </a:rPr>
              <a:t>Staging · cleaning the raw text</a:t>
            </a:r>
            <a:endParaRPr lang="en-US" sz="1200" dirty="0"/>
          </a:p>
          <a:p>
            <a:pPr>
              <a:spcAft>
                <a:spcPts val="1200"/>
              </a:spcAft>
            </a:pPr>
            <a:r>
              <a:rPr lang="en-US" sz="1400" b="1" dirty="0">
                <a:solidFill>
                  <a:srgbClr val="6CC6D3"/>
                </a:solidFill>
              </a:rPr>
              <a:t>03  </a:t>
            </a:r>
            <a:r>
              <a:rPr lang="en-US" sz="1400" dirty="0">
                <a:solidFill>
                  <a:srgbClr val="FFFFFF"/>
                </a:solidFill>
              </a:rPr>
              <a:t>Staging · testing the cleaning</a:t>
            </a:r>
          </a:p>
          <a:p>
            <a:pPr>
              <a:spcAft>
                <a:spcPts val="1200"/>
              </a:spcAft>
            </a:pPr>
            <a:r>
              <a:rPr lang="en-US" sz="1400" b="1" dirty="0">
                <a:solidFill>
                  <a:srgbClr val="6CC6D3"/>
                </a:solidFill>
              </a:rPr>
              <a:t>04  </a:t>
            </a:r>
            <a:r>
              <a:rPr lang="en-US" sz="1400" dirty="0">
                <a:solidFill>
                  <a:srgbClr val="FFFFFF"/>
                </a:solidFill>
              </a:rPr>
              <a:t>Star schema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03  DBT – STAGING  ·  CLEANING THE RAW TEXT</a:t>
            </a:r>
            <a:endParaRPr lang="en-US" sz="1200" dirty="0"/>
          </a:p>
        </p:txBody>
      </p:sp>
      <p:sp>
        <p:nvSpPr>
          <p:cNvPr id="3" name="Text 0"/>
          <p:cNvSpPr>
            <a:spLocks noGrp="1"/>
          </p:cNvSpPr>
          <p:nvPr>
            <p:ph type="title" idx="101" hasCustomPrompt="1"/>
          </p:nvPr>
        </p:nvSpPr>
        <p:spPr>
          <a:xfrm>
            <a:off x="545897" y="754028"/>
            <a:ext cx="11094415" cy="452980"/>
          </a:xfrm>
          <a:prstGeom prst="rect">
            <a:avLst/>
          </a:prstGeom>
          <a:noFill/>
          <a:ln/>
        </p:spPr>
        <p:txBody>
          <a:bodyPr wrap="square" lIns="0" tIns="0" rIns="0" bIns="0" rtlCol="0" anchor="t"/>
          <a:lstStyle/>
          <a:p>
            <a:pPr marL="0" indent="0" algn="l">
              <a:buNone/>
            </a:pPr>
            <a:r>
              <a:rPr lang="en-US" sz="2400" b="1" dirty="0">
                <a:solidFill>
                  <a:srgbClr val="142B4A"/>
                </a:solidFill>
                <a:latin typeface="Cambria" pitchFamily="34" charset="0"/>
                <a:ea typeface="Cambria" pitchFamily="34" charset="-122"/>
                <a:cs typeface="Cambria" pitchFamily="34" charset="-120"/>
              </a:rPr>
              <a:t>Price and area fields contain text-formatted numbers that need cleaning</a:t>
            </a:r>
            <a:endParaRPr lang="en-US" sz="2400" dirty="0"/>
          </a:p>
        </p:txBody>
      </p:sp>
      <p:sp>
        <p:nvSpPr>
          <p:cNvPr id="5" name="Text 2"/>
          <p:cNvSpPr txBox="1"/>
          <p:nvPr/>
        </p:nvSpPr>
        <p:spPr>
          <a:xfrm>
            <a:off x="548640" y="1417320"/>
            <a:ext cx="7315200" cy="219456"/>
          </a:xfrm>
          <a:prstGeom prst="rect">
            <a:avLst/>
          </a:prstGeom>
          <a:noFill/>
          <a:ln/>
        </p:spPr>
        <p:txBody>
          <a:bodyPr wrap="square" lIns="0" tIns="0" rIns="0" bIns="0" rtlCol="0" anchor="ctr"/>
          <a:lstStyle/>
          <a:p>
            <a:pPr marL="0" indent="0">
              <a:buNone/>
            </a:pPr>
            <a:r>
              <a:rPr lang="en-US" sz="1100" b="1" kern="0" spc="150" dirty="0">
                <a:solidFill>
                  <a:srgbClr val="167D8D"/>
                </a:solidFill>
              </a:rPr>
              <a:t>ONE REAL ROW  ·  SKY EVERTON, 50 EVERTON ROAD #13-08</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4039579022"/>
              </p:ext>
            </p:extLst>
          </p:nvPr>
        </p:nvGraphicFramePr>
        <p:xfrm>
          <a:off x="548640" y="1664208"/>
          <a:ext cx="11094415" cy="1645920"/>
        </p:xfrm>
        <a:graphic>
          <a:graphicData uri="http://schemas.openxmlformats.org/drawingml/2006/table">
            <a:tbl>
              <a:tblPr/>
              <a:tblGrid>
                <a:gridCol w="6400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gridCol w="1858975">
                  <a:extLst>
                    <a:ext uri="{9D8B030D-6E8A-4147-A177-3AD203B41FA5}">
                      <a16:colId xmlns:a16="http://schemas.microsoft.com/office/drawing/2014/main" val="20005"/>
                    </a:ext>
                  </a:extLst>
                </a:gridCol>
              </a:tblGrid>
              <a:tr h="274320">
                <a:tc>
                  <a:txBody>
                    <a:bodyPr/>
                    <a:lstStyle/>
                    <a:p>
                      <a:pPr marL="0" indent="0" algn="ctr">
                        <a:buNone/>
                      </a:pPr>
                      <a:r>
                        <a:rPr lang="en-US" sz="1050" b="1" kern="0" spc="50"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COLUMN</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RAW VALUE IN DUCKDB</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AFTER </a:t>
                      </a:r>
                      <a:r>
                        <a:rPr lang="en-US" sz="1050" b="1" kern="0" spc="50" baseline="0" dirty="0">
                          <a:solidFill>
                            <a:srgbClr val="FFFFFF"/>
                          </a:solidFill>
                          <a:latin typeface="Calibri" pitchFamily="34" charset="0"/>
                          <a:ea typeface="Calibri" pitchFamily="34" charset="-122"/>
                          <a:cs typeface="Calibri" pitchFamily="34" charset="-120"/>
                        </a:rPr>
                        <a:t>CLEANING</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BECOMES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extLst>
                  <a:ext uri="{0D108BD9-81ED-4DB2-BD59-A6C34878D82A}">
                    <a16:rowId xmlns:a16="http://schemas.microsoft.com/office/drawing/2014/main" val="10000"/>
                  </a:ext>
                </a:extLst>
              </a:tr>
              <a:tr h="27432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dirty="0">
                          <a:solidFill>
                            <a:srgbClr val="142B4A"/>
                          </a:solidFill>
                          <a:latin typeface="Courier New" pitchFamily="34" charset="0"/>
                          <a:ea typeface="Courier New" pitchFamily="34" charset="-122"/>
                          <a:cs typeface="Courier New" pitchFamily="34" charset="-120"/>
                        </a:rPr>
                        <a:t>transacted_price</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ourier New" pitchFamily="34" charset="0"/>
                          <a:ea typeface="Courier New" pitchFamily="34" charset="-122"/>
                          <a:cs typeface="Courier New" pitchFamily="34" charset="-120"/>
                        </a:rPr>
                        <a:t>'2,491,000'</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ctr">
                        <a:buNone/>
                      </a:pPr>
                      <a:r>
                        <a:rPr lang="en-US" sz="1150" dirty="0">
                          <a:solidFill>
                            <a:srgbClr val="55657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100" b="1" dirty="0">
                          <a:solidFill>
                            <a:srgbClr val="167D8D"/>
                          </a:solidFill>
                          <a:latin typeface="Courier New" pitchFamily="34" charset="0"/>
                          <a:ea typeface="Courier New" pitchFamily="34" charset="-122"/>
                          <a:cs typeface="Courier New" pitchFamily="34" charset="-120"/>
                        </a:rPr>
                        <a:t>2491000.00</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050" dirty="0">
                          <a:solidFill>
                            <a:srgbClr val="55657A"/>
                          </a:solidFill>
                          <a:latin typeface="Calibri" pitchFamily="34" charset="0"/>
                          <a:ea typeface="Calibri" pitchFamily="34" charset="-122"/>
                          <a:cs typeface="Calibri" pitchFamily="34" charset="-120"/>
                        </a:rPr>
                        <a:t>NUMERIC</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dirty="0">
                          <a:solidFill>
                            <a:srgbClr val="142B4A"/>
                          </a:solidFill>
                          <a:latin typeface="Courier New" pitchFamily="34" charset="0"/>
                          <a:ea typeface="Courier New" pitchFamily="34" charset="-122"/>
                          <a:cs typeface="Courier New" pitchFamily="34" charset="-120"/>
                        </a:rPr>
                        <a:t>area_sqft</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ourier New" pitchFamily="34" charset="0"/>
                          <a:ea typeface="Courier New" pitchFamily="34" charset="-122"/>
                          <a:cs typeface="Courier New" pitchFamily="34" charset="-120"/>
                        </a:rPr>
                        <a:t>'1,108.69'</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50" dirty="0">
                          <a:solidFill>
                            <a:srgbClr val="55657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b="1" dirty="0">
                          <a:solidFill>
                            <a:srgbClr val="167D8D"/>
                          </a:solidFill>
                          <a:latin typeface="Courier New" pitchFamily="34" charset="0"/>
                          <a:ea typeface="Courier New" pitchFamily="34" charset="-122"/>
                          <a:cs typeface="Courier New" pitchFamily="34" charset="-120"/>
                        </a:rPr>
                        <a:t>1108.69</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050" dirty="0">
                          <a:solidFill>
                            <a:srgbClr val="55657A"/>
                          </a:solidFill>
                          <a:latin typeface="Calibri" pitchFamily="34" charset="0"/>
                          <a:ea typeface="Calibri" pitchFamily="34" charset="-122"/>
                          <a:cs typeface="Calibri" pitchFamily="34" charset="-120"/>
                        </a:rPr>
                        <a:t>NUMERIC</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dirty="0">
                          <a:solidFill>
                            <a:srgbClr val="142B4A"/>
                          </a:solidFill>
                          <a:latin typeface="Courier New" pitchFamily="34" charset="0"/>
                          <a:ea typeface="Courier New" pitchFamily="34" charset="-122"/>
                          <a:cs typeface="Courier New" pitchFamily="34" charset="-120"/>
                        </a:rPr>
                        <a:t>sale_date</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ourier New" pitchFamily="34" charset="0"/>
                          <a:ea typeface="Courier New" pitchFamily="34" charset="-122"/>
                          <a:cs typeface="Courier New" pitchFamily="34" charset="-120"/>
                        </a:rPr>
                        <a:t>'29 Jun 2019'</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50" dirty="0">
                          <a:solidFill>
                            <a:srgbClr val="55657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b="1" dirty="0">
                          <a:solidFill>
                            <a:srgbClr val="167D8D"/>
                          </a:solidFill>
                          <a:latin typeface="Courier New" pitchFamily="34" charset="0"/>
                          <a:ea typeface="Courier New" pitchFamily="34" charset="-122"/>
                          <a:cs typeface="Courier New" pitchFamily="34" charset="-120"/>
                        </a:rPr>
                        <a:t>2019-06-29</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050" dirty="0">
                          <a:solidFill>
                            <a:srgbClr val="55657A"/>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dirty="0">
                          <a:solidFill>
                            <a:srgbClr val="142B4A"/>
                          </a:solidFill>
                          <a:latin typeface="Courier New" pitchFamily="34" charset="0"/>
                          <a:ea typeface="Courier New" pitchFamily="34" charset="-122"/>
                          <a:cs typeface="Courier New" pitchFamily="34" charset="-120"/>
                        </a:rPr>
                        <a:t>nett_price</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ourier New" pitchFamily="34" charset="0"/>
                          <a:ea typeface="Courier New" pitchFamily="34" charset="-122"/>
                          <a:cs typeface="Courier New" pitchFamily="34" charset="-120"/>
                        </a:rPr>
                        <a:t>'</a:t>
                      </a:r>
                      <a:r>
                        <a:rPr lang="en-US" sz="1100" baseline="0" dirty="0">
                          <a:solidFill>
                            <a:srgbClr val="142B4A"/>
                          </a:solidFill>
                          <a:latin typeface="Courier New" pitchFamily="34" charset="0"/>
                          <a:ea typeface="Courier New" pitchFamily="34" charset="-122"/>
                          <a:cs typeface="Courier New" pitchFamily="34" charset="-120"/>
                        </a:rPr>
                        <a:t> </a:t>
                      </a:r>
                      <a:r>
                        <a:rPr lang="en-US" sz="1100" dirty="0">
                          <a:solidFill>
                            <a:srgbClr val="142B4A"/>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50" dirty="0">
                          <a:solidFill>
                            <a:srgbClr val="55657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l" defTabSz="914400" rtl="0" eaLnBrk="1" latinLnBrk="0" hangingPunct="1">
                        <a:buNone/>
                      </a:pPr>
                      <a:r>
                        <a:rPr lang="en-US" sz="1100" b="1" kern="1200" dirty="0">
                          <a:solidFill>
                            <a:srgbClr val="167D8D"/>
                          </a:solidFill>
                          <a:latin typeface="Courier New" pitchFamily="34" charset="0"/>
                          <a:ea typeface="Courier New" pitchFamily="34" charset="-122"/>
                          <a:cs typeface="Courier New" pitchFamily="34" charset="-120"/>
                        </a:rPr>
                        <a:t>NULL  (not 0)</a:t>
                      </a:r>
                      <a:endParaRPr lang="en-US" sz="1100" b="1" kern="1200" dirty="0">
                        <a:solidFill>
                          <a:srgbClr val="167D8D"/>
                        </a:solidFill>
                        <a:latin typeface="Courier New" pitchFamily="34" charset="0"/>
                        <a:ea typeface="Courier New" charset="0"/>
                        <a:cs typeface="Courier New" pitchFamily="34" charset="-12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noFill/>
                  </a:tcPr>
                </a:tc>
                <a:tc>
                  <a:txBody>
                    <a:bodyPr/>
                    <a:lstStyle/>
                    <a:p>
                      <a:pPr marL="0" indent="0">
                        <a:buNone/>
                      </a:pPr>
                      <a:r>
                        <a:rPr lang="en-US" sz="1050" dirty="0">
                          <a:solidFill>
                            <a:srgbClr val="55657A"/>
                          </a:solidFill>
                          <a:latin typeface="Calibri" pitchFamily="34" charset="0"/>
                          <a:ea typeface="Calibri" pitchFamily="34" charset="-122"/>
                          <a:cs typeface="Calibri" pitchFamily="34" charset="-120"/>
                        </a:rPr>
                        <a:t>missing</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dirty="0">
                          <a:solidFill>
                            <a:srgbClr val="142B4A"/>
                          </a:solidFill>
                          <a:latin typeface="Courier New" pitchFamily="34" charset="0"/>
                          <a:ea typeface="Courier New" pitchFamily="34" charset="-122"/>
                          <a:cs typeface="Courier New" pitchFamily="34" charset="-120"/>
                        </a:rPr>
                        <a:t>postal_code</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ourier New" pitchFamily="34" charset="0"/>
                          <a:ea typeface="Courier New" pitchFamily="34" charset="-122"/>
                          <a:cs typeface="Courier New" pitchFamily="34" charset="-120"/>
                        </a:rPr>
                        <a:t>‘ ’</a:t>
                      </a:r>
                      <a:endParaRPr lang="en-US" sz="1100" dirty="0">
                        <a:latin typeface="Courier New" charset="0"/>
                        <a:ea typeface="Courier New" charset="0"/>
                        <a:cs typeface="Courier New"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50" dirty="0">
                          <a:solidFill>
                            <a:srgbClr val="55657A"/>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67D8D"/>
                          </a:solidFill>
                          <a:effectLst/>
                          <a:uLnTx/>
                          <a:uFillTx/>
                          <a:latin typeface="Courier New" pitchFamily="34" charset="0"/>
                          <a:ea typeface="Courier New" pitchFamily="34" charset="-122"/>
                          <a:cs typeface="Courier New" pitchFamily="34" charset="-120"/>
                        </a:rPr>
                        <a:t>NULL  (not blank)</a:t>
                      </a:r>
                      <a:endParaRPr lang="en-US" sz="1100" b="1" kern="1200" dirty="0">
                        <a:solidFill>
                          <a:srgbClr val="167D8D"/>
                        </a:solidFill>
                        <a:latin typeface="Courier New" pitchFamily="34" charset="0"/>
                        <a:ea typeface="Courier New" charset="0"/>
                        <a:cs typeface="Courier New" pitchFamily="34" charset="-12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noFill/>
                  </a:tcPr>
                </a:tc>
                <a:tc>
                  <a:txBody>
                    <a:bodyPr/>
                    <a:lstStyle/>
                    <a:p>
                      <a:pPr marL="0" indent="0">
                        <a:buNone/>
                      </a:pPr>
                      <a:r>
                        <a:rPr lang="en-US" sz="1050" dirty="0">
                          <a:solidFill>
                            <a:srgbClr val="55657A"/>
                          </a:solidFill>
                          <a:latin typeface="Calibri" pitchFamily="34" charset="0"/>
                          <a:ea typeface="Calibri" pitchFamily="34" charset="-122"/>
                          <a:cs typeface="Calibri" pitchFamily="34" charset="-120"/>
                        </a:rPr>
                        <a:t>missing</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txBox="1"/>
          <p:nvPr/>
        </p:nvSpPr>
        <p:spPr>
          <a:xfrm>
            <a:off x="548640" y="3703320"/>
            <a:ext cx="7315200" cy="219456"/>
          </a:xfrm>
          <a:prstGeom prst="rect">
            <a:avLst/>
          </a:prstGeom>
          <a:noFill/>
          <a:ln/>
        </p:spPr>
        <p:txBody>
          <a:bodyPr wrap="square" lIns="0" tIns="0" rIns="0" bIns="0" rtlCol="0" anchor="ctr"/>
          <a:lstStyle/>
          <a:p>
            <a:pPr marL="0" indent="0">
              <a:buNone/>
            </a:pPr>
            <a:r>
              <a:rPr lang="en-US" sz="1100" b="1" kern="0" spc="150" dirty="0">
                <a:solidFill>
                  <a:srgbClr val="167D8D"/>
                </a:solidFill>
              </a:rPr>
              <a:t>THE FOUR RULES  ·  measured over 170,224 rows</a:t>
            </a:r>
            <a:endParaRPr lang="en-US" sz="1100" dirty="0"/>
          </a:p>
        </p:txBody>
      </p:sp>
      <p:graphicFrame>
        <p:nvGraphicFramePr>
          <p:cNvPr id="13" name="Table 1"/>
          <p:cNvGraphicFramePr>
            <a:graphicFrameLocks noGrp="1"/>
          </p:cNvGraphicFramePr>
          <p:nvPr>
            <p:extLst>
              <p:ext uri="{D42A27DB-BD31-4B8C-83A1-F6EECF244321}">
                <p14:modId xmlns:p14="http://schemas.microsoft.com/office/powerpoint/2010/main" val="3004052294"/>
              </p:ext>
            </p:extLst>
          </p:nvPr>
        </p:nvGraphicFramePr>
        <p:xfrm>
          <a:off x="548640" y="3950208"/>
          <a:ext cx="11094415" cy="1682496"/>
        </p:xfrm>
        <a:graphic>
          <a:graphicData uri="http://schemas.openxmlformats.org/drawingml/2006/table">
            <a:tbl>
              <a:tblPr/>
              <a:tblGrid>
                <a:gridCol w="6400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5242255">
                  <a:extLst>
                    <a:ext uri="{9D8B030D-6E8A-4147-A177-3AD203B41FA5}">
                      <a16:colId xmlns:a16="http://schemas.microsoft.com/office/drawing/2014/main" val="20004"/>
                    </a:ext>
                  </a:extLst>
                </a:gridCol>
              </a:tblGrid>
              <a:tr h="274320">
                <a:tc>
                  <a:txBody>
                    <a:bodyPr/>
                    <a:lstStyle/>
                    <a:p>
                      <a:pPr marL="0" indent="0" algn="ctr">
                        <a:buNone/>
                      </a:pPr>
                      <a:r>
                        <a:rPr lang="en-US" sz="1050" b="1" kern="0" spc="50" dirty="0">
                          <a:solidFill>
                            <a:srgbClr val="FFFFFF"/>
                          </a:solidFill>
                          <a:latin typeface="Calibri" pitchFamily="34" charset="0"/>
                          <a:ea typeface="Calibri" pitchFamily="34" charset="-122"/>
                          <a:cs typeface="Calibri" pitchFamily="34" charset="-120"/>
                        </a:rPr>
                        <a:t>RULE</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RULE DESCRIPTION</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APPLIED TO</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r">
                        <a:buNone/>
                      </a:pPr>
                      <a:r>
                        <a:rPr lang="en-US" sz="1050" b="1" kern="0" spc="50" dirty="0">
                          <a:solidFill>
                            <a:srgbClr val="FFFFFF"/>
                          </a:solidFill>
                          <a:latin typeface="Calibri" pitchFamily="34" charset="0"/>
                          <a:ea typeface="Calibri" pitchFamily="34" charset="-122"/>
                          <a:cs typeface="Calibri" pitchFamily="34" charset="-120"/>
                        </a:rPr>
                        <a:t>VALUES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WHY IT MATTERS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extLst>
                  <a:ext uri="{0D108BD9-81ED-4DB2-BD59-A6C34878D82A}">
                    <a16:rowId xmlns:a16="http://schemas.microsoft.com/office/drawing/2014/main" val="10000"/>
                  </a:ext>
                </a:extLst>
              </a:tr>
              <a:tr h="29260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b="1" dirty="0">
                          <a:solidFill>
                            <a:srgbClr val="142B4A"/>
                          </a:solidFill>
                          <a:latin typeface="Calibri" pitchFamily="34" charset="0"/>
                          <a:ea typeface="Calibri" pitchFamily="34" charset="-122"/>
                          <a:cs typeface="Calibri" pitchFamily="34" charset="-120"/>
                        </a:rPr>
                        <a:t>Strip thousands separators</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6 price &amp; area columns</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r">
                        <a:buNone/>
                      </a:pPr>
                      <a:r>
                        <a:rPr lang="en-US" sz="1100" b="1" dirty="0">
                          <a:solidFill>
                            <a:srgbClr val="167D8D"/>
                          </a:solidFill>
                          <a:latin typeface="Calibri" pitchFamily="34" charset="0"/>
                          <a:ea typeface="Calibri" pitchFamily="34" charset="-122"/>
                          <a:cs typeface="Calibri" pitchFamily="34" charset="-120"/>
                        </a:rPr>
                        <a:t>565,219</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l" defTabSz="914400" rtl="0" eaLnBrk="1" latinLnBrk="0" hangingPunct="1">
                        <a:buNone/>
                      </a:pPr>
                      <a:r>
                        <a:rPr sz="1100" kern="1200" dirty="0">
                          <a:solidFill>
                            <a:srgbClr val="142B4A"/>
                          </a:solidFill>
                          <a:latin typeface="Calibri" pitchFamily="34" charset="0"/>
                          <a:ea typeface="Calibri" pitchFamily="34" charset="-122"/>
                          <a:cs typeface="Calibri" pitchFamily="34" charset="-120"/>
                        </a:rPr>
                        <a:t>Six price/area columns need cleaning for analysis.</a:t>
                      </a: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b="1" dirty="0">
                          <a:solidFill>
                            <a:srgbClr val="142B4A"/>
                          </a:solidFill>
                          <a:latin typeface="Calibri" pitchFamily="34" charset="0"/>
                          <a:ea typeface="Calibri" pitchFamily="34" charset="-122"/>
                          <a:cs typeface="Calibri" pitchFamily="34" charset="-120"/>
                        </a:rPr>
                        <a:t>Parse '29 Jun 2019' into a date</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sale_date</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00" b="1" dirty="0">
                          <a:solidFill>
                            <a:srgbClr val="167D8D"/>
                          </a:solidFill>
                          <a:latin typeface="Calibri" pitchFamily="34" charset="0"/>
                          <a:ea typeface="Calibri" pitchFamily="34" charset="-122"/>
                          <a:cs typeface="Calibri" pitchFamily="34" charset="-120"/>
                        </a:rPr>
                        <a:t>170,224</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Text cannot be grouped by year or month, so no trend chart</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b="1" dirty="0">
                          <a:solidFill>
                            <a:srgbClr val="142B4A"/>
                          </a:solidFill>
                          <a:latin typeface="Calibri" pitchFamily="34" charset="0"/>
                          <a:ea typeface="Calibri" pitchFamily="34" charset="-122"/>
                          <a:cs typeface="Calibri" pitchFamily="34" charset="-120"/>
                        </a:rPr>
                        <a:t>Not applicable stays empty, never zero</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nett_price</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00" b="1" dirty="0">
                          <a:solidFill>
                            <a:srgbClr val="167D8D"/>
                          </a:solidFill>
                          <a:latin typeface="Calibri" pitchFamily="34" charset="0"/>
                          <a:ea typeface="Calibri" pitchFamily="34" charset="-122"/>
                          <a:cs typeface="Calibri" pitchFamily="34" charset="-120"/>
                        </a:rPr>
                        <a:t>169,291</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a:buNone/>
                      </a:pPr>
                      <a:r>
                        <a:rPr lang="en-US" sz="1100" dirty="0">
                          <a:solidFill>
                            <a:srgbClr val="142B4A"/>
                          </a:solidFill>
                          <a:latin typeface="Calibri" pitchFamily="34" charset="0"/>
                          <a:ea typeface="Calibri" pitchFamily="34" charset="-122"/>
                          <a:cs typeface="Calibri" pitchFamily="34" charset="-120"/>
                        </a:rPr>
                        <a:t>AVG skips empty but counts zero.</a:t>
                      </a:r>
                      <a:r>
                        <a:rPr lang="en-SG" sz="1100" dirty="0">
                          <a:effectLst/>
                        </a:rPr>
                        <a:t> </a:t>
                      </a:r>
                      <a:r>
                        <a:rPr lang="en-SG" sz="1100" b="0" i="0" dirty="0">
                          <a:solidFill>
                            <a:srgbClr val="0D0D0D"/>
                          </a:solidFill>
                          <a:effectLst/>
                          <a:latin typeface="-apple-system-body"/>
                        </a:rPr>
                        <a:t>Missing nett prices are stored as NULL, not zero, to avoid understating property prices and distorting average price calculation</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b="1" dirty="0">
                          <a:solidFill>
                            <a:srgbClr val="142B4A"/>
                          </a:solidFill>
                          <a:latin typeface="Calibri" pitchFamily="34" charset="0"/>
                          <a:ea typeface="Calibri" pitchFamily="34" charset="-122"/>
                          <a:cs typeface="Calibri" pitchFamily="34" charset="-120"/>
                        </a:rPr>
                        <a:t>Keep missing postal fields as null</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3 postal columns</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00" b="1" dirty="0">
                          <a:solidFill>
                            <a:srgbClr val="167D8D"/>
                          </a:solidFill>
                          <a:latin typeface="Calibri" pitchFamily="34" charset="0"/>
                          <a:ea typeface="Calibri" pitchFamily="34" charset="-122"/>
                          <a:cs typeface="Calibri" pitchFamily="34" charset="-120"/>
                        </a:rPr>
                        <a:t>55,771</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SG" sz="1100" b="0" i="0" dirty="0">
                          <a:solidFill>
                            <a:srgbClr val="0D0D0D"/>
                          </a:solidFill>
                          <a:effectLst/>
                          <a:latin typeface="-apple-system-body"/>
                        </a:rPr>
                        <a:t>Missing postal details are stored as NULL, not zero, to avoid misrepresenting location data.</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03  DBT – STAGING  ·  TESTING THE CLEANING</a:t>
            </a:r>
            <a:endParaRPr lang="en-US" sz="1200" dirty="0"/>
          </a:p>
        </p:txBody>
      </p:sp>
      <p:sp>
        <p:nvSpPr>
          <p:cNvPr id="3" name="Text 0"/>
          <p:cNvSpPr>
            <a:spLocks noGrp="1"/>
          </p:cNvSpPr>
          <p:nvPr>
            <p:ph type="title" idx="101" hasCustomPrompt="1"/>
          </p:nvPr>
        </p:nvSpPr>
        <p:spPr>
          <a:xfrm>
            <a:off x="548640" y="722376"/>
            <a:ext cx="11094415" cy="731520"/>
          </a:xfrm>
          <a:prstGeom prst="rect">
            <a:avLst/>
          </a:prstGeom>
          <a:noFill/>
          <a:ln/>
        </p:spPr>
        <p:txBody>
          <a:bodyPr wrap="square" lIns="0" tIns="0" rIns="0" bIns="0" rtlCol="0" anchor="t"/>
          <a:lstStyle/>
          <a:p>
            <a:pPr marL="0" indent="0" algn="l">
              <a:buNone/>
            </a:pPr>
            <a:r>
              <a:rPr lang="en-US" sz="2400" b="1" dirty="0">
                <a:solidFill>
                  <a:srgbClr val="142B4A"/>
                </a:solidFill>
                <a:latin typeface="Cambria" pitchFamily="34" charset="0"/>
                <a:ea typeface="Cambria" pitchFamily="34" charset="-122"/>
                <a:cs typeface="Cambria" pitchFamily="34" charset="-120"/>
              </a:rPr>
              <a:t>Eleven tests check that the cleaning worked, before the star schema is allowed to build</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3171300291"/>
              </p:ext>
            </p:extLst>
          </p:nvPr>
        </p:nvGraphicFramePr>
        <p:xfrm>
          <a:off x="548640" y="1554480"/>
          <a:ext cx="11091672" cy="3273552"/>
        </p:xfrm>
        <a:graphic>
          <a:graphicData uri="http://schemas.openxmlformats.org/drawingml/2006/table">
            <a:tbl>
              <a:tblPr/>
              <a:tblGrid>
                <a:gridCol w="5486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4782312">
                  <a:extLst>
                    <a:ext uri="{9D8B030D-6E8A-4147-A177-3AD203B41FA5}">
                      <a16:colId xmlns:a16="http://schemas.microsoft.com/office/drawing/2014/main" val="20003"/>
                    </a:ext>
                  </a:extLst>
                </a:gridCol>
              </a:tblGrid>
              <a:tr h="292608">
                <a:tc>
                  <a:txBody>
                    <a:bodyPr/>
                    <a:lstStyle/>
                    <a:p>
                      <a:pPr marL="0" indent="0" algn="ctr">
                        <a:buNone/>
                      </a:pP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COLUMNS IT RUNS ON</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ctr">
                        <a:buNone/>
                      </a:pPr>
                      <a:r>
                        <a:rPr lang="en-US" sz="1050" b="1" kern="0" spc="50" dirty="0">
                          <a:solidFill>
                            <a:srgbClr val="FFFFFF"/>
                          </a:solidFill>
                          <a:latin typeface="Calibri" pitchFamily="34" charset="0"/>
                          <a:ea typeface="Calibri" pitchFamily="34" charset="-122"/>
                          <a:cs typeface="Calibri" pitchFamily="34" charset="-120"/>
                        </a:rPr>
                        <a:t>THE DBT TEST</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WHAT IT CATCHES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extLst>
                  <a:ext uri="{0D108BD9-81ED-4DB2-BD59-A6C34878D82A}">
                    <a16:rowId xmlns:a16="http://schemas.microsoft.com/office/drawing/2014/main" val="10000"/>
                  </a:ext>
                </a:extLst>
              </a:tr>
              <a:tr h="56692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142B4A"/>
                    </a:solidFill>
                  </a:tcPr>
                </a:tc>
                <a:tc>
                  <a:txBody>
                    <a:bodyPr/>
                    <a:lstStyle/>
                    <a:p>
                      <a:pPr marL="0" indent="0">
                        <a:buNone/>
                      </a:pPr>
                      <a:r>
                        <a:rPr lang="en-US" sz="1150" b="1" dirty="0">
                          <a:solidFill>
                            <a:srgbClr val="142B4A"/>
                          </a:solidFill>
                          <a:latin typeface="Calibri" pitchFamily="34" charset="0"/>
                          <a:ea typeface="Calibri" pitchFamily="34" charset="-122"/>
                          <a:cs typeface="Calibri" pitchFamily="34" charset="-120"/>
                        </a:rPr>
                        <a:t>transacted_price · area_sqft · area_sqm · unit_price_psf · unit_price_psm · number_of_units</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ctr">
                        <a:buNone/>
                      </a:pPr>
                      <a:r>
                        <a:rPr lang="en-US" sz="1150" b="1" dirty="0">
                          <a:solidFill>
                            <a:srgbClr val="142B4A"/>
                          </a:solidFill>
                          <a:latin typeface="Calibri" pitchFamily="34" charset="0"/>
                          <a:ea typeface="Calibri" pitchFamily="34" charset="-122"/>
                          <a:cs typeface="Calibri" pitchFamily="34" charset="-120"/>
                        </a:rPr>
                        <a:t>not_null  ×6</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FBF0DA"/>
                    </a:solidFill>
                  </a:tcPr>
                </a:tc>
                <a:tc>
                  <a:txBody>
                    <a:bodyPr/>
                    <a:lstStyle/>
                    <a:p>
                      <a:pPr marL="0" indent="0">
                        <a:buNone/>
                      </a:pPr>
                      <a:r>
                        <a:rPr lang="en-US" sz="1150" dirty="0">
                          <a:solidFill>
                            <a:srgbClr val="142B4A"/>
                          </a:solidFill>
                          <a:latin typeface="Calibri" pitchFamily="34" charset="0"/>
                          <a:ea typeface="Calibri" pitchFamily="34" charset="-122"/>
                          <a:cs typeface="Calibri" pitchFamily="34" charset="-120"/>
                        </a:rPr>
                        <a:t>SAFE_CAST returns NULL instead of raising an error, so a value it cannot parse disappears without trace</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42B4A"/>
                    </a:solidFill>
                  </a:tcPr>
                </a:tc>
                <a:tc>
                  <a:txBody>
                    <a:bodyPr/>
                    <a:lstStyle/>
                    <a:p>
                      <a:pPr marL="0" indent="0">
                        <a:buNone/>
                      </a:pPr>
                      <a:r>
                        <a:rPr lang="en-US" sz="1150" b="1" dirty="0">
                          <a:solidFill>
                            <a:srgbClr val="142B4A"/>
                          </a:solidFill>
                          <a:latin typeface="Calibri" pitchFamily="34" charset="0"/>
                          <a:ea typeface="Calibri" pitchFamily="34" charset="-122"/>
                          <a:cs typeface="Calibri" pitchFamily="34" charset="-120"/>
                        </a:rPr>
                        <a:t>sale_date</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50" b="1" dirty="0">
                          <a:solidFill>
                            <a:srgbClr val="142B4A"/>
                          </a:solidFill>
                          <a:latin typeface="Calibri" pitchFamily="34" charset="0"/>
                          <a:ea typeface="Calibri" pitchFamily="34" charset="-122"/>
                          <a:cs typeface="Calibri" pitchFamily="34" charset="-120"/>
                        </a:rPr>
                        <a:t>not_null  ×1</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BF0DA"/>
                    </a:solidFill>
                  </a:tcPr>
                </a:tc>
                <a:tc>
                  <a:txBody>
                    <a:bodyPr/>
                    <a:lstStyle/>
                    <a:p>
                      <a:pPr marL="0" indent="0">
                        <a:buNone/>
                      </a:pPr>
                      <a:r>
                        <a:rPr lang="en-US" sz="1150" dirty="0">
                          <a:solidFill>
                            <a:srgbClr val="142B4A"/>
                          </a:solidFill>
                          <a:latin typeface="Calibri" pitchFamily="34" charset="0"/>
                          <a:ea typeface="Calibri" pitchFamily="34" charset="-122"/>
                          <a:cs typeface="Calibri" pitchFamily="34" charset="-120"/>
                        </a:rPr>
                        <a:t>SAFE.PARSE_DATE behaves the same way — an unreadable date becomes NULL, not a failure</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2"/>
                  </a:ext>
                </a:extLst>
              </a:tr>
              <a:tr h="64008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42B4A"/>
                    </a:solidFill>
                  </a:tcPr>
                </a:tc>
                <a:tc>
                  <a:txBody>
                    <a:bodyPr/>
                    <a:lstStyle/>
                    <a:p>
                      <a:pPr marL="0" indent="0">
                        <a:buNone/>
                      </a:pPr>
                      <a:r>
                        <a:rPr lang="en-US" sz="1150" b="1" dirty="0">
                          <a:solidFill>
                            <a:srgbClr val="142B4A"/>
                          </a:solidFill>
                          <a:latin typeface="Calibri" pitchFamily="34" charset="0"/>
                          <a:ea typeface="Calibri" pitchFamily="34" charset="-122"/>
                          <a:cs typeface="Calibri" pitchFamily="34" charset="-120"/>
                        </a:rPr>
                        <a:t>type_of_sale</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50" b="1" dirty="0">
                          <a:solidFill>
                            <a:srgbClr val="142B4A"/>
                          </a:solidFill>
                          <a:latin typeface="Calibri" pitchFamily="34" charset="0"/>
                          <a:ea typeface="Calibri" pitchFamily="34" charset="-122"/>
                          <a:cs typeface="Calibri" pitchFamily="34" charset="-120"/>
                        </a:rPr>
                        <a:t>accepted_values  ×1</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BF0DA"/>
                    </a:solidFill>
                  </a:tcPr>
                </a:tc>
                <a:tc>
                  <a:txBody>
                    <a:bodyPr/>
                    <a:lstStyle/>
                    <a:p>
                      <a:pPr marL="0" indent="0">
                        <a:buNone/>
                      </a:pPr>
                      <a:r>
                        <a:rPr lang="en-US" sz="1150" dirty="0">
                          <a:solidFill>
                            <a:srgbClr val="142B4A"/>
                          </a:solidFill>
                          <a:latin typeface="Calibri" pitchFamily="34" charset="0"/>
                          <a:ea typeface="Calibri" pitchFamily="34" charset="-122"/>
                          <a:cs typeface="Calibri" pitchFamily="34" charset="-120"/>
                        </a:rPr>
                        <a:t>A value outside NEW SALE · RESALE · SUB SALE</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42B4A"/>
                    </a:solidFill>
                  </a:tcPr>
                </a:tc>
                <a:tc>
                  <a:txBody>
                    <a:bodyPr/>
                    <a:lstStyle/>
                    <a:p>
                      <a:pPr marL="0" indent="0">
                        <a:buNone/>
                      </a:pPr>
                      <a:r>
                        <a:rPr lang="en-US" sz="1150" b="1" dirty="0">
                          <a:solidFill>
                            <a:srgbClr val="142B4A"/>
                          </a:solidFill>
                          <a:latin typeface="Calibri" pitchFamily="34" charset="0"/>
                          <a:ea typeface="Calibri" pitchFamily="34" charset="-122"/>
                          <a:cs typeface="Calibri" pitchFamily="34" charset="-120"/>
                        </a:rPr>
                        <a:t>property_type</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50" b="1" dirty="0">
                          <a:solidFill>
                            <a:srgbClr val="142B4A"/>
                          </a:solidFill>
                          <a:latin typeface="Calibri" pitchFamily="34" charset="0"/>
                          <a:ea typeface="Calibri" pitchFamily="34" charset="-122"/>
                          <a:cs typeface="Calibri" pitchFamily="34" charset="-120"/>
                        </a:rPr>
                        <a:t>accepted_values  ×1</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BF0DA"/>
                    </a:solidFill>
                  </a:tcPr>
                </a:tc>
                <a:tc>
                  <a:txBody>
                    <a:bodyPr/>
                    <a:lstStyle/>
                    <a:p>
                      <a:pPr marL="0" indent="0" algn="l" defTabSz="914400" rtl="0" eaLnBrk="1" latinLnBrk="0" hangingPunct="1">
                        <a:buNone/>
                      </a:pPr>
                      <a:r>
                        <a:rPr sz="1150" kern="1200" dirty="0">
                          <a:solidFill>
                            <a:srgbClr val="142B4A"/>
                          </a:solidFill>
                          <a:latin typeface="Calibri" pitchFamily="34" charset="0"/>
                          <a:ea typeface="Calibri" pitchFamily="34" charset="-122"/>
                          <a:cs typeface="Calibri" pitchFamily="34" charset="-120"/>
                        </a:rPr>
                        <a:t>A value outside APARTMENT · CONDOMINIUM</a:t>
                      </a: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42B4A"/>
                    </a:solidFill>
                  </a:tcPr>
                </a:tc>
                <a:tc>
                  <a:txBody>
                    <a:bodyPr/>
                    <a:lstStyle/>
                    <a:p>
                      <a:pPr marL="0" indent="0">
                        <a:buNone/>
                      </a:pPr>
                      <a:r>
                        <a:rPr lang="en-US" sz="1150" b="1" dirty="0" err="1">
                          <a:solidFill>
                            <a:srgbClr val="142B4A"/>
                          </a:solidFill>
                          <a:latin typeface="Calibri" pitchFamily="34" charset="0"/>
                          <a:ea typeface="Calibri" pitchFamily="34" charset="-122"/>
                          <a:cs typeface="Calibri" pitchFamily="34" charset="-120"/>
                        </a:rPr>
                        <a:t>planning_region</a:t>
                      </a:r>
                      <a:r>
                        <a:rPr lang="en-US" sz="1150" b="1" dirty="0">
                          <a:solidFill>
                            <a:srgbClr val="142B4A"/>
                          </a:solidFill>
                          <a:latin typeface="Calibri" pitchFamily="34" charset="0"/>
                          <a:ea typeface="Calibri" pitchFamily="34" charset="-122"/>
                          <a:cs typeface="Calibri" pitchFamily="34" charset="-120"/>
                        </a:rPr>
                        <a:t>  ·</a:t>
                      </a:r>
                      <a:r>
                        <a:rPr lang="en-US" sz="1150" b="1" dirty="0" err="1">
                          <a:solidFill>
                            <a:srgbClr val="142B4A"/>
                          </a:solidFill>
                          <a:latin typeface="Calibri" pitchFamily="34" charset="0"/>
                          <a:ea typeface="Calibri" pitchFamily="34" charset="-122"/>
                          <a:cs typeface="Calibri" pitchFamily="34" charset="-120"/>
                        </a:rPr>
                        <a:t>purchaser_address_indicator</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50" b="1" dirty="0">
                          <a:solidFill>
                            <a:schemeClr val="tx1"/>
                          </a:solidFill>
                          <a:latin typeface="Calibri" pitchFamily="34" charset="0"/>
                          <a:ea typeface="Calibri" pitchFamily="34" charset="-122"/>
                          <a:cs typeface="Calibri" pitchFamily="34" charset="-120"/>
                        </a:rPr>
                        <a:t>accepted_values  ×2</a:t>
                      </a:r>
                      <a:endParaRPr lang="en-US" sz="1150" dirty="0">
                        <a:solidFill>
                          <a:schemeClr val="tx1"/>
                        </a:solidFill>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chemeClr val="accent2">
                        <a:lumMod val="20000"/>
                        <a:lumOff val="80000"/>
                      </a:schemeClr>
                    </a:solidFill>
                  </a:tcPr>
                </a:tc>
                <a:tc>
                  <a:txBody>
                    <a:bodyPr/>
                    <a:lstStyle/>
                    <a:p>
                      <a:pPr marL="0" indent="0">
                        <a:buNone/>
                      </a:pPr>
                      <a:r>
                        <a:rPr lang="en-US" sz="1150" dirty="0">
                          <a:solidFill>
                            <a:srgbClr val="142B4A"/>
                          </a:solidFill>
                          <a:latin typeface="Calibri" pitchFamily="34" charset="0"/>
                          <a:ea typeface="Calibri" pitchFamily="34" charset="-122"/>
                          <a:cs typeface="Calibri" pitchFamily="34" charset="-120"/>
                        </a:rPr>
                        <a:t>A region outside the five known regions, or a buyer group outside HDB · N.A · PRIVATE</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2"/>
          <p:cNvSpPr/>
          <p:nvPr/>
        </p:nvSpPr>
        <p:spPr>
          <a:xfrm>
            <a:off x="548640" y="5076090"/>
            <a:ext cx="11094415" cy="914400"/>
          </a:xfrm>
          <a:prstGeom prst="roundRect">
            <a:avLst>
              <a:gd name="adj" fmla="val 7000"/>
            </a:avLst>
          </a:prstGeom>
          <a:solidFill>
            <a:srgbClr val="142B4A"/>
          </a:solidFill>
          <a:ln w="9525">
            <a:solidFill>
              <a:srgbClr val="142B4A"/>
            </a:solidFill>
            <a:prstDash val="solid"/>
          </a:ln>
        </p:spPr>
        <p:txBody>
          <a:bodyPr/>
          <a:lstStyle/>
          <a:p>
            <a:endParaRPr/>
          </a:p>
        </p:txBody>
      </p:sp>
      <p:sp>
        <p:nvSpPr>
          <p:cNvPr id="7" name="Text 3"/>
          <p:cNvSpPr txBox="1"/>
          <p:nvPr/>
        </p:nvSpPr>
        <p:spPr>
          <a:xfrm>
            <a:off x="762152" y="5029200"/>
            <a:ext cx="10545775" cy="914400"/>
          </a:xfrm>
          <a:prstGeom prst="rect">
            <a:avLst/>
          </a:prstGeom>
          <a:noFill/>
          <a:ln/>
        </p:spPr>
        <p:txBody>
          <a:bodyPr wrap="square" lIns="0" tIns="0" rIns="0" bIns="0" rtlCol="0" anchor="ctr"/>
          <a:lstStyle/>
          <a:p>
            <a:pPr marL="0" indent="0">
              <a:spcAft>
                <a:spcPts val="300"/>
              </a:spcAft>
              <a:buNone/>
            </a:pPr>
            <a:r>
              <a:rPr lang="en-US" sz="1100" b="1" kern="0" spc="150" dirty="0">
                <a:solidFill>
                  <a:srgbClr val="6CC6D3"/>
                </a:solidFill>
              </a:rPr>
              <a:t>WHY THESE ELEVEN EXIST</a:t>
            </a:r>
            <a:endParaRPr lang="en-US" sz="1200" dirty="0"/>
          </a:p>
          <a:p>
            <a:pPr marL="0" indent="0">
              <a:spcAft>
                <a:spcPts val="300"/>
              </a:spcAft>
              <a:buNone/>
            </a:pPr>
            <a:r>
              <a:rPr lang="en-US" sz="1400" dirty="0">
                <a:solidFill>
                  <a:srgbClr val="FFFFFF"/>
                </a:solidFill>
              </a:rPr>
              <a:t>dbt build runs these 11 on stg_property_transactions before fact_transaction and the two dimensions are built. If one fails, the star models are skipped, thus uncleaned data cannot reach the star schema. The other 9 dbt tests check keys and joins after it is built.</a:t>
            </a:r>
            <a:endParaRPr lang="en-US" sz="1200" dirty="0"/>
          </a:p>
        </p:txBody>
      </p:sp>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04  DBT – STAR SCHEMA</a:t>
            </a:r>
            <a:endParaRPr lang="en-US" sz="1200" dirty="0"/>
          </a:p>
        </p:txBody>
      </p:sp>
      <p:sp>
        <p:nvSpPr>
          <p:cNvPr id="3" name="Text 0"/>
          <p:cNvSpPr>
            <a:spLocks noGrp="1"/>
          </p:cNvSpPr>
          <p:nvPr>
            <p:ph type="title" idx="101" hasCustomPrompt="1"/>
          </p:nvPr>
        </p:nvSpPr>
        <p:spPr>
          <a:xfrm>
            <a:off x="548640" y="708719"/>
            <a:ext cx="11094415" cy="731520"/>
          </a:xfrm>
          <a:prstGeom prst="rect">
            <a:avLst/>
          </a:prstGeom>
          <a:noFill/>
          <a:ln/>
        </p:spPr>
        <p:txBody>
          <a:bodyPr wrap="square" lIns="0" tIns="0" rIns="0" bIns="0" rtlCol="0" anchor="t"/>
          <a:lstStyle/>
          <a:p>
            <a:pPr marL="0" indent="0" algn="l">
              <a:buNone/>
            </a:pPr>
            <a:r>
              <a:rPr lang="en-US" sz="2400" b="1" dirty="0">
                <a:solidFill>
                  <a:srgbClr val="142B4A"/>
                </a:solidFill>
                <a:latin typeface="Cambria" pitchFamily="34" charset="0"/>
                <a:ea typeface="Cambria" pitchFamily="34" charset="-122"/>
                <a:cs typeface="Cambria" pitchFamily="34" charset="-120"/>
              </a:rPr>
              <a:t>Twenty-one raw columns split three ways; star adds 2 more</a:t>
            </a:r>
            <a:endParaRPr lang="en-US" sz="2400" dirty="0"/>
          </a:p>
        </p:txBody>
      </p:sp>
      <p:sp>
        <p:nvSpPr>
          <p:cNvPr id="5" name="Text 2"/>
          <p:cNvSpPr txBox="1"/>
          <p:nvPr/>
        </p:nvSpPr>
        <p:spPr>
          <a:xfrm>
            <a:off x="548640" y="1210408"/>
            <a:ext cx="6400800" cy="219456"/>
          </a:xfrm>
          <a:prstGeom prst="rect">
            <a:avLst/>
          </a:prstGeom>
          <a:noFill/>
          <a:ln/>
        </p:spPr>
        <p:txBody>
          <a:bodyPr wrap="square" lIns="0" tIns="0" rIns="0" bIns="0" rtlCol="0" anchor="ctr"/>
          <a:lstStyle/>
          <a:p>
            <a:pPr marL="0" indent="0">
              <a:buNone/>
            </a:pPr>
            <a:r>
              <a:rPr lang="en-US" sz="1100" b="1" kern="0" spc="150" dirty="0">
                <a:solidFill>
                  <a:srgbClr val="167D8D"/>
                </a:solidFill>
              </a:rPr>
              <a:t>RAW TRANSACTIONS IN DUCKDB  ·  21 COLUMNS</a:t>
            </a:r>
            <a:endParaRPr lang="en-US" sz="1100" dirty="0"/>
          </a:p>
        </p:txBody>
      </p:sp>
      <p:sp>
        <p:nvSpPr>
          <p:cNvPr id="7" name="Shape 4"/>
          <p:cNvSpPr/>
          <p:nvPr/>
        </p:nvSpPr>
        <p:spPr>
          <a:xfrm>
            <a:off x="548640" y="1645920"/>
            <a:ext cx="2377440" cy="896112"/>
          </a:xfrm>
          <a:prstGeom prst="roundRect">
            <a:avLst>
              <a:gd name="adj" fmla="val 7143"/>
            </a:avLst>
          </a:prstGeom>
          <a:solidFill>
            <a:srgbClr val="FFFFFF"/>
          </a:solidFill>
          <a:ln w="19050">
            <a:solidFill>
              <a:srgbClr val="142B4A"/>
            </a:solidFill>
            <a:prstDash val="solid"/>
          </a:ln>
        </p:spPr>
      </p:sp>
      <p:sp>
        <p:nvSpPr>
          <p:cNvPr id="8" name="Text 5"/>
          <p:cNvSpPr txBox="1"/>
          <p:nvPr/>
        </p:nvSpPr>
        <p:spPr>
          <a:xfrm>
            <a:off x="658368" y="1691640"/>
            <a:ext cx="2157984" cy="256032"/>
          </a:xfrm>
          <a:prstGeom prst="rect">
            <a:avLst/>
          </a:prstGeom>
          <a:noFill/>
          <a:ln/>
        </p:spPr>
        <p:txBody>
          <a:bodyPr wrap="square" lIns="0" tIns="0" rIns="0" bIns="0" rtlCol="0" anchor="ctr"/>
          <a:lstStyle/>
          <a:p>
            <a:pPr marL="0" indent="0">
              <a:buNone/>
            </a:pPr>
            <a:r>
              <a:rPr lang="en-US" sz="1500" b="1" dirty="0">
                <a:solidFill>
                  <a:srgbClr val="142B4A"/>
                </a:solidFill>
                <a:latin typeface="Cambria" pitchFamily="34" charset="0"/>
                <a:ea typeface="Cambria" pitchFamily="34" charset="-122"/>
                <a:cs typeface="Cambria" pitchFamily="34" charset="-120"/>
              </a:rPr>
              <a:t>4  </a:t>
            </a:r>
            <a:r>
              <a:rPr lang="en-US" sz="1100" b="1" dirty="0">
                <a:solidFill>
                  <a:srgbClr val="142B4A"/>
                </a:solidFill>
              </a:rPr>
              <a:t>to dim_project</a:t>
            </a:r>
            <a:endParaRPr lang="en-US" sz="1200" dirty="0"/>
          </a:p>
        </p:txBody>
      </p:sp>
      <p:sp>
        <p:nvSpPr>
          <p:cNvPr id="9" name="Text 6"/>
          <p:cNvSpPr txBox="1"/>
          <p:nvPr/>
        </p:nvSpPr>
        <p:spPr>
          <a:xfrm>
            <a:off x="658368" y="1975104"/>
            <a:ext cx="2157984" cy="548640"/>
          </a:xfrm>
          <a:prstGeom prst="rect">
            <a:avLst/>
          </a:prstGeom>
          <a:noFill/>
          <a:ln/>
        </p:spPr>
        <p:txBody>
          <a:bodyPr wrap="square" lIns="0" tIns="0" rIns="0" bIns="0" rtlCol="0" anchor="t"/>
          <a:lstStyle/>
          <a:p>
            <a:pPr marL="0" indent="0">
              <a:buNone/>
            </a:pPr>
            <a:r>
              <a:rPr lang="en-US" sz="1050" dirty="0">
                <a:solidFill>
                  <a:srgbClr val="142B4A"/>
                </a:solidFill>
              </a:rPr>
              <a:t>project_name, property_type, tenure, completion_date</a:t>
            </a:r>
            <a:endParaRPr lang="en-US" sz="1050" dirty="0"/>
          </a:p>
        </p:txBody>
      </p:sp>
      <p:sp>
        <p:nvSpPr>
          <p:cNvPr id="10" name="Shape 7"/>
          <p:cNvSpPr/>
          <p:nvPr/>
        </p:nvSpPr>
        <p:spPr>
          <a:xfrm>
            <a:off x="8851392" y="1682555"/>
            <a:ext cx="2834640" cy="896112"/>
          </a:xfrm>
          <a:prstGeom prst="roundRect">
            <a:avLst>
              <a:gd name="adj" fmla="val 7143"/>
            </a:avLst>
          </a:prstGeom>
          <a:solidFill>
            <a:srgbClr val="FFFFFF"/>
          </a:solidFill>
          <a:ln w="19050">
            <a:solidFill>
              <a:srgbClr val="6F8BA8"/>
            </a:solidFill>
            <a:prstDash val="solid"/>
          </a:ln>
        </p:spPr>
      </p:sp>
      <p:sp>
        <p:nvSpPr>
          <p:cNvPr id="11" name="Text 8"/>
          <p:cNvSpPr txBox="1"/>
          <p:nvPr/>
        </p:nvSpPr>
        <p:spPr>
          <a:xfrm>
            <a:off x="8954086" y="1707642"/>
            <a:ext cx="2615184" cy="256032"/>
          </a:xfrm>
          <a:prstGeom prst="rect">
            <a:avLst/>
          </a:prstGeom>
          <a:noFill/>
          <a:ln/>
        </p:spPr>
        <p:txBody>
          <a:bodyPr wrap="square" lIns="0" tIns="0" rIns="0" bIns="0" rtlCol="0" anchor="ctr"/>
          <a:lstStyle/>
          <a:p>
            <a:pPr marL="0" indent="0">
              <a:buNone/>
            </a:pPr>
            <a:r>
              <a:rPr lang="en-US" sz="1500" b="1" dirty="0">
                <a:solidFill>
                  <a:srgbClr val="6F8BA8"/>
                </a:solidFill>
                <a:latin typeface="Cambria" pitchFamily="34" charset="0"/>
                <a:ea typeface="Cambria" pitchFamily="34" charset="-122"/>
                <a:cs typeface="Cambria" pitchFamily="34" charset="-120"/>
              </a:rPr>
              <a:t>6  </a:t>
            </a:r>
            <a:r>
              <a:rPr lang="en-US" sz="1100" b="1" dirty="0">
                <a:solidFill>
                  <a:srgbClr val="6F8BA8"/>
                </a:solidFill>
              </a:rPr>
              <a:t>to dim_location</a:t>
            </a:r>
            <a:endParaRPr lang="en-US" sz="1200" dirty="0"/>
          </a:p>
        </p:txBody>
      </p:sp>
      <p:sp>
        <p:nvSpPr>
          <p:cNvPr id="12" name="Text 9"/>
          <p:cNvSpPr txBox="1"/>
          <p:nvPr/>
        </p:nvSpPr>
        <p:spPr>
          <a:xfrm>
            <a:off x="8961120" y="2011739"/>
            <a:ext cx="2615184" cy="548640"/>
          </a:xfrm>
          <a:prstGeom prst="rect">
            <a:avLst/>
          </a:prstGeom>
          <a:noFill/>
          <a:ln/>
        </p:spPr>
        <p:txBody>
          <a:bodyPr wrap="square" lIns="0" tIns="0" rIns="0" bIns="0" rtlCol="0" anchor="t"/>
          <a:lstStyle/>
          <a:p>
            <a:pPr marL="0" indent="0">
              <a:buNone/>
            </a:pPr>
            <a:r>
              <a:rPr lang="en-US" sz="1050" dirty="0">
                <a:solidFill>
                  <a:srgbClr val="142B4A"/>
                </a:solidFill>
              </a:rPr>
              <a:t>address, postal_code, postal_district, postal_sector, planning_region, planning_area</a:t>
            </a:r>
            <a:endParaRPr lang="en-US" sz="1050" dirty="0"/>
          </a:p>
        </p:txBody>
      </p:sp>
      <p:sp>
        <p:nvSpPr>
          <p:cNvPr id="13" name="Shape 10"/>
          <p:cNvSpPr/>
          <p:nvPr/>
        </p:nvSpPr>
        <p:spPr>
          <a:xfrm>
            <a:off x="3842512" y="1665615"/>
            <a:ext cx="4023360" cy="896112"/>
          </a:xfrm>
          <a:prstGeom prst="roundRect">
            <a:avLst>
              <a:gd name="adj" fmla="val 7143"/>
            </a:avLst>
          </a:prstGeom>
          <a:solidFill>
            <a:srgbClr val="FFFFFF"/>
          </a:solidFill>
          <a:ln w="19050">
            <a:solidFill>
              <a:srgbClr val="167D8D"/>
            </a:solidFill>
            <a:prstDash val="solid"/>
          </a:ln>
        </p:spPr>
      </p:sp>
      <p:sp>
        <p:nvSpPr>
          <p:cNvPr id="14" name="Text 11"/>
          <p:cNvSpPr txBox="1"/>
          <p:nvPr/>
        </p:nvSpPr>
        <p:spPr>
          <a:xfrm>
            <a:off x="3952240" y="1711335"/>
            <a:ext cx="3803904" cy="256032"/>
          </a:xfrm>
          <a:prstGeom prst="rect">
            <a:avLst/>
          </a:prstGeom>
          <a:noFill/>
          <a:ln/>
        </p:spPr>
        <p:txBody>
          <a:bodyPr wrap="square" lIns="0" tIns="0" rIns="0" bIns="0" rtlCol="0" anchor="ctr"/>
          <a:lstStyle/>
          <a:p>
            <a:pPr marL="0" indent="0">
              <a:buNone/>
            </a:pPr>
            <a:r>
              <a:rPr lang="en-US" sz="1500" b="1" dirty="0">
                <a:solidFill>
                  <a:srgbClr val="167D8D"/>
                </a:solidFill>
                <a:latin typeface="Cambria" pitchFamily="34" charset="0"/>
                <a:ea typeface="Cambria" pitchFamily="34" charset="-122"/>
                <a:cs typeface="Cambria" pitchFamily="34" charset="-120"/>
              </a:rPr>
              <a:t>11  </a:t>
            </a:r>
            <a:r>
              <a:rPr lang="en-US" sz="1100" b="1" dirty="0">
                <a:solidFill>
                  <a:srgbClr val="167D8D"/>
                </a:solidFill>
              </a:rPr>
              <a:t>to fact_transaction</a:t>
            </a:r>
            <a:endParaRPr lang="en-US" sz="1200" dirty="0"/>
          </a:p>
        </p:txBody>
      </p:sp>
      <p:sp>
        <p:nvSpPr>
          <p:cNvPr id="15" name="Text 12"/>
          <p:cNvSpPr txBox="1"/>
          <p:nvPr/>
        </p:nvSpPr>
        <p:spPr>
          <a:xfrm>
            <a:off x="3952240" y="1994799"/>
            <a:ext cx="3803904" cy="548640"/>
          </a:xfrm>
          <a:prstGeom prst="rect">
            <a:avLst/>
          </a:prstGeom>
          <a:noFill/>
          <a:ln/>
        </p:spPr>
        <p:txBody>
          <a:bodyPr wrap="square" lIns="0" tIns="0" rIns="0" bIns="0" rtlCol="0" anchor="t"/>
          <a:lstStyle/>
          <a:p>
            <a:pPr marL="0" indent="0">
              <a:buNone/>
            </a:pPr>
            <a:r>
              <a:rPr lang="en-US" sz="1050" dirty="0">
                <a:solidFill>
                  <a:srgbClr val="142B4A"/>
                </a:solidFill>
              </a:rPr>
              <a:t>sale_date, transacted_price, nett_price, area_sqft, area_sqm, unit_price_psf, unit_price_psm, number_of_units, type_of_sale, type_of_area, purchaser_address_indicator</a:t>
            </a:r>
            <a:endParaRPr lang="en-US" sz="1050" dirty="0"/>
          </a:p>
        </p:txBody>
      </p:sp>
      <p:sp>
        <p:nvSpPr>
          <p:cNvPr id="19" name="Text 16"/>
          <p:cNvSpPr txBox="1"/>
          <p:nvPr/>
        </p:nvSpPr>
        <p:spPr>
          <a:xfrm>
            <a:off x="548640" y="2615184"/>
            <a:ext cx="11094415" cy="237744"/>
          </a:xfrm>
          <a:prstGeom prst="rect">
            <a:avLst/>
          </a:prstGeom>
          <a:noFill/>
          <a:ln/>
        </p:spPr>
        <p:txBody>
          <a:bodyPr wrap="square" lIns="0" tIns="0" rIns="0" bIns="0" rtlCol="0" anchor="ctr"/>
          <a:lstStyle/>
          <a:p>
            <a:pPr marL="0" indent="0">
              <a:buNone/>
            </a:pPr>
            <a:r>
              <a:rPr lang="en-US" sz="1150" b="1" dirty="0">
                <a:solidFill>
                  <a:srgbClr val="167D8D"/>
                </a:solidFill>
              </a:rPr>
              <a:t>THE STAR</a:t>
            </a:r>
            <a:r>
              <a:rPr lang="en-US" sz="1150" dirty="0">
                <a:solidFill>
                  <a:srgbClr val="142B4A"/>
                </a:solidFill>
              </a:rPr>
              <a:t> creates 5 more:  3 surrogate keys + 2 calculated measures</a:t>
            </a:r>
            <a:endParaRPr lang="en-US" sz="1150" dirty="0"/>
          </a:p>
        </p:txBody>
      </p:sp>
      <p:sp>
        <p:nvSpPr>
          <p:cNvPr id="20" name="Shape 17"/>
          <p:cNvSpPr/>
          <p:nvPr/>
        </p:nvSpPr>
        <p:spPr>
          <a:xfrm>
            <a:off x="548640" y="2944368"/>
            <a:ext cx="2788920" cy="2514600"/>
          </a:xfrm>
          <a:prstGeom prst="roundRect">
            <a:avLst>
              <a:gd name="adj" fmla="val 2545"/>
            </a:avLst>
          </a:prstGeom>
          <a:solidFill>
            <a:srgbClr val="FFFFFF"/>
          </a:solidFill>
          <a:ln w="22225">
            <a:solidFill>
              <a:srgbClr val="142B4A"/>
            </a:solidFill>
            <a:prstDash val="solid"/>
          </a:ln>
        </p:spPr>
      </p:sp>
      <p:sp>
        <p:nvSpPr>
          <p:cNvPr id="21" name="Text 18"/>
          <p:cNvSpPr txBox="1"/>
          <p:nvPr/>
        </p:nvSpPr>
        <p:spPr>
          <a:xfrm>
            <a:off x="685800" y="3035808"/>
            <a:ext cx="2514600" cy="274320"/>
          </a:xfrm>
          <a:prstGeom prst="rect">
            <a:avLst/>
          </a:prstGeom>
          <a:noFill/>
          <a:ln/>
        </p:spPr>
        <p:txBody>
          <a:bodyPr wrap="square" lIns="0" tIns="0" rIns="0" bIns="0" rtlCol="0" anchor="ctr"/>
          <a:lstStyle/>
          <a:p>
            <a:pPr marL="0" indent="0">
              <a:buNone/>
            </a:pPr>
            <a:r>
              <a:rPr lang="en-US" sz="1400" b="1" dirty="0">
                <a:solidFill>
                  <a:srgbClr val="142B4A"/>
                </a:solidFill>
                <a:latin typeface="Cambria" pitchFamily="34" charset="0"/>
                <a:ea typeface="Cambria" pitchFamily="34" charset="-122"/>
                <a:cs typeface="Cambria" pitchFamily="34" charset="-120"/>
              </a:rPr>
              <a:t>dim_project</a:t>
            </a:r>
            <a:r>
              <a:rPr lang="en-US" sz="1100" dirty="0">
                <a:solidFill>
                  <a:srgbClr val="55657A"/>
                </a:solidFill>
              </a:rPr>
              <a:t>   (5 columns)</a:t>
            </a:r>
            <a:endParaRPr lang="en-US" sz="1200" dirty="0"/>
          </a:p>
        </p:txBody>
      </p:sp>
      <p:sp>
        <p:nvSpPr>
          <p:cNvPr id="22" name="Shape 19"/>
          <p:cNvSpPr/>
          <p:nvPr/>
        </p:nvSpPr>
        <p:spPr>
          <a:xfrm>
            <a:off x="685800" y="3401568"/>
            <a:ext cx="2514600" cy="242316"/>
          </a:xfrm>
          <a:prstGeom prst="rect">
            <a:avLst/>
          </a:prstGeom>
          <a:solidFill>
            <a:srgbClr val="F4F6F8"/>
          </a:solidFill>
          <a:ln w="6350">
            <a:solidFill>
              <a:srgbClr val="F4F6F8"/>
            </a:solidFill>
            <a:prstDash val="solid"/>
          </a:ln>
        </p:spPr>
      </p:sp>
      <p:sp>
        <p:nvSpPr>
          <p:cNvPr id="23" name="Text 20"/>
          <p:cNvSpPr txBox="1"/>
          <p:nvPr/>
        </p:nvSpPr>
        <p:spPr>
          <a:xfrm>
            <a:off x="777240" y="3401568"/>
            <a:ext cx="1874520" cy="242316"/>
          </a:xfrm>
          <a:prstGeom prst="rect">
            <a:avLst/>
          </a:prstGeom>
          <a:noFill/>
          <a:ln/>
        </p:spPr>
        <p:txBody>
          <a:bodyPr wrap="square" lIns="0" tIns="0" rIns="0" bIns="0" rtlCol="0" anchor="ctr"/>
          <a:lstStyle/>
          <a:p>
            <a:pPr marL="0" indent="0">
              <a:buNone/>
            </a:pPr>
            <a:r>
              <a:rPr lang="en-US" sz="1100" b="1" dirty="0">
                <a:solidFill>
                  <a:srgbClr val="142B4A"/>
                </a:solidFill>
              </a:rPr>
              <a:t>project_key</a:t>
            </a:r>
            <a:endParaRPr lang="en-US" sz="1100" dirty="0"/>
          </a:p>
        </p:txBody>
      </p:sp>
      <p:sp>
        <p:nvSpPr>
          <p:cNvPr id="24" name="Shape 21"/>
          <p:cNvSpPr/>
          <p:nvPr/>
        </p:nvSpPr>
        <p:spPr>
          <a:xfrm>
            <a:off x="2651760" y="3433572"/>
            <a:ext cx="457200" cy="178308"/>
          </a:xfrm>
          <a:prstGeom prst="roundRect">
            <a:avLst>
              <a:gd name="adj" fmla="val 25641"/>
            </a:avLst>
          </a:prstGeom>
          <a:solidFill>
            <a:srgbClr val="167D8D"/>
          </a:solidFill>
          <a:ln w="6350">
            <a:solidFill>
              <a:srgbClr val="167D8D"/>
            </a:solidFill>
            <a:prstDash val="solid"/>
          </a:ln>
        </p:spPr>
      </p:sp>
      <p:sp>
        <p:nvSpPr>
          <p:cNvPr id="25" name="Text 22"/>
          <p:cNvSpPr txBox="1"/>
          <p:nvPr/>
        </p:nvSpPr>
        <p:spPr>
          <a:xfrm>
            <a:off x="2651760" y="3433572"/>
            <a:ext cx="457200" cy="178308"/>
          </a:xfrm>
          <a:prstGeom prst="rect">
            <a:avLst/>
          </a:prstGeom>
          <a:noFill/>
          <a:ln/>
        </p:spPr>
        <p:txBody>
          <a:bodyPr wrap="square" lIns="0" tIns="0" rIns="0" bIns="0" rtlCol="0" anchor="ctr"/>
          <a:lstStyle/>
          <a:p>
            <a:pPr marL="0" indent="0" algn="ctr">
              <a:buNone/>
            </a:pPr>
            <a:r>
              <a:rPr lang="en-US" sz="950" b="1" dirty="0">
                <a:solidFill>
                  <a:srgbClr val="FFFFFF"/>
                </a:solidFill>
              </a:rPr>
              <a:t>NEW</a:t>
            </a:r>
            <a:endParaRPr lang="en-US" sz="950" dirty="0"/>
          </a:p>
        </p:txBody>
      </p:sp>
      <p:sp>
        <p:nvSpPr>
          <p:cNvPr id="26" name="Text 23"/>
          <p:cNvSpPr txBox="1"/>
          <p:nvPr/>
        </p:nvSpPr>
        <p:spPr>
          <a:xfrm>
            <a:off x="777240" y="3643884"/>
            <a:ext cx="2331720" cy="242316"/>
          </a:xfrm>
          <a:prstGeom prst="rect">
            <a:avLst/>
          </a:prstGeom>
          <a:noFill/>
          <a:ln/>
        </p:spPr>
        <p:txBody>
          <a:bodyPr wrap="square" lIns="0" tIns="0" rIns="0" bIns="0" rtlCol="0" anchor="ctr"/>
          <a:lstStyle/>
          <a:p>
            <a:pPr marL="0" indent="0">
              <a:buNone/>
            </a:pPr>
            <a:r>
              <a:rPr lang="en-US" sz="1100" dirty="0">
                <a:solidFill>
                  <a:srgbClr val="142B4A"/>
                </a:solidFill>
              </a:rPr>
              <a:t>project_name</a:t>
            </a:r>
            <a:endParaRPr lang="en-US" sz="1100" dirty="0"/>
          </a:p>
        </p:txBody>
      </p:sp>
      <p:sp>
        <p:nvSpPr>
          <p:cNvPr id="27" name="Shape 24"/>
          <p:cNvSpPr/>
          <p:nvPr/>
        </p:nvSpPr>
        <p:spPr>
          <a:xfrm>
            <a:off x="685800" y="3886200"/>
            <a:ext cx="2514600" cy="242316"/>
          </a:xfrm>
          <a:prstGeom prst="rect">
            <a:avLst/>
          </a:prstGeom>
          <a:solidFill>
            <a:srgbClr val="F4F6F8"/>
          </a:solidFill>
          <a:ln w="6350">
            <a:solidFill>
              <a:srgbClr val="F4F6F8"/>
            </a:solidFill>
            <a:prstDash val="solid"/>
          </a:ln>
        </p:spPr>
      </p:sp>
      <p:sp>
        <p:nvSpPr>
          <p:cNvPr id="28" name="Text 25"/>
          <p:cNvSpPr txBox="1"/>
          <p:nvPr/>
        </p:nvSpPr>
        <p:spPr>
          <a:xfrm>
            <a:off x="777240" y="3886200"/>
            <a:ext cx="2331720" cy="242316"/>
          </a:xfrm>
          <a:prstGeom prst="rect">
            <a:avLst/>
          </a:prstGeom>
          <a:noFill/>
          <a:ln/>
        </p:spPr>
        <p:txBody>
          <a:bodyPr wrap="square" lIns="0" tIns="0" rIns="0" bIns="0" rtlCol="0" anchor="ctr"/>
          <a:lstStyle/>
          <a:p>
            <a:pPr marL="0" indent="0">
              <a:buNone/>
            </a:pPr>
            <a:r>
              <a:rPr lang="en-US" sz="1100" dirty="0">
                <a:solidFill>
                  <a:srgbClr val="142B4A"/>
                </a:solidFill>
              </a:rPr>
              <a:t>property_type</a:t>
            </a:r>
            <a:endParaRPr lang="en-US" sz="1100" dirty="0"/>
          </a:p>
        </p:txBody>
      </p:sp>
      <p:sp>
        <p:nvSpPr>
          <p:cNvPr id="29" name="Text 26"/>
          <p:cNvSpPr txBox="1"/>
          <p:nvPr/>
        </p:nvSpPr>
        <p:spPr>
          <a:xfrm>
            <a:off x="777240" y="4128516"/>
            <a:ext cx="2331720" cy="242316"/>
          </a:xfrm>
          <a:prstGeom prst="rect">
            <a:avLst/>
          </a:prstGeom>
          <a:noFill/>
          <a:ln/>
        </p:spPr>
        <p:txBody>
          <a:bodyPr wrap="square" lIns="0" tIns="0" rIns="0" bIns="0" rtlCol="0" anchor="ctr"/>
          <a:lstStyle/>
          <a:p>
            <a:pPr marL="0" indent="0">
              <a:buNone/>
            </a:pPr>
            <a:r>
              <a:rPr lang="en-US" sz="1100" dirty="0">
                <a:solidFill>
                  <a:srgbClr val="142B4A"/>
                </a:solidFill>
              </a:rPr>
              <a:t>tenure</a:t>
            </a:r>
            <a:endParaRPr lang="en-US" sz="1100" dirty="0"/>
          </a:p>
        </p:txBody>
      </p:sp>
      <p:sp>
        <p:nvSpPr>
          <p:cNvPr id="98" name="Shape 24"/>
          <p:cNvSpPr/>
          <p:nvPr/>
        </p:nvSpPr>
        <p:spPr>
          <a:xfrm>
            <a:off x="685800" y="4370832"/>
            <a:ext cx="2514600" cy="242316"/>
          </a:xfrm>
          <a:prstGeom prst="rect">
            <a:avLst/>
          </a:prstGeom>
          <a:solidFill>
            <a:srgbClr val="F4F6F8"/>
          </a:solidFill>
          <a:ln w="6350">
            <a:solidFill>
              <a:srgbClr val="F4F6F8"/>
            </a:solidFill>
            <a:prstDash val="solid"/>
          </a:ln>
        </p:spPr>
      </p:sp>
      <p:sp>
        <p:nvSpPr>
          <p:cNvPr id="99" name="Text 99"/>
          <p:cNvSpPr txBox="1"/>
          <p:nvPr/>
        </p:nvSpPr>
        <p:spPr>
          <a:xfrm>
            <a:off x="777240" y="4370832"/>
            <a:ext cx="2331720" cy="242316"/>
          </a:xfrm>
          <a:prstGeom prst="rect">
            <a:avLst/>
          </a:prstGeom>
          <a:noFill/>
          <a:ln/>
        </p:spPr>
        <p:txBody>
          <a:bodyPr wrap="square" lIns="0" tIns="0" rIns="0" bIns="0" rtlCol="0" anchor="ctr"/>
          <a:lstStyle/>
          <a:p>
            <a:pPr marL="0" indent="0">
              <a:buNone/>
            </a:pPr>
            <a:r>
              <a:rPr lang="en-US" sz="1100" dirty="0">
                <a:solidFill>
                  <a:srgbClr val="142B4A"/>
                </a:solidFill>
              </a:rPr>
              <a:t>completion_date</a:t>
            </a:r>
            <a:endParaRPr lang="en-US" sz="1100" dirty="0"/>
          </a:p>
        </p:txBody>
      </p:sp>
      <p:sp>
        <p:nvSpPr>
          <p:cNvPr id="37" name="Shape 34"/>
          <p:cNvSpPr/>
          <p:nvPr/>
        </p:nvSpPr>
        <p:spPr>
          <a:xfrm>
            <a:off x="8851392" y="2944368"/>
            <a:ext cx="2788920" cy="2514600"/>
          </a:xfrm>
          <a:prstGeom prst="roundRect">
            <a:avLst>
              <a:gd name="adj" fmla="val 2545"/>
            </a:avLst>
          </a:prstGeom>
          <a:solidFill>
            <a:srgbClr val="FFFFFF"/>
          </a:solidFill>
          <a:ln w="22225">
            <a:solidFill>
              <a:srgbClr val="6F8BA8"/>
            </a:solidFill>
            <a:prstDash val="solid"/>
          </a:ln>
        </p:spPr>
      </p:sp>
      <p:sp>
        <p:nvSpPr>
          <p:cNvPr id="38" name="Text 35"/>
          <p:cNvSpPr txBox="1"/>
          <p:nvPr/>
        </p:nvSpPr>
        <p:spPr>
          <a:xfrm>
            <a:off x="8988552" y="3035808"/>
            <a:ext cx="2514600" cy="274320"/>
          </a:xfrm>
          <a:prstGeom prst="rect">
            <a:avLst/>
          </a:prstGeom>
          <a:noFill/>
          <a:ln/>
        </p:spPr>
        <p:txBody>
          <a:bodyPr wrap="square" lIns="0" tIns="0" rIns="0" bIns="0" rtlCol="0" anchor="ctr"/>
          <a:lstStyle/>
          <a:p>
            <a:pPr marL="0" indent="0">
              <a:buNone/>
            </a:pPr>
            <a:r>
              <a:rPr lang="en-US" sz="1400" b="1" dirty="0">
                <a:solidFill>
                  <a:srgbClr val="6F8BA8"/>
                </a:solidFill>
                <a:latin typeface="Cambria" pitchFamily="34" charset="0"/>
                <a:ea typeface="Cambria" pitchFamily="34" charset="-122"/>
                <a:cs typeface="Cambria" pitchFamily="34" charset="-120"/>
              </a:rPr>
              <a:t>dim_location</a:t>
            </a:r>
            <a:r>
              <a:rPr lang="en-US" sz="1100" dirty="0">
                <a:solidFill>
                  <a:srgbClr val="55657A"/>
                </a:solidFill>
              </a:rPr>
              <a:t>   (7 columns)</a:t>
            </a:r>
            <a:endParaRPr lang="en-US" sz="1200" dirty="0"/>
          </a:p>
        </p:txBody>
      </p:sp>
      <p:sp>
        <p:nvSpPr>
          <p:cNvPr id="39" name="Shape 36"/>
          <p:cNvSpPr/>
          <p:nvPr/>
        </p:nvSpPr>
        <p:spPr>
          <a:xfrm>
            <a:off x="8988552" y="3401568"/>
            <a:ext cx="2514600" cy="242316"/>
          </a:xfrm>
          <a:prstGeom prst="rect">
            <a:avLst/>
          </a:prstGeom>
          <a:solidFill>
            <a:srgbClr val="F4F6F8"/>
          </a:solidFill>
          <a:ln w="6350">
            <a:solidFill>
              <a:srgbClr val="F4F6F8"/>
            </a:solidFill>
            <a:prstDash val="solid"/>
          </a:ln>
        </p:spPr>
      </p:sp>
      <p:sp>
        <p:nvSpPr>
          <p:cNvPr id="40" name="Text 37"/>
          <p:cNvSpPr txBox="1"/>
          <p:nvPr/>
        </p:nvSpPr>
        <p:spPr>
          <a:xfrm>
            <a:off x="9079992" y="3401568"/>
            <a:ext cx="1874520" cy="242316"/>
          </a:xfrm>
          <a:prstGeom prst="rect">
            <a:avLst/>
          </a:prstGeom>
          <a:noFill/>
          <a:ln/>
        </p:spPr>
        <p:txBody>
          <a:bodyPr wrap="square" lIns="0" tIns="0" rIns="0" bIns="0" rtlCol="0" anchor="ctr"/>
          <a:lstStyle/>
          <a:p>
            <a:pPr marL="0" indent="0">
              <a:buNone/>
            </a:pPr>
            <a:r>
              <a:rPr lang="en-US" sz="1100" b="1" dirty="0">
                <a:solidFill>
                  <a:srgbClr val="142B4A"/>
                </a:solidFill>
              </a:rPr>
              <a:t>location_key</a:t>
            </a:r>
            <a:endParaRPr lang="en-US" sz="1100" dirty="0"/>
          </a:p>
        </p:txBody>
      </p:sp>
      <p:sp>
        <p:nvSpPr>
          <p:cNvPr id="41" name="Shape 38"/>
          <p:cNvSpPr/>
          <p:nvPr/>
        </p:nvSpPr>
        <p:spPr>
          <a:xfrm>
            <a:off x="10954512" y="3433572"/>
            <a:ext cx="457200" cy="178308"/>
          </a:xfrm>
          <a:prstGeom prst="roundRect">
            <a:avLst>
              <a:gd name="adj" fmla="val 25641"/>
            </a:avLst>
          </a:prstGeom>
          <a:solidFill>
            <a:srgbClr val="167D8D"/>
          </a:solidFill>
          <a:ln w="6350">
            <a:solidFill>
              <a:srgbClr val="167D8D"/>
            </a:solidFill>
            <a:prstDash val="solid"/>
          </a:ln>
        </p:spPr>
      </p:sp>
      <p:sp>
        <p:nvSpPr>
          <p:cNvPr id="42" name="Text 39"/>
          <p:cNvSpPr txBox="1"/>
          <p:nvPr/>
        </p:nvSpPr>
        <p:spPr>
          <a:xfrm>
            <a:off x="10954512" y="3433572"/>
            <a:ext cx="457200" cy="178308"/>
          </a:xfrm>
          <a:prstGeom prst="rect">
            <a:avLst/>
          </a:prstGeom>
          <a:noFill/>
          <a:ln/>
        </p:spPr>
        <p:txBody>
          <a:bodyPr wrap="square" lIns="0" tIns="0" rIns="0" bIns="0" rtlCol="0" anchor="ctr"/>
          <a:lstStyle/>
          <a:p>
            <a:pPr marL="0" indent="0" algn="ctr">
              <a:buNone/>
            </a:pPr>
            <a:r>
              <a:rPr lang="en-US" sz="950" b="1" dirty="0">
                <a:solidFill>
                  <a:srgbClr val="FFFFFF"/>
                </a:solidFill>
              </a:rPr>
              <a:t>NEW</a:t>
            </a:r>
            <a:endParaRPr lang="en-US" sz="950" dirty="0"/>
          </a:p>
        </p:txBody>
      </p:sp>
      <p:sp>
        <p:nvSpPr>
          <p:cNvPr id="43" name="Text 40"/>
          <p:cNvSpPr txBox="1"/>
          <p:nvPr/>
        </p:nvSpPr>
        <p:spPr>
          <a:xfrm>
            <a:off x="9079992" y="3643884"/>
            <a:ext cx="2331720" cy="242316"/>
          </a:xfrm>
          <a:prstGeom prst="rect">
            <a:avLst/>
          </a:prstGeom>
          <a:noFill/>
          <a:ln/>
        </p:spPr>
        <p:txBody>
          <a:bodyPr wrap="square" lIns="0" tIns="0" rIns="0" bIns="0" rtlCol="0" anchor="ctr"/>
          <a:lstStyle/>
          <a:p>
            <a:pPr marL="0" indent="0">
              <a:buNone/>
            </a:pPr>
            <a:r>
              <a:rPr lang="en-US" sz="1100" dirty="0">
                <a:solidFill>
                  <a:srgbClr val="142B4A"/>
                </a:solidFill>
              </a:rPr>
              <a:t>address</a:t>
            </a:r>
            <a:endParaRPr lang="en-US" sz="1100" dirty="0"/>
          </a:p>
        </p:txBody>
      </p:sp>
      <p:sp>
        <p:nvSpPr>
          <p:cNvPr id="44" name="Shape 41"/>
          <p:cNvSpPr/>
          <p:nvPr/>
        </p:nvSpPr>
        <p:spPr>
          <a:xfrm>
            <a:off x="8988552" y="3886200"/>
            <a:ext cx="2514600" cy="242316"/>
          </a:xfrm>
          <a:prstGeom prst="rect">
            <a:avLst/>
          </a:prstGeom>
          <a:solidFill>
            <a:srgbClr val="F4F6F8"/>
          </a:solidFill>
          <a:ln w="6350">
            <a:solidFill>
              <a:srgbClr val="F4F6F8"/>
            </a:solidFill>
            <a:prstDash val="solid"/>
          </a:ln>
        </p:spPr>
      </p:sp>
      <p:sp>
        <p:nvSpPr>
          <p:cNvPr id="45" name="Text 42"/>
          <p:cNvSpPr txBox="1"/>
          <p:nvPr/>
        </p:nvSpPr>
        <p:spPr>
          <a:xfrm>
            <a:off x="9079992" y="3886200"/>
            <a:ext cx="2331720" cy="242316"/>
          </a:xfrm>
          <a:prstGeom prst="rect">
            <a:avLst/>
          </a:prstGeom>
          <a:noFill/>
          <a:ln/>
        </p:spPr>
        <p:txBody>
          <a:bodyPr wrap="square" lIns="0" tIns="0" rIns="0" bIns="0" rtlCol="0" anchor="ctr"/>
          <a:lstStyle/>
          <a:p>
            <a:pPr marL="0" indent="0">
              <a:buNone/>
            </a:pPr>
            <a:r>
              <a:rPr lang="en-US" sz="1100" dirty="0">
                <a:solidFill>
                  <a:srgbClr val="142B4A"/>
                </a:solidFill>
              </a:rPr>
              <a:t>postal_code</a:t>
            </a:r>
            <a:endParaRPr lang="en-US" sz="1100" dirty="0"/>
          </a:p>
        </p:txBody>
      </p:sp>
      <p:sp>
        <p:nvSpPr>
          <p:cNvPr id="46" name="Text 43"/>
          <p:cNvSpPr txBox="1"/>
          <p:nvPr/>
        </p:nvSpPr>
        <p:spPr>
          <a:xfrm>
            <a:off x="9079992" y="4128516"/>
            <a:ext cx="2331720" cy="242316"/>
          </a:xfrm>
          <a:prstGeom prst="rect">
            <a:avLst/>
          </a:prstGeom>
          <a:noFill/>
          <a:ln/>
        </p:spPr>
        <p:txBody>
          <a:bodyPr wrap="square" lIns="0" tIns="0" rIns="0" bIns="0" rtlCol="0" anchor="ctr"/>
          <a:lstStyle/>
          <a:p>
            <a:pPr marL="0" indent="0">
              <a:buNone/>
            </a:pPr>
            <a:r>
              <a:rPr lang="en-US" sz="1100" dirty="0">
                <a:solidFill>
                  <a:srgbClr val="142B4A"/>
                </a:solidFill>
              </a:rPr>
              <a:t>postal_district</a:t>
            </a:r>
            <a:endParaRPr lang="en-US" sz="1100" dirty="0"/>
          </a:p>
        </p:txBody>
      </p:sp>
      <p:sp>
        <p:nvSpPr>
          <p:cNvPr id="47" name="Shape 44"/>
          <p:cNvSpPr/>
          <p:nvPr/>
        </p:nvSpPr>
        <p:spPr>
          <a:xfrm>
            <a:off x="8988552" y="4370832"/>
            <a:ext cx="2514600" cy="242316"/>
          </a:xfrm>
          <a:prstGeom prst="rect">
            <a:avLst/>
          </a:prstGeom>
          <a:solidFill>
            <a:srgbClr val="F4F6F8"/>
          </a:solidFill>
          <a:ln w="6350">
            <a:solidFill>
              <a:srgbClr val="F4F6F8"/>
            </a:solidFill>
            <a:prstDash val="solid"/>
          </a:ln>
        </p:spPr>
      </p:sp>
      <p:sp>
        <p:nvSpPr>
          <p:cNvPr id="48" name="Text 45"/>
          <p:cNvSpPr txBox="1"/>
          <p:nvPr/>
        </p:nvSpPr>
        <p:spPr>
          <a:xfrm>
            <a:off x="9079992" y="4370832"/>
            <a:ext cx="2331720" cy="242316"/>
          </a:xfrm>
          <a:prstGeom prst="rect">
            <a:avLst/>
          </a:prstGeom>
          <a:noFill/>
          <a:ln/>
        </p:spPr>
        <p:txBody>
          <a:bodyPr wrap="square" lIns="0" tIns="0" rIns="0" bIns="0" rtlCol="0" anchor="ctr"/>
          <a:lstStyle/>
          <a:p>
            <a:pPr marL="0" indent="0">
              <a:buNone/>
            </a:pPr>
            <a:r>
              <a:rPr lang="en-US" sz="1100" dirty="0">
                <a:solidFill>
                  <a:srgbClr val="142B4A"/>
                </a:solidFill>
              </a:rPr>
              <a:t>postal_sector</a:t>
            </a:r>
            <a:endParaRPr lang="en-US" sz="1100" dirty="0"/>
          </a:p>
        </p:txBody>
      </p:sp>
      <p:sp>
        <p:nvSpPr>
          <p:cNvPr id="49" name="Text 46"/>
          <p:cNvSpPr txBox="1"/>
          <p:nvPr/>
        </p:nvSpPr>
        <p:spPr>
          <a:xfrm>
            <a:off x="9079992" y="4613148"/>
            <a:ext cx="2331720" cy="242316"/>
          </a:xfrm>
          <a:prstGeom prst="rect">
            <a:avLst/>
          </a:prstGeom>
          <a:noFill/>
          <a:ln/>
        </p:spPr>
        <p:txBody>
          <a:bodyPr wrap="square" lIns="0" tIns="0" rIns="0" bIns="0" rtlCol="0" anchor="ctr"/>
          <a:lstStyle/>
          <a:p>
            <a:pPr marL="0" indent="0">
              <a:buNone/>
            </a:pPr>
            <a:r>
              <a:rPr lang="en-US" sz="1100" dirty="0">
                <a:solidFill>
                  <a:srgbClr val="142B4A"/>
                </a:solidFill>
              </a:rPr>
              <a:t>planning_region</a:t>
            </a:r>
            <a:endParaRPr lang="en-US" sz="1100" dirty="0"/>
          </a:p>
        </p:txBody>
      </p:sp>
      <p:sp>
        <p:nvSpPr>
          <p:cNvPr id="50" name="Shape 47"/>
          <p:cNvSpPr/>
          <p:nvPr/>
        </p:nvSpPr>
        <p:spPr>
          <a:xfrm>
            <a:off x="8988552" y="4855464"/>
            <a:ext cx="2514600" cy="242316"/>
          </a:xfrm>
          <a:prstGeom prst="rect">
            <a:avLst/>
          </a:prstGeom>
          <a:solidFill>
            <a:srgbClr val="F4F6F8"/>
          </a:solidFill>
          <a:ln w="6350">
            <a:solidFill>
              <a:srgbClr val="F4F6F8"/>
            </a:solidFill>
            <a:prstDash val="solid"/>
          </a:ln>
        </p:spPr>
      </p:sp>
      <p:sp>
        <p:nvSpPr>
          <p:cNvPr id="51" name="Text 48"/>
          <p:cNvSpPr txBox="1"/>
          <p:nvPr/>
        </p:nvSpPr>
        <p:spPr>
          <a:xfrm>
            <a:off x="9079992" y="4855464"/>
            <a:ext cx="2331720" cy="242316"/>
          </a:xfrm>
          <a:prstGeom prst="rect">
            <a:avLst/>
          </a:prstGeom>
          <a:noFill/>
          <a:ln/>
        </p:spPr>
        <p:txBody>
          <a:bodyPr wrap="square" lIns="0" tIns="0" rIns="0" bIns="0" rtlCol="0" anchor="ctr"/>
          <a:lstStyle/>
          <a:p>
            <a:pPr marL="0" indent="0">
              <a:buNone/>
            </a:pPr>
            <a:r>
              <a:rPr lang="en-US" sz="1100" dirty="0">
                <a:solidFill>
                  <a:srgbClr val="142B4A"/>
                </a:solidFill>
              </a:rPr>
              <a:t>planning_area</a:t>
            </a:r>
            <a:endParaRPr lang="en-US" sz="1100" dirty="0"/>
          </a:p>
        </p:txBody>
      </p:sp>
      <p:sp>
        <p:nvSpPr>
          <p:cNvPr id="52" name="Shape 49"/>
          <p:cNvSpPr/>
          <p:nvPr/>
        </p:nvSpPr>
        <p:spPr>
          <a:xfrm>
            <a:off x="3794760" y="2944368"/>
            <a:ext cx="4599432" cy="2514600"/>
          </a:xfrm>
          <a:prstGeom prst="roundRect">
            <a:avLst>
              <a:gd name="adj" fmla="val 2545"/>
            </a:avLst>
          </a:prstGeom>
          <a:solidFill>
            <a:srgbClr val="FFFFFF"/>
          </a:solidFill>
          <a:ln w="22225">
            <a:solidFill>
              <a:srgbClr val="167D8D"/>
            </a:solidFill>
            <a:prstDash val="solid"/>
          </a:ln>
        </p:spPr>
      </p:sp>
      <p:sp>
        <p:nvSpPr>
          <p:cNvPr id="53" name="Text 50"/>
          <p:cNvSpPr txBox="1"/>
          <p:nvPr/>
        </p:nvSpPr>
        <p:spPr>
          <a:xfrm>
            <a:off x="3931920" y="3035808"/>
            <a:ext cx="4325112" cy="274320"/>
          </a:xfrm>
          <a:prstGeom prst="rect">
            <a:avLst/>
          </a:prstGeom>
          <a:noFill/>
          <a:ln/>
        </p:spPr>
        <p:txBody>
          <a:bodyPr wrap="square" lIns="0" tIns="0" rIns="0" bIns="0" rtlCol="0" anchor="ctr"/>
          <a:lstStyle/>
          <a:p>
            <a:pPr marL="0" indent="0">
              <a:buNone/>
            </a:pPr>
            <a:r>
              <a:rPr lang="en-US" sz="1400" b="1" dirty="0">
                <a:solidFill>
                  <a:srgbClr val="167D8D"/>
                </a:solidFill>
                <a:latin typeface="Cambria" pitchFamily="34" charset="0"/>
                <a:ea typeface="Cambria" pitchFamily="34" charset="-122"/>
                <a:cs typeface="Cambria" pitchFamily="34" charset="-120"/>
              </a:rPr>
              <a:t>fact_transaction</a:t>
            </a:r>
            <a:r>
              <a:rPr lang="en-US" sz="1100" dirty="0">
                <a:solidFill>
                  <a:srgbClr val="55657A"/>
                </a:solidFill>
              </a:rPr>
              <a:t>   (16 columns)</a:t>
            </a:r>
            <a:endParaRPr lang="en-US" sz="1200" dirty="0"/>
          </a:p>
        </p:txBody>
      </p:sp>
      <p:sp>
        <p:nvSpPr>
          <p:cNvPr id="54" name="Shape 51"/>
          <p:cNvSpPr/>
          <p:nvPr/>
        </p:nvSpPr>
        <p:spPr>
          <a:xfrm>
            <a:off x="3931920" y="3401568"/>
            <a:ext cx="2103120" cy="242316"/>
          </a:xfrm>
          <a:prstGeom prst="rect">
            <a:avLst/>
          </a:prstGeom>
          <a:solidFill>
            <a:srgbClr val="F4F6F8"/>
          </a:solidFill>
          <a:ln w="6350">
            <a:solidFill>
              <a:srgbClr val="F4F6F8"/>
            </a:solidFill>
            <a:prstDash val="solid"/>
          </a:ln>
        </p:spPr>
      </p:sp>
      <p:sp>
        <p:nvSpPr>
          <p:cNvPr id="55" name="Text 52"/>
          <p:cNvSpPr txBox="1"/>
          <p:nvPr/>
        </p:nvSpPr>
        <p:spPr>
          <a:xfrm>
            <a:off x="4023360" y="3401568"/>
            <a:ext cx="1463040" cy="242316"/>
          </a:xfrm>
          <a:prstGeom prst="rect">
            <a:avLst/>
          </a:prstGeom>
          <a:noFill/>
          <a:ln/>
        </p:spPr>
        <p:txBody>
          <a:bodyPr wrap="square" lIns="0" tIns="0" rIns="0" bIns="0" rtlCol="0" anchor="ctr"/>
          <a:lstStyle/>
          <a:p>
            <a:pPr marL="0" indent="0">
              <a:buNone/>
            </a:pPr>
            <a:r>
              <a:rPr lang="en-US" sz="1100" b="1" dirty="0">
                <a:solidFill>
                  <a:srgbClr val="142B4A"/>
                </a:solidFill>
              </a:rPr>
              <a:t>transaction_key</a:t>
            </a:r>
            <a:endParaRPr lang="en-US" sz="1100" dirty="0"/>
          </a:p>
        </p:txBody>
      </p:sp>
      <p:sp>
        <p:nvSpPr>
          <p:cNvPr id="56" name="Shape 53"/>
          <p:cNvSpPr/>
          <p:nvPr/>
        </p:nvSpPr>
        <p:spPr>
          <a:xfrm>
            <a:off x="5486400" y="3433572"/>
            <a:ext cx="457200" cy="178308"/>
          </a:xfrm>
          <a:prstGeom prst="roundRect">
            <a:avLst>
              <a:gd name="adj" fmla="val 25641"/>
            </a:avLst>
          </a:prstGeom>
          <a:solidFill>
            <a:srgbClr val="167D8D"/>
          </a:solidFill>
          <a:ln w="6350">
            <a:solidFill>
              <a:srgbClr val="167D8D"/>
            </a:solidFill>
            <a:prstDash val="solid"/>
          </a:ln>
        </p:spPr>
      </p:sp>
      <p:sp>
        <p:nvSpPr>
          <p:cNvPr id="57" name="Text 54"/>
          <p:cNvSpPr txBox="1"/>
          <p:nvPr/>
        </p:nvSpPr>
        <p:spPr>
          <a:xfrm>
            <a:off x="5486400" y="3433572"/>
            <a:ext cx="457200" cy="178308"/>
          </a:xfrm>
          <a:prstGeom prst="rect">
            <a:avLst/>
          </a:prstGeom>
          <a:noFill/>
          <a:ln/>
        </p:spPr>
        <p:txBody>
          <a:bodyPr wrap="square" lIns="0" tIns="0" rIns="0" bIns="0" rtlCol="0" anchor="ctr"/>
          <a:lstStyle/>
          <a:p>
            <a:pPr marL="0" indent="0" algn="ctr">
              <a:buNone/>
            </a:pPr>
            <a:r>
              <a:rPr lang="en-US" sz="950" b="1" dirty="0">
                <a:solidFill>
                  <a:srgbClr val="FFFFFF"/>
                </a:solidFill>
              </a:rPr>
              <a:t>NEW</a:t>
            </a:r>
            <a:endParaRPr lang="en-US" sz="950" dirty="0"/>
          </a:p>
        </p:txBody>
      </p:sp>
      <p:sp>
        <p:nvSpPr>
          <p:cNvPr id="58" name="Text 55"/>
          <p:cNvSpPr txBox="1"/>
          <p:nvPr/>
        </p:nvSpPr>
        <p:spPr>
          <a:xfrm>
            <a:off x="4023360" y="3643884"/>
            <a:ext cx="1463040" cy="242316"/>
          </a:xfrm>
          <a:prstGeom prst="rect">
            <a:avLst/>
          </a:prstGeom>
          <a:noFill/>
          <a:ln/>
        </p:spPr>
        <p:txBody>
          <a:bodyPr wrap="square" lIns="0" tIns="0" rIns="0" bIns="0" rtlCol="0" anchor="ctr"/>
          <a:lstStyle/>
          <a:p>
            <a:pPr marL="0" indent="0">
              <a:buNone/>
            </a:pPr>
            <a:r>
              <a:rPr lang="en-US" sz="1100" b="1" dirty="0">
                <a:solidFill>
                  <a:srgbClr val="142B4A"/>
                </a:solidFill>
              </a:rPr>
              <a:t>project_key</a:t>
            </a:r>
            <a:endParaRPr lang="en-US" sz="1100" dirty="0"/>
          </a:p>
        </p:txBody>
      </p:sp>
      <p:sp>
        <p:nvSpPr>
          <p:cNvPr id="59" name="Shape 56"/>
          <p:cNvSpPr/>
          <p:nvPr/>
        </p:nvSpPr>
        <p:spPr>
          <a:xfrm>
            <a:off x="5486400" y="3675888"/>
            <a:ext cx="457200" cy="178308"/>
          </a:xfrm>
          <a:prstGeom prst="roundRect">
            <a:avLst>
              <a:gd name="adj" fmla="val 25641"/>
            </a:avLst>
          </a:prstGeom>
          <a:solidFill>
            <a:srgbClr val="167D8D"/>
          </a:solidFill>
          <a:ln w="6350">
            <a:solidFill>
              <a:srgbClr val="167D8D"/>
            </a:solidFill>
            <a:prstDash val="solid"/>
          </a:ln>
        </p:spPr>
      </p:sp>
      <p:sp>
        <p:nvSpPr>
          <p:cNvPr id="60" name="Text 57"/>
          <p:cNvSpPr txBox="1"/>
          <p:nvPr/>
        </p:nvSpPr>
        <p:spPr>
          <a:xfrm>
            <a:off x="5486400" y="3675888"/>
            <a:ext cx="457200" cy="178308"/>
          </a:xfrm>
          <a:prstGeom prst="rect">
            <a:avLst/>
          </a:prstGeom>
          <a:noFill/>
          <a:ln/>
        </p:spPr>
        <p:txBody>
          <a:bodyPr wrap="square" lIns="0" tIns="0" rIns="0" bIns="0" rtlCol="0" anchor="ctr"/>
          <a:lstStyle/>
          <a:p>
            <a:pPr marL="0" indent="0" algn="ctr">
              <a:buNone/>
            </a:pPr>
            <a:r>
              <a:rPr lang="en-US" sz="950" b="1" dirty="0">
                <a:solidFill>
                  <a:srgbClr val="FFFFFF"/>
                </a:solidFill>
              </a:rPr>
              <a:t>NEW</a:t>
            </a:r>
            <a:endParaRPr lang="en-US" sz="950" dirty="0"/>
          </a:p>
        </p:txBody>
      </p:sp>
      <p:sp>
        <p:nvSpPr>
          <p:cNvPr id="61" name="Shape 58"/>
          <p:cNvSpPr/>
          <p:nvPr/>
        </p:nvSpPr>
        <p:spPr>
          <a:xfrm>
            <a:off x="3931920" y="3886200"/>
            <a:ext cx="2103120" cy="242316"/>
          </a:xfrm>
          <a:prstGeom prst="rect">
            <a:avLst/>
          </a:prstGeom>
          <a:solidFill>
            <a:srgbClr val="F4F6F8"/>
          </a:solidFill>
          <a:ln w="6350">
            <a:solidFill>
              <a:srgbClr val="F4F6F8"/>
            </a:solidFill>
            <a:prstDash val="solid"/>
          </a:ln>
        </p:spPr>
      </p:sp>
      <p:sp>
        <p:nvSpPr>
          <p:cNvPr id="62" name="Text 59"/>
          <p:cNvSpPr txBox="1"/>
          <p:nvPr/>
        </p:nvSpPr>
        <p:spPr>
          <a:xfrm>
            <a:off x="4023360" y="3886200"/>
            <a:ext cx="1463040" cy="242316"/>
          </a:xfrm>
          <a:prstGeom prst="rect">
            <a:avLst/>
          </a:prstGeom>
          <a:noFill/>
          <a:ln/>
        </p:spPr>
        <p:txBody>
          <a:bodyPr wrap="square" lIns="0" tIns="0" rIns="0" bIns="0" rtlCol="0" anchor="ctr"/>
          <a:lstStyle/>
          <a:p>
            <a:pPr marL="0" indent="0">
              <a:buNone/>
            </a:pPr>
            <a:r>
              <a:rPr lang="en-US" sz="1100" b="1" dirty="0">
                <a:solidFill>
                  <a:srgbClr val="142B4A"/>
                </a:solidFill>
              </a:rPr>
              <a:t>location_key</a:t>
            </a:r>
            <a:endParaRPr lang="en-US" sz="1100" dirty="0"/>
          </a:p>
        </p:txBody>
      </p:sp>
      <p:sp>
        <p:nvSpPr>
          <p:cNvPr id="63" name="Shape 60"/>
          <p:cNvSpPr/>
          <p:nvPr/>
        </p:nvSpPr>
        <p:spPr>
          <a:xfrm>
            <a:off x="5486400" y="3918204"/>
            <a:ext cx="457200" cy="178308"/>
          </a:xfrm>
          <a:prstGeom prst="roundRect">
            <a:avLst>
              <a:gd name="adj" fmla="val 25641"/>
            </a:avLst>
          </a:prstGeom>
          <a:solidFill>
            <a:srgbClr val="167D8D"/>
          </a:solidFill>
          <a:ln w="6350">
            <a:solidFill>
              <a:srgbClr val="167D8D"/>
            </a:solidFill>
            <a:prstDash val="solid"/>
          </a:ln>
        </p:spPr>
      </p:sp>
      <p:sp>
        <p:nvSpPr>
          <p:cNvPr id="64" name="Text 61"/>
          <p:cNvSpPr txBox="1"/>
          <p:nvPr/>
        </p:nvSpPr>
        <p:spPr>
          <a:xfrm>
            <a:off x="5486400" y="3918204"/>
            <a:ext cx="457200" cy="178308"/>
          </a:xfrm>
          <a:prstGeom prst="rect">
            <a:avLst/>
          </a:prstGeom>
          <a:noFill/>
          <a:ln/>
        </p:spPr>
        <p:txBody>
          <a:bodyPr wrap="square" lIns="0" tIns="0" rIns="0" bIns="0" rtlCol="0" anchor="ctr"/>
          <a:lstStyle/>
          <a:p>
            <a:pPr marL="0" indent="0" algn="ctr">
              <a:buNone/>
            </a:pPr>
            <a:r>
              <a:rPr lang="en-US" sz="950" b="1" dirty="0">
                <a:solidFill>
                  <a:srgbClr val="FFFFFF"/>
                </a:solidFill>
              </a:rPr>
              <a:t>NEW</a:t>
            </a:r>
            <a:endParaRPr lang="en-US" sz="950" dirty="0"/>
          </a:p>
        </p:txBody>
      </p:sp>
      <p:sp>
        <p:nvSpPr>
          <p:cNvPr id="65" name="Text 62"/>
          <p:cNvSpPr txBox="1"/>
          <p:nvPr/>
        </p:nvSpPr>
        <p:spPr>
          <a:xfrm>
            <a:off x="4023360" y="4128516"/>
            <a:ext cx="1920240" cy="242316"/>
          </a:xfrm>
          <a:prstGeom prst="rect">
            <a:avLst/>
          </a:prstGeom>
          <a:noFill/>
          <a:ln/>
        </p:spPr>
        <p:txBody>
          <a:bodyPr wrap="square" lIns="0" tIns="0" rIns="0" bIns="0" rtlCol="0" anchor="ctr"/>
          <a:lstStyle/>
          <a:p>
            <a:pPr marL="0" indent="0">
              <a:buNone/>
            </a:pPr>
            <a:r>
              <a:rPr lang="en-US" sz="1100" dirty="0">
                <a:solidFill>
                  <a:srgbClr val="142B4A"/>
                </a:solidFill>
              </a:rPr>
              <a:t>sale_date</a:t>
            </a:r>
            <a:endParaRPr lang="en-US" sz="1100" dirty="0"/>
          </a:p>
        </p:txBody>
      </p:sp>
      <p:sp>
        <p:nvSpPr>
          <p:cNvPr id="66" name="Shape 63"/>
          <p:cNvSpPr/>
          <p:nvPr/>
        </p:nvSpPr>
        <p:spPr>
          <a:xfrm>
            <a:off x="3931920" y="4370832"/>
            <a:ext cx="2103120" cy="242316"/>
          </a:xfrm>
          <a:prstGeom prst="rect">
            <a:avLst/>
          </a:prstGeom>
          <a:solidFill>
            <a:srgbClr val="F4F6F8"/>
          </a:solidFill>
          <a:ln w="6350">
            <a:solidFill>
              <a:srgbClr val="F4F6F8"/>
            </a:solidFill>
            <a:prstDash val="solid"/>
          </a:ln>
        </p:spPr>
      </p:sp>
      <p:sp>
        <p:nvSpPr>
          <p:cNvPr id="67" name="Text 64"/>
          <p:cNvSpPr txBox="1"/>
          <p:nvPr/>
        </p:nvSpPr>
        <p:spPr>
          <a:xfrm>
            <a:off x="4023360" y="4370832"/>
            <a:ext cx="1920240" cy="242316"/>
          </a:xfrm>
          <a:prstGeom prst="rect">
            <a:avLst/>
          </a:prstGeom>
          <a:noFill/>
          <a:ln/>
        </p:spPr>
        <p:txBody>
          <a:bodyPr wrap="square" lIns="0" tIns="0" rIns="0" bIns="0" rtlCol="0" anchor="ctr"/>
          <a:lstStyle/>
          <a:p>
            <a:pPr marL="0" indent="0">
              <a:buNone/>
            </a:pPr>
            <a:r>
              <a:rPr lang="en-US" sz="1100" dirty="0">
                <a:solidFill>
                  <a:srgbClr val="142B4A"/>
                </a:solidFill>
              </a:rPr>
              <a:t>transacted_price</a:t>
            </a:r>
            <a:endParaRPr lang="en-US" sz="1100" dirty="0"/>
          </a:p>
        </p:txBody>
      </p:sp>
      <p:sp>
        <p:nvSpPr>
          <p:cNvPr id="68" name="Text 65"/>
          <p:cNvSpPr txBox="1"/>
          <p:nvPr/>
        </p:nvSpPr>
        <p:spPr>
          <a:xfrm>
            <a:off x="4023360" y="4613148"/>
            <a:ext cx="1920240" cy="242316"/>
          </a:xfrm>
          <a:prstGeom prst="rect">
            <a:avLst/>
          </a:prstGeom>
          <a:noFill/>
          <a:ln/>
        </p:spPr>
        <p:txBody>
          <a:bodyPr wrap="square" lIns="0" tIns="0" rIns="0" bIns="0" rtlCol="0" anchor="ctr"/>
          <a:lstStyle/>
          <a:p>
            <a:pPr marL="0" indent="0">
              <a:buNone/>
            </a:pPr>
            <a:r>
              <a:rPr lang="en-US" sz="1100" dirty="0">
                <a:solidFill>
                  <a:srgbClr val="142B4A"/>
                </a:solidFill>
              </a:rPr>
              <a:t>nett_price</a:t>
            </a:r>
            <a:endParaRPr lang="en-US" sz="1100" dirty="0"/>
          </a:p>
        </p:txBody>
      </p:sp>
      <p:sp>
        <p:nvSpPr>
          <p:cNvPr id="69" name="Shape 66"/>
          <p:cNvSpPr/>
          <p:nvPr/>
        </p:nvSpPr>
        <p:spPr>
          <a:xfrm>
            <a:off x="3931920" y="4855464"/>
            <a:ext cx="2103120" cy="242316"/>
          </a:xfrm>
          <a:prstGeom prst="rect">
            <a:avLst/>
          </a:prstGeom>
          <a:solidFill>
            <a:srgbClr val="F4F6F8"/>
          </a:solidFill>
          <a:ln w="6350">
            <a:solidFill>
              <a:srgbClr val="F4F6F8"/>
            </a:solidFill>
            <a:prstDash val="solid"/>
          </a:ln>
        </p:spPr>
      </p:sp>
      <p:sp>
        <p:nvSpPr>
          <p:cNvPr id="70" name="Text 67"/>
          <p:cNvSpPr txBox="1"/>
          <p:nvPr/>
        </p:nvSpPr>
        <p:spPr>
          <a:xfrm>
            <a:off x="4023360" y="4855464"/>
            <a:ext cx="1920240" cy="242316"/>
          </a:xfrm>
          <a:prstGeom prst="rect">
            <a:avLst/>
          </a:prstGeom>
          <a:noFill/>
          <a:ln/>
        </p:spPr>
        <p:txBody>
          <a:bodyPr wrap="square" lIns="0" tIns="0" rIns="0" bIns="0" rtlCol="0" anchor="ctr"/>
          <a:lstStyle/>
          <a:p>
            <a:pPr marL="0" indent="0">
              <a:buNone/>
            </a:pPr>
            <a:r>
              <a:rPr lang="en-US" sz="1100" dirty="0">
                <a:solidFill>
                  <a:srgbClr val="142B4A"/>
                </a:solidFill>
              </a:rPr>
              <a:t>area_sqft</a:t>
            </a:r>
            <a:endParaRPr lang="en-US" sz="1100" dirty="0"/>
          </a:p>
        </p:txBody>
      </p:sp>
      <p:sp>
        <p:nvSpPr>
          <p:cNvPr id="71" name="Text 68"/>
          <p:cNvSpPr txBox="1"/>
          <p:nvPr/>
        </p:nvSpPr>
        <p:spPr>
          <a:xfrm>
            <a:off x="4023360" y="5097780"/>
            <a:ext cx="1920240" cy="242316"/>
          </a:xfrm>
          <a:prstGeom prst="rect">
            <a:avLst/>
          </a:prstGeom>
          <a:noFill/>
          <a:ln/>
        </p:spPr>
        <p:txBody>
          <a:bodyPr wrap="square" lIns="0" tIns="0" rIns="0" bIns="0" rtlCol="0" anchor="ctr"/>
          <a:lstStyle/>
          <a:p>
            <a:pPr marL="0" indent="0">
              <a:buNone/>
            </a:pPr>
            <a:r>
              <a:rPr lang="en-US" sz="1100" dirty="0">
                <a:solidFill>
                  <a:srgbClr val="142B4A"/>
                </a:solidFill>
              </a:rPr>
              <a:t>area_sqm</a:t>
            </a:r>
            <a:endParaRPr lang="en-US" sz="1100" dirty="0"/>
          </a:p>
        </p:txBody>
      </p:sp>
      <p:sp>
        <p:nvSpPr>
          <p:cNvPr id="72" name="Shape 69"/>
          <p:cNvSpPr/>
          <p:nvPr/>
        </p:nvSpPr>
        <p:spPr>
          <a:xfrm>
            <a:off x="6172200" y="3401568"/>
            <a:ext cx="2103120" cy="242316"/>
          </a:xfrm>
          <a:prstGeom prst="rect">
            <a:avLst/>
          </a:prstGeom>
          <a:solidFill>
            <a:srgbClr val="F4F6F8"/>
          </a:solidFill>
          <a:ln w="6350">
            <a:solidFill>
              <a:srgbClr val="F4F6F8"/>
            </a:solidFill>
            <a:prstDash val="solid"/>
          </a:ln>
        </p:spPr>
      </p:sp>
      <p:sp>
        <p:nvSpPr>
          <p:cNvPr id="73" name="Text 70"/>
          <p:cNvSpPr txBox="1"/>
          <p:nvPr/>
        </p:nvSpPr>
        <p:spPr>
          <a:xfrm>
            <a:off x="6263640" y="3401568"/>
            <a:ext cx="1920240" cy="242316"/>
          </a:xfrm>
          <a:prstGeom prst="rect">
            <a:avLst/>
          </a:prstGeom>
          <a:noFill/>
          <a:ln/>
        </p:spPr>
        <p:txBody>
          <a:bodyPr wrap="square" lIns="0" tIns="0" rIns="0" bIns="0" rtlCol="0" anchor="ctr"/>
          <a:lstStyle/>
          <a:p>
            <a:pPr marL="0" indent="0">
              <a:buNone/>
            </a:pPr>
            <a:r>
              <a:rPr lang="en-US" sz="1100" dirty="0">
                <a:solidFill>
                  <a:srgbClr val="142B4A"/>
                </a:solidFill>
              </a:rPr>
              <a:t>unit_price_psf</a:t>
            </a:r>
            <a:endParaRPr lang="en-US" sz="1100" dirty="0"/>
          </a:p>
        </p:txBody>
      </p:sp>
      <p:sp>
        <p:nvSpPr>
          <p:cNvPr id="74" name="Text 71"/>
          <p:cNvSpPr txBox="1"/>
          <p:nvPr/>
        </p:nvSpPr>
        <p:spPr>
          <a:xfrm>
            <a:off x="6263640" y="3643884"/>
            <a:ext cx="1463040" cy="242316"/>
          </a:xfrm>
          <a:prstGeom prst="rect">
            <a:avLst/>
          </a:prstGeom>
          <a:noFill/>
          <a:ln/>
        </p:spPr>
        <p:txBody>
          <a:bodyPr wrap="square" lIns="0" tIns="0" rIns="0" bIns="0" rtlCol="0" anchor="ctr"/>
          <a:lstStyle/>
          <a:p>
            <a:pPr marL="0" indent="0">
              <a:buNone/>
            </a:pPr>
            <a:r>
              <a:rPr lang="en-US" sz="1100" b="1" dirty="0">
                <a:solidFill>
                  <a:srgbClr val="142B4A"/>
                </a:solidFill>
              </a:rPr>
              <a:t>new_trans_price</a:t>
            </a:r>
            <a:endParaRPr lang="en-US" sz="1100" dirty="0"/>
          </a:p>
        </p:txBody>
      </p:sp>
      <p:sp>
        <p:nvSpPr>
          <p:cNvPr id="75" name="Shape 72"/>
          <p:cNvSpPr/>
          <p:nvPr/>
        </p:nvSpPr>
        <p:spPr>
          <a:xfrm>
            <a:off x="7726680" y="3675888"/>
            <a:ext cx="457200" cy="178308"/>
          </a:xfrm>
          <a:prstGeom prst="roundRect">
            <a:avLst>
              <a:gd name="adj" fmla="val 25641"/>
            </a:avLst>
          </a:prstGeom>
          <a:solidFill>
            <a:srgbClr val="E4A64B"/>
          </a:solidFill>
          <a:ln w="6350">
            <a:solidFill>
              <a:srgbClr val="E4A64B"/>
            </a:solidFill>
            <a:prstDash val="solid"/>
          </a:ln>
        </p:spPr>
      </p:sp>
      <p:sp>
        <p:nvSpPr>
          <p:cNvPr id="76" name="Text 73"/>
          <p:cNvSpPr txBox="1"/>
          <p:nvPr/>
        </p:nvSpPr>
        <p:spPr>
          <a:xfrm>
            <a:off x="7726680" y="3675888"/>
            <a:ext cx="457200" cy="178308"/>
          </a:xfrm>
          <a:prstGeom prst="rect">
            <a:avLst/>
          </a:prstGeom>
          <a:noFill/>
          <a:ln/>
        </p:spPr>
        <p:txBody>
          <a:bodyPr wrap="square" lIns="0" tIns="0" rIns="0" bIns="0" rtlCol="0" anchor="ctr"/>
          <a:lstStyle/>
          <a:p>
            <a:pPr marL="0" indent="0" algn="ctr">
              <a:buNone/>
            </a:pPr>
            <a:r>
              <a:rPr lang="en-US" sz="950" b="1" dirty="0">
                <a:solidFill>
                  <a:srgbClr val="142B4A"/>
                </a:solidFill>
              </a:rPr>
              <a:t>CALC</a:t>
            </a:r>
            <a:endParaRPr lang="en-US" sz="950" dirty="0"/>
          </a:p>
        </p:txBody>
      </p:sp>
      <p:sp>
        <p:nvSpPr>
          <p:cNvPr id="77" name="Shape 74"/>
          <p:cNvSpPr/>
          <p:nvPr/>
        </p:nvSpPr>
        <p:spPr>
          <a:xfrm>
            <a:off x="6172200" y="3886200"/>
            <a:ext cx="2103120" cy="242316"/>
          </a:xfrm>
          <a:prstGeom prst="rect">
            <a:avLst/>
          </a:prstGeom>
          <a:solidFill>
            <a:srgbClr val="F4F6F8"/>
          </a:solidFill>
          <a:ln w="6350">
            <a:solidFill>
              <a:srgbClr val="F4F6F8"/>
            </a:solidFill>
            <a:prstDash val="solid"/>
          </a:ln>
        </p:spPr>
      </p:sp>
      <p:sp>
        <p:nvSpPr>
          <p:cNvPr id="78" name="Text 75"/>
          <p:cNvSpPr txBox="1"/>
          <p:nvPr/>
        </p:nvSpPr>
        <p:spPr>
          <a:xfrm>
            <a:off x="6263640" y="3886200"/>
            <a:ext cx="1463040" cy="242316"/>
          </a:xfrm>
          <a:prstGeom prst="rect">
            <a:avLst/>
          </a:prstGeom>
          <a:noFill/>
          <a:ln/>
        </p:spPr>
        <p:txBody>
          <a:bodyPr wrap="square" lIns="0" tIns="0" rIns="0" bIns="0" rtlCol="0" anchor="ctr"/>
          <a:lstStyle/>
          <a:p>
            <a:pPr marL="0" indent="0">
              <a:buNone/>
            </a:pPr>
            <a:r>
              <a:rPr lang="en-US" sz="1100" b="1" dirty="0">
                <a:solidFill>
                  <a:srgbClr val="142B4A"/>
                </a:solidFill>
              </a:rPr>
              <a:t>percentage_difference</a:t>
            </a:r>
            <a:endParaRPr lang="en-US" sz="1100" dirty="0"/>
          </a:p>
        </p:txBody>
      </p:sp>
      <p:sp>
        <p:nvSpPr>
          <p:cNvPr id="79" name="Shape 76"/>
          <p:cNvSpPr/>
          <p:nvPr/>
        </p:nvSpPr>
        <p:spPr>
          <a:xfrm>
            <a:off x="7726680" y="3918204"/>
            <a:ext cx="457200" cy="178308"/>
          </a:xfrm>
          <a:prstGeom prst="roundRect">
            <a:avLst>
              <a:gd name="adj" fmla="val 25641"/>
            </a:avLst>
          </a:prstGeom>
          <a:solidFill>
            <a:srgbClr val="E4A64B"/>
          </a:solidFill>
          <a:ln w="6350">
            <a:solidFill>
              <a:srgbClr val="E4A64B"/>
            </a:solidFill>
            <a:prstDash val="solid"/>
          </a:ln>
        </p:spPr>
      </p:sp>
      <p:sp>
        <p:nvSpPr>
          <p:cNvPr id="80" name="Text 77"/>
          <p:cNvSpPr txBox="1"/>
          <p:nvPr/>
        </p:nvSpPr>
        <p:spPr>
          <a:xfrm>
            <a:off x="7726680" y="3918204"/>
            <a:ext cx="457200" cy="178308"/>
          </a:xfrm>
          <a:prstGeom prst="rect">
            <a:avLst/>
          </a:prstGeom>
          <a:noFill/>
          <a:ln/>
        </p:spPr>
        <p:txBody>
          <a:bodyPr wrap="square" lIns="0" tIns="0" rIns="0" bIns="0" rtlCol="0" anchor="ctr"/>
          <a:lstStyle/>
          <a:p>
            <a:pPr marL="0" indent="0" algn="ctr">
              <a:buNone/>
            </a:pPr>
            <a:r>
              <a:rPr lang="en-US" sz="950" b="1" dirty="0">
                <a:solidFill>
                  <a:srgbClr val="142B4A"/>
                </a:solidFill>
              </a:rPr>
              <a:t>CALC</a:t>
            </a:r>
            <a:endParaRPr lang="en-US" sz="950" dirty="0"/>
          </a:p>
        </p:txBody>
      </p:sp>
      <p:sp>
        <p:nvSpPr>
          <p:cNvPr id="81" name="Text 78"/>
          <p:cNvSpPr txBox="1"/>
          <p:nvPr/>
        </p:nvSpPr>
        <p:spPr>
          <a:xfrm>
            <a:off x="6263640" y="4128516"/>
            <a:ext cx="1920240" cy="242316"/>
          </a:xfrm>
          <a:prstGeom prst="rect">
            <a:avLst/>
          </a:prstGeom>
          <a:noFill/>
          <a:ln/>
        </p:spPr>
        <p:txBody>
          <a:bodyPr wrap="square" lIns="0" tIns="0" rIns="0" bIns="0" rtlCol="0" anchor="ctr"/>
          <a:lstStyle/>
          <a:p>
            <a:pPr marL="0" indent="0">
              <a:buNone/>
            </a:pPr>
            <a:r>
              <a:rPr lang="en-US" sz="1100" dirty="0">
                <a:solidFill>
                  <a:srgbClr val="142B4A"/>
                </a:solidFill>
              </a:rPr>
              <a:t>unit_price_psm</a:t>
            </a:r>
            <a:endParaRPr lang="en-US" sz="1100" dirty="0"/>
          </a:p>
        </p:txBody>
      </p:sp>
      <p:sp>
        <p:nvSpPr>
          <p:cNvPr id="82" name="Shape 79"/>
          <p:cNvSpPr/>
          <p:nvPr/>
        </p:nvSpPr>
        <p:spPr>
          <a:xfrm>
            <a:off x="6172200" y="4370832"/>
            <a:ext cx="2103120" cy="242316"/>
          </a:xfrm>
          <a:prstGeom prst="rect">
            <a:avLst/>
          </a:prstGeom>
          <a:solidFill>
            <a:srgbClr val="F4F6F8"/>
          </a:solidFill>
          <a:ln w="6350">
            <a:solidFill>
              <a:srgbClr val="F4F6F8"/>
            </a:solidFill>
            <a:prstDash val="solid"/>
          </a:ln>
        </p:spPr>
      </p:sp>
      <p:sp>
        <p:nvSpPr>
          <p:cNvPr id="83" name="Text 80"/>
          <p:cNvSpPr txBox="1"/>
          <p:nvPr/>
        </p:nvSpPr>
        <p:spPr>
          <a:xfrm>
            <a:off x="6263640" y="4370832"/>
            <a:ext cx="1920240" cy="242316"/>
          </a:xfrm>
          <a:prstGeom prst="rect">
            <a:avLst/>
          </a:prstGeom>
          <a:noFill/>
          <a:ln/>
        </p:spPr>
        <p:txBody>
          <a:bodyPr wrap="square" lIns="0" tIns="0" rIns="0" bIns="0" rtlCol="0" anchor="ctr"/>
          <a:lstStyle/>
          <a:p>
            <a:pPr marL="0" indent="0">
              <a:buNone/>
            </a:pPr>
            <a:r>
              <a:rPr lang="en-US" sz="1100" dirty="0">
                <a:solidFill>
                  <a:srgbClr val="142B4A"/>
                </a:solidFill>
              </a:rPr>
              <a:t>number_of_units</a:t>
            </a:r>
            <a:endParaRPr lang="en-US" sz="1100" dirty="0"/>
          </a:p>
        </p:txBody>
      </p:sp>
      <p:sp>
        <p:nvSpPr>
          <p:cNvPr id="84" name="Text 81"/>
          <p:cNvSpPr txBox="1"/>
          <p:nvPr/>
        </p:nvSpPr>
        <p:spPr>
          <a:xfrm>
            <a:off x="6263640" y="4613148"/>
            <a:ext cx="1920240" cy="242316"/>
          </a:xfrm>
          <a:prstGeom prst="rect">
            <a:avLst/>
          </a:prstGeom>
          <a:noFill/>
          <a:ln/>
        </p:spPr>
        <p:txBody>
          <a:bodyPr wrap="square" lIns="0" tIns="0" rIns="0" bIns="0" rtlCol="0" anchor="ctr"/>
          <a:lstStyle/>
          <a:p>
            <a:pPr marL="0" indent="0">
              <a:buNone/>
            </a:pPr>
            <a:r>
              <a:rPr lang="en-US" sz="1100" dirty="0">
                <a:solidFill>
                  <a:srgbClr val="142B4A"/>
                </a:solidFill>
              </a:rPr>
              <a:t>type_of_sale</a:t>
            </a:r>
            <a:endParaRPr lang="en-US" sz="1100" dirty="0"/>
          </a:p>
        </p:txBody>
      </p:sp>
      <p:sp>
        <p:nvSpPr>
          <p:cNvPr id="85" name="Shape 82"/>
          <p:cNvSpPr/>
          <p:nvPr/>
        </p:nvSpPr>
        <p:spPr>
          <a:xfrm>
            <a:off x="6172200" y="4855464"/>
            <a:ext cx="2103120" cy="242316"/>
          </a:xfrm>
          <a:prstGeom prst="rect">
            <a:avLst/>
          </a:prstGeom>
          <a:solidFill>
            <a:srgbClr val="F4F6F8"/>
          </a:solidFill>
          <a:ln w="6350">
            <a:solidFill>
              <a:srgbClr val="F4F6F8"/>
            </a:solidFill>
            <a:prstDash val="solid"/>
          </a:ln>
        </p:spPr>
      </p:sp>
      <p:sp>
        <p:nvSpPr>
          <p:cNvPr id="86" name="Text 83"/>
          <p:cNvSpPr txBox="1"/>
          <p:nvPr/>
        </p:nvSpPr>
        <p:spPr>
          <a:xfrm>
            <a:off x="6263640" y="4855464"/>
            <a:ext cx="1920240" cy="242316"/>
          </a:xfrm>
          <a:prstGeom prst="rect">
            <a:avLst/>
          </a:prstGeom>
          <a:noFill/>
          <a:ln/>
        </p:spPr>
        <p:txBody>
          <a:bodyPr wrap="square" lIns="0" tIns="0" rIns="0" bIns="0" rtlCol="0" anchor="ctr"/>
          <a:lstStyle/>
          <a:p>
            <a:pPr marL="0" indent="0">
              <a:buNone/>
            </a:pPr>
            <a:r>
              <a:rPr lang="en-US" sz="1100" dirty="0">
                <a:solidFill>
                  <a:srgbClr val="142B4A"/>
                </a:solidFill>
              </a:rPr>
              <a:t>type_of_area</a:t>
            </a:r>
            <a:endParaRPr lang="en-US" sz="1100" dirty="0"/>
          </a:p>
        </p:txBody>
      </p:sp>
      <p:sp>
        <p:nvSpPr>
          <p:cNvPr id="87" name="Text 84"/>
          <p:cNvSpPr txBox="1"/>
          <p:nvPr/>
        </p:nvSpPr>
        <p:spPr>
          <a:xfrm>
            <a:off x="6263640" y="5097780"/>
            <a:ext cx="1920240" cy="242316"/>
          </a:xfrm>
          <a:prstGeom prst="rect">
            <a:avLst/>
          </a:prstGeom>
          <a:noFill/>
          <a:ln/>
        </p:spPr>
        <p:txBody>
          <a:bodyPr wrap="square" lIns="0" tIns="0" rIns="0" bIns="0" rtlCol="0" anchor="ctr"/>
          <a:lstStyle/>
          <a:p>
            <a:pPr marL="0" indent="0">
              <a:buNone/>
            </a:pPr>
            <a:r>
              <a:rPr lang="en-US" sz="1100" dirty="0">
                <a:solidFill>
                  <a:srgbClr val="142B4A"/>
                </a:solidFill>
              </a:rPr>
              <a:t>purchaser_address_indicator</a:t>
            </a:r>
            <a:endParaRPr lang="en-US" sz="1100" dirty="0"/>
          </a:p>
        </p:txBody>
      </p:sp>
      <p:sp>
        <p:nvSpPr>
          <p:cNvPr id="88" name="Text 85"/>
          <p:cNvSpPr txBox="1"/>
          <p:nvPr/>
        </p:nvSpPr>
        <p:spPr>
          <a:xfrm>
            <a:off x="3337560" y="3447288"/>
            <a:ext cx="457200" cy="237744"/>
          </a:xfrm>
          <a:prstGeom prst="rect">
            <a:avLst/>
          </a:prstGeom>
          <a:noFill/>
          <a:ln/>
        </p:spPr>
        <p:txBody>
          <a:bodyPr wrap="square" lIns="0" tIns="0" rIns="0" bIns="0" rtlCol="0" anchor="t"/>
          <a:lstStyle/>
          <a:p>
            <a:pPr marL="0" indent="0" algn="ctr">
              <a:buNone/>
            </a:pPr>
            <a:r>
              <a:rPr lang="en-US" sz="1200" b="1" dirty="0">
                <a:solidFill>
                  <a:srgbClr val="167D8D"/>
                </a:solidFill>
              </a:rPr>
              <a:t>1</a:t>
            </a:r>
            <a:endParaRPr lang="en-US" sz="1200" dirty="0"/>
          </a:p>
        </p:txBody>
      </p:sp>
      <p:sp>
        <p:nvSpPr>
          <p:cNvPr id="89" name="Shape 86"/>
          <p:cNvSpPr/>
          <p:nvPr/>
        </p:nvSpPr>
        <p:spPr>
          <a:xfrm>
            <a:off x="3337560" y="3758184"/>
            <a:ext cx="457200" cy="22860"/>
          </a:xfrm>
          <a:prstGeom prst="rect">
            <a:avLst/>
          </a:prstGeom>
          <a:solidFill>
            <a:srgbClr val="167D8D"/>
          </a:solidFill>
          <a:ln w="6350">
            <a:solidFill>
              <a:srgbClr val="167D8D"/>
            </a:solidFill>
            <a:prstDash val="solid"/>
          </a:ln>
        </p:spPr>
      </p:sp>
      <p:sp>
        <p:nvSpPr>
          <p:cNvPr id="90" name="Text 87"/>
          <p:cNvSpPr txBox="1"/>
          <p:nvPr/>
        </p:nvSpPr>
        <p:spPr>
          <a:xfrm>
            <a:off x="3337560" y="3813048"/>
            <a:ext cx="457200" cy="256032"/>
          </a:xfrm>
          <a:prstGeom prst="rect">
            <a:avLst/>
          </a:prstGeom>
          <a:noFill/>
          <a:ln/>
        </p:spPr>
        <p:txBody>
          <a:bodyPr wrap="square" lIns="0" tIns="0" rIns="0" bIns="0" rtlCol="0" anchor="t"/>
          <a:lstStyle/>
          <a:p>
            <a:pPr marL="0" indent="0" algn="ctr">
              <a:buNone/>
            </a:pPr>
            <a:r>
              <a:rPr lang="en-US" sz="1400" b="1" dirty="0">
                <a:solidFill>
                  <a:srgbClr val="167D8D"/>
                </a:solidFill>
              </a:rPr>
              <a:t>∞</a:t>
            </a:r>
            <a:endParaRPr lang="en-US" sz="1400" dirty="0"/>
          </a:p>
        </p:txBody>
      </p:sp>
      <p:sp>
        <p:nvSpPr>
          <p:cNvPr id="91" name="Text 88"/>
          <p:cNvSpPr txBox="1"/>
          <p:nvPr/>
        </p:nvSpPr>
        <p:spPr>
          <a:xfrm>
            <a:off x="8394192" y="3447288"/>
            <a:ext cx="457200" cy="256032"/>
          </a:xfrm>
          <a:prstGeom prst="rect">
            <a:avLst/>
          </a:prstGeom>
          <a:noFill/>
          <a:ln/>
        </p:spPr>
        <p:txBody>
          <a:bodyPr wrap="square" lIns="0" tIns="0" rIns="0" bIns="0" rtlCol="0" anchor="t"/>
          <a:lstStyle/>
          <a:p>
            <a:pPr marL="0" indent="0" algn="ctr">
              <a:buNone/>
            </a:pPr>
            <a:r>
              <a:rPr lang="en-US" sz="1400" b="1" dirty="0">
                <a:solidFill>
                  <a:srgbClr val="167D8D"/>
                </a:solidFill>
              </a:rPr>
              <a:t>∞</a:t>
            </a:r>
            <a:endParaRPr lang="en-US" sz="1400" dirty="0"/>
          </a:p>
        </p:txBody>
      </p:sp>
      <p:sp>
        <p:nvSpPr>
          <p:cNvPr id="92" name="Shape 89"/>
          <p:cNvSpPr/>
          <p:nvPr/>
        </p:nvSpPr>
        <p:spPr>
          <a:xfrm>
            <a:off x="8394192" y="3758184"/>
            <a:ext cx="457200" cy="22860"/>
          </a:xfrm>
          <a:prstGeom prst="rect">
            <a:avLst/>
          </a:prstGeom>
          <a:solidFill>
            <a:srgbClr val="167D8D"/>
          </a:solidFill>
          <a:ln w="6350">
            <a:solidFill>
              <a:srgbClr val="167D8D"/>
            </a:solidFill>
            <a:prstDash val="solid"/>
          </a:ln>
        </p:spPr>
      </p:sp>
      <p:sp>
        <p:nvSpPr>
          <p:cNvPr id="93" name="Text 90"/>
          <p:cNvSpPr txBox="1"/>
          <p:nvPr/>
        </p:nvSpPr>
        <p:spPr>
          <a:xfrm>
            <a:off x="8394192" y="3813048"/>
            <a:ext cx="457200" cy="237744"/>
          </a:xfrm>
          <a:prstGeom prst="rect">
            <a:avLst/>
          </a:prstGeom>
          <a:noFill/>
          <a:ln/>
        </p:spPr>
        <p:txBody>
          <a:bodyPr wrap="square" lIns="0" tIns="0" rIns="0" bIns="0" rtlCol="0" anchor="t"/>
          <a:lstStyle/>
          <a:p>
            <a:pPr marL="0" indent="0" algn="ctr">
              <a:buNone/>
            </a:pPr>
            <a:r>
              <a:rPr lang="en-US" sz="1200" b="1" dirty="0">
                <a:solidFill>
                  <a:srgbClr val="167D8D"/>
                </a:solidFill>
              </a:rPr>
              <a:t>1</a:t>
            </a:r>
            <a:endParaRPr lang="en-US" sz="1200" dirty="0"/>
          </a:p>
        </p:txBody>
      </p:sp>
      <p:sp>
        <p:nvSpPr>
          <p:cNvPr id="94" name="Shape 91"/>
          <p:cNvSpPr/>
          <p:nvPr/>
        </p:nvSpPr>
        <p:spPr>
          <a:xfrm>
            <a:off x="548640" y="5620744"/>
            <a:ext cx="5440680" cy="603504"/>
          </a:xfrm>
          <a:prstGeom prst="roundRect">
            <a:avLst>
              <a:gd name="adj" fmla="val 10606"/>
            </a:avLst>
          </a:prstGeom>
          <a:solidFill>
            <a:srgbClr val="FBF0DA"/>
          </a:solidFill>
          <a:ln w="9525">
            <a:solidFill>
              <a:srgbClr val="FBF0DA"/>
            </a:solidFill>
            <a:prstDash val="solid"/>
          </a:ln>
        </p:spPr>
      </p:sp>
      <p:sp>
        <p:nvSpPr>
          <p:cNvPr id="95" name="Text 92"/>
          <p:cNvSpPr txBox="1"/>
          <p:nvPr/>
        </p:nvSpPr>
        <p:spPr>
          <a:xfrm>
            <a:off x="685800" y="5666464"/>
            <a:ext cx="5166360" cy="512064"/>
          </a:xfrm>
          <a:prstGeom prst="rect">
            <a:avLst/>
          </a:prstGeom>
          <a:noFill/>
          <a:ln/>
        </p:spPr>
        <p:txBody>
          <a:bodyPr wrap="square" lIns="0" tIns="0" rIns="0" bIns="0" rtlCol="0" anchor="t"/>
          <a:lstStyle/>
          <a:p>
            <a:pPr marL="0" indent="0">
              <a:buNone/>
            </a:pPr>
            <a:r>
              <a:rPr lang="en-US" sz="1000" b="1" kern="0" spc="100" dirty="0">
                <a:solidFill>
                  <a:srgbClr val="142B4A"/>
                </a:solidFill>
              </a:rPr>
              <a:t>THE 2 CALCULATED COLUMNS</a:t>
            </a:r>
            <a:endParaRPr lang="en-US" sz="1050" dirty="0"/>
          </a:p>
          <a:p>
            <a:pPr marL="0" indent="0">
              <a:buNone/>
            </a:pPr>
            <a:r>
              <a:rPr lang="en-US" sz="1050" b="1" dirty="0">
                <a:solidFill>
                  <a:srgbClr val="142B4A"/>
                </a:solidFill>
              </a:rPr>
              <a:t>new_trans_price</a:t>
            </a:r>
            <a:r>
              <a:rPr lang="en-US" sz="1050" dirty="0">
                <a:solidFill>
                  <a:srgbClr val="142B4A"/>
                </a:solidFill>
              </a:rPr>
              <a:t> = area_sqft × </a:t>
            </a:r>
            <a:r>
              <a:rPr lang="en-US" sz="1050" dirty="0" err="1">
                <a:solidFill>
                  <a:srgbClr val="142B4A"/>
                </a:solidFill>
              </a:rPr>
              <a:t>unit_price_psf</a:t>
            </a:r>
            <a:r>
              <a:rPr lang="en-US" sz="1050" dirty="0">
                <a:solidFill>
                  <a:srgbClr val="142B4A"/>
                </a:solidFill>
              </a:rPr>
              <a:t>     </a:t>
            </a:r>
          </a:p>
          <a:p>
            <a:pPr marL="0" indent="0">
              <a:buNone/>
            </a:pPr>
            <a:r>
              <a:rPr lang="en-US" sz="1050" b="1" dirty="0" err="1">
                <a:solidFill>
                  <a:srgbClr val="142B4A"/>
                </a:solidFill>
              </a:rPr>
              <a:t>percentage_difference</a:t>
            </a:r>
            <a:r>
              <a:rPr lang="en-US" sz="1050" dirty="0">
                <a:solidFill>
                  <a:srgbClr val="142B4A"/>
                </a:solidFill>
              </a:rPr>
              <a:t> = (new_trans_price − transacted_price) ÷ transacted_price</a:t>
            </a:r>
            <a:endParaRPr lang="en-US" sz="1050" dirty="0"/>
          </a:p>
        </p:txBody>
      </p:sp>
      <p:sp>
        <p:nvSpPr>
          <p:cNvPr id="96" name="Shape 93"/>
          <p:cNvSpPr/>
          <p:nvPr/>
        </p:nvSpPr>
        <p:spPr>
          <a:xfrm>
            <a:off x="6199632" y="5620744"/>
            <a:ext cx="5443423" cy="603504"/>
          </a:xfrm>
          <a:prstGeom prst="roundRect">
            <a:avLst>
              <a:gd name="adj" fmla="val 10606"/>
            </a:avLst>
          </a:prstGeom>
          <a:solidFill>
            <a:srgbClr val="E3F1F3"/>
          </a:solidFill>
          <a:ln w="9525">
            <a:solidFill>
              <a:srgbClr val="E3F1F3"/>
            </a:solidFill>
            <a:prstDash val="solid"/>
          </a:ln>
        </p:spPr>
      </p:sp>
      <p:sp>
        <p:nvSpPr>
          <p:cNvPr id="97" name="Text 94"/>
          <p:cNvSpPr txBox="1"/>
          <p:nvPr/>
        </p:nvSpPr>
        <p:spPr>
          <a:xfrm>
            <a:off x="6336792" y="5666464"/>
            <a:ext cx="5166360" cy="512064"/>
          </a:xfrm>
          <a:prstGeom prst="rect">
            <a:avLst/>
          </a:prstGeom>
          <a:noFill/>
          <a:ln/>
        </p:spPr>
        <p:txBody>
          <a:bodyPr wrap="square" lIns="0" tIns="0" rIns="0" bIns="0" rtlCol="0" anchor="t"/>
          <a:lstStyle/>
          <a:p>
            <a:pPr marL="0" indent="0">
              <a:buNone/>
            </a:pPr>
            <a:r>
              <a:rPr lang="en-US" sz="1000" b="1" kern="0" spc="100" dirty="0">
                <a:solidFill>
                  <a:srgbClr val="142B4A"/>
                </a:solidFill>
              </a:rPr>
              <a:t>THE 3 SURROGATE KEYS</a:t>
            </a:r>
            <a:endParaRPr lang="en-US" sz="1050" dirty="0"/>
          </a:p>
          <a:p>
            <a:pPr marL="0" indent="0">
              <a:buNone/>
            </a:pPr>
            <a:r>
              <a:rPr lang="en-US" sz="1050" dirty="0">
                <a:solidFill>
                  <a:srgbClr val="142B4A"/>
                </a:solidFill>
              </a:rPr>
              <a:t>No transaction ID exists in the source, so every key is a FARM_FINGERPRINT hash. transaction_key also adds a row number, so two identical sales stay distinct.</a:t>
            </a:r>
            <a:endParaRPr lang="en-US" sz="1050" dirty="0"/>
          </a:p>
        </p:txBody>
      </p:sp>
      <p:sp>
        <p:nvSpPr>
          <p:cNvPr id="4" name="Slide Number Placeholder 0"/>
          <p:cNvSpPr>
            <a:spLocks noGrp="1"/>
          </p:cNvSpPr>
          <p:nvPr>
            <p:ph type="sldNum" sz="quarter" idx="4294967295"/>
          </p:nvPr>
        </p:nvSpPr>
        <p:spPr>
          <a:xfrm>
            <a:off x="10972800" y="6484838"/>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103120"/>
            <a:ext cx="5486400" cy="365760"/>
          </a:xfrm>
          <a:prstGeom prst="rect">
            <a:avLst/>
          </a:prstGeom>
          <a:noFill/>
          <a:ln/>
        </p:spPr>
        <p:txBody>
          <a:bodyPr wrap="square" lIns="0" tIns="0" rIns="0" bIns="0" rtlCol="0" anchor="t"/>
          <a:lstStyle/>
          <a:p>
            <a:pPr marL="0" indent="0">
              <a:buNone/>
            </a:pPr>
            <a:r>
              <a:rPr lang="en-US" sz="1600" b="1" kern="0" spc="300" dirty="0">
                <a:solidFill>
                  <a:srgbClr val="6CC6D3"/>
                </a:solidFill>
              </a:rPr>
              <a:t>PART 3 OF 4</a:t>
            </a:r>
            <a:endParaRPr lang="en-US" sz="1600" dirty="0"/>
          </a:p>
        </p:txBody>
      </p:sp>
      <p:sp>
        <p:nvSpPr>
          <p:cNvPr id="3" name="Text 1"/>
          <p:cNvSpPr txBox="1"/>
          <p:nvPr/>
        </p:nvSpPr>
        <p:spPr>
          <a:xfrm>
            <a:off x="548640" y="2651760"/>
            <a:ext cx="6035040" cy="16459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Data quality</a:t>
            </a:r>
            <a:endParaRPr lang="en-US" sz="4000" dirty="0"/>
          </a:p>
        </p:txBody>
      </p:sp>
      <p:sp>
        <p:nvSpPr>
          <p:cNvPr id="4" name="Text 2"/>
          <p:cNvSpPr txBox="1"/>
          <p:nvPr/>
        </p:nvSpPr>
        <p:spPr>
          <a:xfrm>
            <a:off x="7498080" y="1920240"/>
            <a:ext cx="4114800" cy="219456"/>
          </a:xfrm>
          <a:prstGeom prst="rect">
            <a:avLst/>
          </a:prstGeom>
          <a:noFill/>
          <a:ln/>
        </p:spPr>
        <p:txBody>
          <a:bodyPr wrap="square" lIns="0" tIns="0" rIns="0" bIns="0" rtlCol="0" anchor="ctr"/>
          <a:lstStyle/>
          <a:p>
            <a:pPr marL="0" indent="0">
              <a:buNone/>
            </a:pPr>
            <a:r>
              <a:rPr lang="en-US" sz="1100" b="1" kern="0" spc="150" dirty="0">
                <a:solidFill>
                  <a:srgbClr val="6CC6D3"/>
                </a:solidFill>
              </a:rPr>
              <a:t>IN THIS SECTION</a:t>
            </a:r>
            <a:endParaRPr lang="en-US" sz="1100" dirty="0"/>
          </a:p>
        </p:txBody>
      </p:sp>
      <p:sp>
        <p:nvSpPr>
          <p:cNvPr id="5" name="Text 3"/>
          <p:cNvSpPr txBox="1"/>
          <p:nvPr/>
        </p:nvSpPr>
        <p:spPr>
          <a:xfrm>
            <a:off x="7498080" y="2286000"/>
            <a:ext cx="4160520" cy="2377440"/>
          </a:xfrm>
          <a:prstGeom prst="rect">
            <a:avLst/>
          </a:prstGeom>
          <a:noFill/>
          <a:ln/>
        </p:spPr>
        <p:txBody>
          <a:bodyPr wrap="square" lIns="0" tIns="0" rIns="0" bIns="0" rtlCol="0" anchor="t"/>
          <a:lstStyle/>
          <a:p>
            <a:pPr marL="0" indent="0">
              <a:spcAft>
                <a:spcPts val="1200"/>
              </a:spcAft>
              <a:buNone/>
            </a:pPr>
            <a:r>
              <a:rPr lang="en-US" sz="1400" b="1" dirty="0">
                <a:solidFill>
                  <a:srgbClr val="6CC6D3"/>
                </a:solidFill>
              </a:rPr>
              <a:t>05  </a:t>
            </a:r>
            <a:r>
              <a:rPr lang="en-US" sz="1400" dirty="0">
                <a:solidFill>
                  <a:srgbClr val="FFFFFF"/>
                </a:solidFill>
              </a:rPr>
              <a:t>Four questions produce the dbt tests</a:t>
            </a:r>
            <a:endParaRPr lang="en-US" sz="1200" dirty="0"/>
          </a:p>
          <a:p>
            <a:pPr marL="0" indent="0">
              <a:spcAft>
                <a:spcPts val="1200"/>
              </a:spcAft>
              <a:buNone/>
            </a:pPr>
            <a:r>
              <a:rPr lang="en-US" sz="1400" b="1" dirty="0">
                <a:solidFill>
                  <a:srgbClr val="6CC6D3"/>
                </a:solidFill>
              </a:rPr>
              <a:t>05  </a:t>
            </a:r>
            <a:r>
              <a:rPr lang="en-US" sz="1400" dirty="0">
                <a:solidFill>
                  <a:srgbClr val="FFFFFF"/>
                </a:solidFill>
              </a:rPr>
              <a:t>dbt tests vs Great Expectations</a:t>
            </a:r>
            <a:endParaRPr lang="en-US" sz="1200" dirty="0"/>
          </a:p>
          <a:p>
            <a:pPr marL="0" indent="0">
              <a:spcAft>
                <a:spcPts val="1200"/>
              </a:spcAft>
              <a:buNone/>
            </a:pPr>
            <a:r>
              <a:rPr lang="en-US" sz="1400" b="1" dirty="0">
                <a:solidFill>
                  <a:srgbClr val="6CC6D3"/>
                </a:solidFill>
              </a:rPr>
              <a:t>05  </a:t>
            </a:r>
            <a:r>
              <a:rPr lang="en-US" sz="1400" dirty="0">
                <a:solidFill>
                  <a:srgbClr val="FFFFFF"/>
                </a:solidFill>
              </a:rPr>
              <a:t>Results, and proposed changes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b="1" kern="0" spc="200" dirty="0">
                <a:solidFill>
                  <a:srgbClr val="167D8D"/>
                </a:solidFill>
              </a:rPr>
              <a:t>05  DATA QUALITY</a:t>
            </a:r>
            <a:endParaRPr lang="en-US" dirty="0"/>
          </a:p>
        </p:txBody>
      </p:sp>
      <p:graphicFrame>
        <p:nvGraphicFramePr>
          <p:cNvPr id="12" name="Table 0"/>
          <p:cNvGraphicFramePr>
            <a:graphicFrameLocks noGrp="1"/>
          </p:cNvGraphicFramePr>
          <p:nvPr>
            <p:extLst>
              <p:ext uri="{D42A27DB-BD31-4B8C-83A1-F6EECF244321}">
                <p14:modId xmlns:p14="http://schemas.microsoft.com/office/powerpoint/2010/main" val="3579530990"/>
              </p:ext>
            </p:extLst>
          </p:nvPr>
        </p:nvGraphicFramePr>
        <p:xfrm>
          <a:off x="548640" y="942062"/>
          <a:ext cx="11094415" cy="1967366"/>
        </p:xfrm>
        <a:graphic>
          <a:graphicData uri="http://schemas.openxmlformats.org/drawingml/2006/table">
            <a:tbl>
              <a:tblPr/>
              <a:tblGrid>
                <a:gridCol w="457200">
                  <a:extLst>
                    <a:ext uri="{9D8B030D-6E8A-4147-A177-3AD203B41FA5}">
                      <a16:colId xmlns:a16="http://schemas.microsoft.com/office/drawing/2014/main" val="20000"/>
                    </a:ext>
                  </a:extLst>
                </a:gridCol>
                <a:gridCol w="352044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3246120">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gridCol w="551383">
                  <a:extLst>
                    <a:ext uri="{9D8B030D-6E8A-4147-A177-3AD203B41FA5}">
                      <a16:colId xmlns:a16="http://schemas.microsoft.com/office/drawing/2014/main" val="20005"/>
                    </a:ext>
                  </a:extLst>
                </a:gridCol>
              </a:tblGrid>
              <a:tr h="274320">
                <a:tc>
                  <a:txBody>
                    <a:bodyPr/>
                    <a:lstStyle/>
                    <a:p>
                      <a:pPr marL="0" indent="0" algn="ctr">
                        <a:buNone/>
                      </a:pP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ASK YOURSELF…</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THE DBT TEST</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WHAT THAT GAVE US HERE</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WRITTEN IN</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ctr">
                        <a:buNone/>
                      </a:pPr>
                      <a:r>
                        <a:rPr lang="en-US" sz="1050" b="1" kern="0" spc="50" dirty="0">
                          <a:solidFill>
                            <a:srgbClr val="FFFFFF"/>
                          </a:solidFill>
                          <a:latin typeface="Calibri" pitchFamily="34" charset="0"/>
                          <a:ea typeface="Calibri" pitchFamily="34" charset="-122"/>
                          <a:cs typeface="Calibri" pitchFamily="34" charset="-120"/>
                        </a:rPr>
                        <a:t>TESTS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extLst>
                  <a:ext uri="{0D108BD9-81ED-4DB2-BD59-A6C34878D82A}">
                    <a16:rowId xmlns:a16="http://schemas.microsoft.com/office/drawing/2014/main" val="10000"/>
                  </a:ext>
                </a:extLst>
              </a:tr>
              <a:tr h="38404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What makes one row one row?</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100" b="1" dirty="0">
                          <a:solidFill>
                            <a:srgbClr val="167D8D"/>
                          </a:solidFill>
                          <a:latin typeface="Calibri" pitchFamily="34" charset="0"/>
                          <a:ea typeface="Calibri" pitchFamily="34" charset="-122"/>
                          <a:cs typeface="Calibri" pitchFamily="34" charset="-120"/>
                        </a:rPr>
                        <a:t>unique</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transaction_key, and both dimension keys</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both schema.yml</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Which column would break a chart if it were empty?</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b="1" dirty="0">
                          <a:solidFill>
                            <a:srgbClr val="167D8D"/>
                          </a:solidFill>
                          <a:latin typeface="Calibri" pitchFamily="34" charset="0"/>
                          <a:ea typeface="Calibri" pitchFamily="34" charset="-122"/>
                          <a:cs typeface="Calibri" pitchFamily="34" charset="-120"/>
                        </a:rPr>
                        <a:t>not_null</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the same three keys</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both schema.yml</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2"/>
                  </a:ext>
                </a:extLst>
              </a:tr>
              <a:tr h="465562">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Which columns point at another table?</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b="1" dirty="0">
                          <a:solidFill>
                            <a:srgbClr val="167D8D"/>
                          </a:solidFill>
                          <a:latin typeface="Calibri" pitchFamily="34" charset="0"/>
                          <a:ea typeface="Calibri" pitchFamily="34" charset="-122"/>
                          <a:cs typeface="Calibri" pitchFamily="34" charset="-120"/>
                        </a:rPr>
                        <a:t>relationships</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project_key → dim_project; location_key → dim_location</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model/schema.yml</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3"/>
                  </a:ext>
                </a:extLst>
              </a:tr>
              <a:tr h="459388">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167D8D"/>
                    </a:solidFill>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What rule must always hold that none of the above covers?</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b="1" dirty="0">
                          <a:solidFill>
                            <a:srgbClr val="167D8D"/>
                          </a:solidFill>
                          <a:latin typeface="Calibri" pitchFamily="34" charset="0"/>
                          <a:ea typeface="Calibri" pitchFamily="34" charset="-122"/>
                          <a:cs typeface="Calibri" pitchFamily="34" charset="-120"/>
                        </a:rPr>
                        <a:t>custom SQL test</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all 7 measures must be positive</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tests/*.sql</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3"/>
          <p:cNvSpPr txBox="1"/>
          <p:nvPr/>
        </p:nvSpPr>
        <p:spPr>
          <a:xfrm>
            <a:off x="548640" y="3597809"/>
            <a:ext cx="5394960" cy="219456"/>
          </a:xfrm>
          <a:prstGeom prst="rect">
            <a:avLst/>
          </a:prstGeom>
          <a:noFill/>
          <a:ln/>
        </p:spPr>
        <p:txBody>
          <a:bodyPr wrap="square" lIns="0" tIns="0" rIns="0" bIns="0" rtlCol="0" anchor="ctr"/>
          <a:lstStyle/>
          <a:p>
            <a:pPr marL="0" indent="0">
              <a:buNone/>
            </a:pPr>
            <a:r>
              <a:rPr lang="en-US" sz="1200" b="1" kern="0" spc="150" dirty="0">
                <a:solidFill>
                  <a:srgbClr val="142B4A"/>
                </a:solidFill>
              </a:rPr>
              <a:t>WHERE THE 9 LIVE</a:t>
            </a:r>
            <a:endParaRPr lang="en-US" sz="1200" dirty="0"/>
          </a:p>
        </p:txBody>
      </p:sp>
      <p:sp>
        <p:nvSpPr>
          <p:cNvPr id="8" name="Text 4"/>
          <p:cNvSpPr txBox="1"/>
          <p:nvPr/>
        </p:nvSpPr>
        <p:spPr>
          <a:xfrm>
            <a:off x="6245352" y="3597809"/>
            <a:ext cx="5394960" cy="219456"/>
          </a:xfrm>
          <a:prstGeom prst="rect">
            <a:avLst/>
          </a:prstGeom>
          <a:noFill/>
          <a:ln/>
        </p:spPr>
        <p:txBody>
          <a:bodyPr wrap="square" lIns="0" tIns="0" rIns="0" bIns="0" rtlCol="0" anchor="ctr"/>
          <a:lstStyle/>
          <a:p>
            <a:pPr marL="0" indent="0">
              <a:buNone/>
            </a:pPr>
            <a:r>
              <a:rPr lang="en-US" sz="1200" b="1" kern="0" spc="150" dirty="0">
                <a:solidFill>
                  <a:srgbClr val="142B4A"/>
                </a:solidFill>
              </a:rPr>
              <a:t>⑤  WHY THE REST WENT TO GREAT EXPECTATIONS</a:t>
            </a:r>
            <a:endParaRPr lang="en-US" sz="1200" dirty="0"/>
          </a:p>
        </p:txBody>
      </p:sp>
      <p:sp>
        <p:nvSpPr>
          <p:cNvPr id="9" name="Shape 5"/>
          <p:cNvSpPr/>
          <p:nvPr/>
        </p:nvSpPr>
        <p:spPr>
          <a:xfrm>
            <a:off x="548640" y="3853841"/>
            <a:ext cx="5440680" cy="1645920"/>
          </a:xfrm>
          <a:prstGeom prst="roundRect">
            <a:avLst>
              <a:gd name="adj" fmla="val 3889"/>
            </a:avLst>
          </a:prstGeom>
          <a:solidFill>
            <a:srgbClr val="F4F6F8"/>
          </a:solidFill>
          <a:ln w="9525">
            <a:solidFill>
              <a:srgbClr val="D9E0E8"/>
            </a:solidFill>
            <a:prstDash val="solid"/>
          </a:ln>
        </p:spPr>
        <p:txBody>
          <a:bodyPr/>
          <a:lstStyle/>
          <a:p>
            <a:endParaRPr sz="1200"/>
          </a:p>
        </p:txBody>
      </p:sp>
      <p:sp>
        <p:nvSpPr>
          <p:cNvPr id="10" name="Shape 6"/>
          <p:cNvSpPr/>
          <p:nvPr/>
        </p:nvSpPr>
        <p:spPr>
          <a:xfrm>
            <a:off x="6202375" y="3853841"/>
            <a:ext cx="5440680" cy="1645920"/>
          </a:xfrm>
          <a:prstGeom prst="roundRect">
            <a:avLst>
              <a:gd name="adj" fmla="val 3889"/>
            </a:avLst>
          </a:prstGeom>
          <a:solidFill>
            <a:srgbClr val="F4F6F8"/>
          </a:solidFill>
          <a:ln w="9525">
            <a:solidFill>
              <a:srgbClr val="D9E0E8"/>
            </a:solidFill>
            <a:prstDash val="solid"/>
          </a:ln>
        </p:spPr>
        <p:txBody>
          <a:bodyPr/>
          <a:lstStyle/>
          <a:p>
            <a:endParaRPr sz="1200"/>
          </a:p>
        </p:txBody>
      </p:sp>
      <p:graphicFrame>
        <p:nvGraphicFramePr>
          <p:cNvPr id="23" name="Table 1"/>
          <p:cNvGraphicFramePr>
            <a:graphicFrameLocks noGrp="1"/>
          </p:cNvGraphicFramePr>
          <p:nvPr>
            <p:extLst>
              <p:ext uri="{D42A27DB-BD31-4B8C-83A1-F6EECF244321}">
                <p14:modId xmlns:p14="http://schemas.microsoft.com/office/powerpoint/2010/main" val="4216471877"/>
              </p:ext>
            </p:extLst>
          </p:nvPr>
        </p:nvGraphicFramePr>
        <p:xfrm>
          <a:off x="685800" y="3908705"/>
          <a:ext cx="5166360" cy="1461008"/>
        </p:xfrm>
        <a:graphic>
          <a:graphicData uri="http://schemas.openxmlformats.org/drawingml/2006/table">
            <a:tbl>
              <a:tblPr/>
              <a:tblGrid>
                <a:gridCol w="333756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201168">
                <a:tc>
                  <a:txBody>
                    <a:bodyPr/>
                    <a:lstStyle/>
                    <a:p>
                      <a:pPr marL="0" indent="0">
                        <a:buNone/>
                      </a:pPr>
                      <a:r>
                        <a:rPr lang="en-US" sz="1000" b="1" kern="0" spc="50" dirty="0">
                          <a:solidFill>
                            <a:srgbClr val="55657A"/>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63500" marR="63500" marT="12700" marB="12700"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ctr">
                        <a:buNone/>
                      </a:pPr>
                      <a:r>
                        <a:rPr lang="en-US" sz="1000" b="1" kern="0" spc="50" dirty="0">
                          <a:solidFill>
                            <a:srgbClr val="55657A"/>
                          </a:solidFill>
                          <a:latin typeface="Calibri" pitchFamily="34" charset="0"/>
                          <a:ea typeface="Calibri" pitchFamily="34" charset="-122"/>
                          <a:cs typeface="Calibri" pitchFamily="34" charset="-120"/>
                        </a:rPr>
                        <a:t>FROM</a:t>
                      </a:r>
                      <a:endParaRPr lang="en-US" sz="1000" dirty="0">
                        <a:latin typeface="Calibri" charset="0"/>
                        <a:ea typeface="Calibri" charset="0"/>
                        <a:cs typeface="Calibri" charset="0"/>
                      </a:endParaRPr>
                    </a:p>
                  </a:txBody>
                  <a:tcPr marL="63500" marR="63500" marT="12700" marB="12700" anchor="ctr">
                    <a:lnL w="0" cap="flat" cmpd="sng" algn="ctr">
                      <a:noFill/>
                    </a:lnL>
                    <a:lnR w="0" cap="flat" cmpd="sng" algn="ctr">
                      <a:noFill/>
                    </a:lnR>
                    <a:lnT w="0" cap="flat" cmpd="sng" algn="ctr">
                      <a:noFill/>
                    </a:lnT>
                    <a:lnB w="0" cap="flat" cmpd="sng" algn="ctr">
                      <a:noFill/>
                    </a:lnB>
                    <a:solidFill>
                      <a:srgbClr val="F4F6F8"/>
                    </a:solidFill>
                  </a:tcPr>
                </a:tc>
                <a:tc>
                  <a:txBody>
                    <a:bodyPr/>
                    <a:lstStyle/>
                    <a:p>
                      <a:pPr marL="0" indent="0" algn="ctr">
                        <a:buNone/>
                      </a:pPr>
                      <a:r>
                        <a:rPr lang="en-US" sz="1000" b="1" kern="0" spc="50" dirty="0">
                          <a:solidFill>
                            <a:srgbClr val="55657A"/>
                          </a:solidFill>
                          <a:latin typeface="Calibri" pitchFamily="34" charset="0"/>
                          <a:ea typeface="Calibri" pitchFamily="34" charset="-122"/>
                          <a:cs typeface="Calibri" pitchFamily="34" charset="-120"/>
                        </a:rPr>
                        <a:t>TESTS</a:t>
                      </a:r>
                      <a:endParaRPr lang="en-US" sz="1000" dirty="0">
                        <a:latin typeface="Calibri" charset="0"/>
                        <a:ea typeface="Calibri" charset="0"/>
                        <a:cs typeface="Calibri" charset="0"/>
                      </a:endParaRPr>
                    </a:p>
                  </a:txBody>
                  <a:tcPr marL="63500" marR="63500" marT="12700" marB="12700" anchor="ctr">
                    <a:lnL w="0" cap="flat" cmpd="sng" algn="ctr">
                      <a:noFill/>
                    </a:lnL>
                    <a:lnR w="0" cap="flat" cmpd="sng" algn="ctr">
                      <a:noFill/>
                    </a:lnR>
                    <a:lnT w="0" cap="flat" cmpd="sng" algn="ctr">
                      <a:noFill/>
                    </a:lnT>
                    <a:lnB w="0" cap="flat" cmpd="sng" algn="ctr">
                      <a:noFill/>
                    </a:lnB>
                    <a:solidFill>
                      <a:srgbClr val="F4F6F8"/>
                    </a:solidFill>
                  </a:tcPr>
                </a:tc>
                <a:extLst>
                  <a:ext uri="{0D108BD9-81ED-4DB2-BD59-A6C34878D82A}">
                    <a16:rowId xmlns:a16="http://schemas.microsoft.com/office/drawing/2014/main" val="10000"/>
                  </a:ext>
                </a:extLst>
              </a:tr>
              <a:tr h="365760">
                <a:tc>
                  <a:txBody>
                    <a:bodyPr/>
                    <a:lstStyle/>
                    <a:p>
                      <a:pPr marL="0" indent="0">
                        <a:buNone/>
                      </a:pPr>
                      <a:r>
                        <a:rPr lang="en-US" sz="1100" b="1" dirty="0">
                          <a:solidFill>
                            <a:srgbClr val="142B4A"/>
                          </a:solidFill>
                          <a:latin typeface="Calibri" pitchFamily="34" charset="0"/>
                          <a:ea typeface="Calibri" pitchFamily="34" charset="-122"/>
                          <a:cs typeface="Calibri" pitchFamily="34" charset="-120"/>
                        </a:rPr>
                        <a:t>model/schema.yml
fact_transaction</a:t>
                      </a:r>
                      <a:endParaRPr lang="en-US" sz="1100" dirty="0">
                        <a:latin typeface="Calibri" charset="0"/>
                        <a:ea typeface="Calibri" charset="0"/>
                        <a:cs typeface="Calibri" charset="0"/>
                      </a:endParaRPr>
                    </a:p>
                    <a:p>
                      <a:pPr marL="0" indent="0">
                        <a:buNone/>
                      </a:pPr>
                      <a:endParaRPr lang="en-US" sz="1100" dirty="0">
                        <a:latin typeface="Calibri" charset="0"/>
                        <a:ea typeface="Calibri" charset="0"/>
                        <a:cs typeface="Calibri" charset="0"/>
                      </a:endParaRPr>
                    </a:p>
                  </a:txBody>
                  <a:tcPr marL="63500" marR="63500" marT="12700" marB="127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dirty="0">
                          <a:solidFill>
                            <a:srgbClr val="142B4A"/>
                          </a:solidFill>
                          <a:latin typeface="Calibri" pitchFamily="34" charset="0"/>
                          <a:ea typeface="Calibri" pitchFamily="34" charset="-122"/>
                          <a:cs typeface="Calibri" pitchFamily="34" charset="-120"/>
                        </a:rPr>
                        <a:t>① ② ③</a:t>
                      </a:r>
                      <a:endParaRPr lang="en-US" sz="1100" dirty="0">
                        <a:latin typeface="Calibri" charset="0"/>
                        <a:ea typeface="Calibri" charset="0"/>
                        <a:cs typeface="Calibri" charset="0"/>
                      </a:endParaRPr>
                    </a:p>
                  </a:txBody>
                  <a:tcPr marL="63500" marR="63500" marT="12700" marB="127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67D8D"/>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12700" marB="127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b="1" dirty="0">
                          <a:solidFill>
                            <a:srgbClr val="142B4A"/>
                          </a:solidFill>
                          <a:latin typeface="Calibri" pitchFamily="34" charset="0"/>
                          <a:ea typeface="Calibri" pitchFamily="34" charset="-122"/>
                          <a:cs typeface="Calibri" pitchFamily="34" charset="-120"/>
                        </a:rPr>
                        <a:t>model/star/schema.yml</a:t>
                      </a:r>
                      <a:endParaRPr lang="en-US" sz="1100" dirty="0">
                        <a:latin typeface="Calibri" charset="0"/>
                        <a:ea typeface="Calibri" charset="0"/>
                        <a:cs typeface="Calibri" charset="0"/>
                      </a:endParaRPr>
                    </a:p>
                    <a:p>
                      <a:pPr marL="0" indent="0">
                        <a:buNone/>
                      </a:pPr>
                      <a:r>
                        <a:rPr lang="en-US" sz="1000" dirty="0">
                          <a:solidFill>
                            <a:srgbClr val="55657A"/>
                          </a:solidFill>
                          <a:latin typeface="Calibri" pitchFamily="34" charset="0"/>
                          <a:ea typeface="Calibri" pitchFamily="34" charset="-122"/>
                          <a:cs typeface="Calibri" pitchFamily="34" charset="-120"/>
                        </a:rPr>
                        <a:t>dim_project  ·  dim_location</a:t>
                      </a:r>
                      <a:endParaRPr lang="en-US" sz="1100" dirty="0">
                        <a:latin typeface="Calibri" charset="0"/>
                        <a:ea typeface="Calibri" charset="0"/>
                        <a:cs typeface="Calibri" charset="0"/>
                      </a:endParaRPr>
                    </a:p>
                  </a:txBody>
                  <a:tcPr marL="63500" marR="635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dirty="0">
                          <a:solidFill>
                            <a:srgbClr val="142B4A"/>
                          </a:solidFill>
                          <a:latin typeface="Calibri" pitchFamily="34" charset="0"/>
                          <a:ea typeface="Calibri" pitchFamily="34" charset="-122"/>
                          <a:cs typeface="Calibri" pitchFamily="34" charset="-120"/>
                        </a:rPr>
                        <a:t>① ②</a:t>
                      </a:r>
                      <a:endParaRPr lang="en-US" sz="1100" dirty="0">
                        <a:latin typeface="Calibri" charset="0"/>
                        <a:ea typeface="Calibri" charset="0"/>
                        <a:cs typeface="Calibri" charset="0"/>
                      </a:endParaRPr>
                    </a:p>
                  </a:txBody>
                  <a:tcPr marL="63500" marR="635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67D8D"/>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142B4A"/>
                          </a:solidFill>
                          <a:latin typeface="Calibri" pitchFamily="34" charset="0"/>
                          <a:ea typeface="Calibri" pitchFamily="34" charset="-122"/>
                          <a:cs typeface="Calibri" pitchFamily="34" charset="-120"/>
                        </a:rPr>
                        <a:t>tests/*.sql</a:t>
                      </a:r>
                      <a:endParaRPr lang="en-US" sz="1100" dirty="0">
                        <a:latin typeface="Calibri" charset="0"/>
                        <a:ea typeface="Calibri" charset="0"/>
                        <a:cs typeface="Calibri" charset="0"/>
                      </a:endParaRPr>
                    </a:p>
                    <a:p>
                      <a:pPr marL="0" indent="0">
                        <a:buNone/>
                      </a:pPr>
                      <a:r>
                        <a:rPr lang="en-US" sz="1000" dirty="0">
                          <a:solidFill>
                            <a:srgbClr val="55657A"/>
                          </a:solidFill>
                          <a:latin typeface="Calibri" pitchFamily="34" charset="0"/>
                          <a:ea typeface="Calibri" pitchFamily="34" charset="-122"/>
                          <a:cs typeface="Calibri" pitchFamily="34" charset="-120"/>
                        </a:rPr>
                        <a:t>fact_transaction</a:t>
                      </a:r>
                      <a:endParaRPr lang="en-US" sz="1100" dirty="0">
                        <a:latin typeface="Calibri" charset="0"/>
                        <a:ea typeface="Calibri" charset="0"/>
                        <a:cs typeface="Calibri" charset="0"/>
                      </a:endParaRPr>
                    </a:p>
                  </a:txBody>
                  <a:tcPr marL="63500" marR="635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dirty="0">
                          <a:solidFill>
                            <a:srgbClr val="142B4A"/>
                          </a:solidFill>
                          <a:latin typeface="Calibri" pitchFamily="34" charset="0"/>
                          <a:ea typeface="Calibri" pitchFamily="34" charset="-122"/>
                          <a:cs typeface="Calibri" pitchFamily="34" charset="-120"/>
                        </a:rPr>
                        <a:t>④</a:t>
                      </a:r>
                      <a:endParaRPr lang="en-US" sz="1100" dirty="0">
                        <a:latin typeface="Calibri" charset="0"/>
                        <a:ea typeface="Calibri" charset="0"/>
                        <a:cs typeface="Calibri" charset="0"/>
                      </a:endParaRPr>
                    </a:p>
                  </a:txBody>
                  <a:tcPr marL="63500" marR="635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67D8D"/>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3" name="Text 8"/>
          <p:cNvSpPr txBox="1"/>
          <p:nvPr/>
        </p:nvSpPr>
        <p:spPr>
          <a:xfrm>
            <a:off x="6355080" y="3945281"/>
            <a:ext cx="5212080" cy="256032"/>
          </a:xfrm>
          <a:prstGeom prst="rect">
            <a:avLst/>
          </a:prstGeom>
          <a:noFill/>
          <a:ln/>
        </p:spPr>
        <p:txBody>
          <a:bodyPr wrap="square" lIns="0" tIns="0" rIns="0" bIns="0" rtlCol="0" anchor="ctr"/>
          <a:lstStyle/>
          <a:p>
            <a:pPr marL="0" indent="0">
              <a:buNone/>
            </a:pPr>
            <a:r>
              <a:rPr lang="en-US" sz="1200" b="1" dirty="0">
                <a:solidFill>
                  <a:srgbClr val="142B4A"/>
                </a:solidFill>
              </a:rPr>
              <a:t>We used both “Great Expectations or custom SQL queries”.</a:t>
            </a:r>
            <a:endParaRPr lang="en-US" sz="1200" dirty="0"/>
          </a:p>
        </p:txBody>
      </p:sp>
      <p:graphicFrame>
        <p:nvGraphicFramePr>
          <p:cNvPr id="34" name="Table 2"/>
          <p:cNvGraphicFramePr>
            <a:graphicFrameLocks noGrp="1"/>
          </p:cNvGraphicFramePr>
          <p:nvPr>
            <p:extLst>
              <p:ext uri="{D42A27DB-BD31-4B8C-83A1-F6EECF244321}">
                <p14:modId xmlns:p14="http://schemas.microsoft.com/office/powerpoint/2010/main" val="704532928"/>
              </p:ext>
            </p:extLst>
          </p:nvPr>
        </p:nvGraphicFramePr>
        <p:xfrm>
          <a:off x="6355080" y="4256177"/>
          <a:ext cx="5166360" cy="1133856"/>
        </p:xfrm>
        <a:graphic>
          <a:graphicData uri="http://schemas.openxmlformats.org/drawingml/2006/table">
            <a:tbl>
              <a:tblPr/>
              <a:tblGrid>
                <a:gridCol w="132588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tblGrid>
              <a:tr h="256032">
                <a:tc>
                  <a:txBody>
                    <a:bodyPr/>
                    <a:lstStyle/>
                    <a:p>
                      <a:pPr marL="0" indent="0">
                        <a:buNone/>
                      </a:pPr>
                      <a:r>
                        <a:rPr lang="en-US" sz="1100" b="1" dirty="0">
                          <a:solidFill>
                            <a:srgbClr val="167D8D"/>
                          </a:solidFill>
                          <a:latin typeface="Calibri" pitchFamily="34" charset="0"/>
                          <a:ea typeface="Calibri" pitchFamily="34" charset="-122"/>
                          <a:cs typeface="Calibri" pitchFamily="34" charset="-120"/>
                        </a:rPr>
                        <a:t>what we needed</a:t>
                      </a:r>
                      <a:endParaRPr lang="en-US" sz="1100" dirty="0">
                        <a:latin typeface="Calibri" charset="0"/>
                        <a:ea typeface="Calibri" charset="0"/>
                        <a:cs typeface="Calibri" charset="0"/>
                      </a:endParaRPr>
                    </a:p>
                  </a:txBody>
                  <a:tcPr marL="76200" marR="76200" marT="12700" marB="127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ranges, and comparing two columns</a:t>
                      </a:r>
                      <a:endParaRPr lang="en-US" sz="1100" dirty="0">
                        <a:latin typeface="Calibri" charset="0"/>
                        <a:ea typeface="Calibri" charset="0"/>
                        <a:cs typeface="Calibri" charset="0"/>
                      </a:endParaRPr>
                    </a:p>
                  </a:txBody>
                  <a:tcPr marL="76200" marR="76200" marT="12700" marB="127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56032">
                <a:tc>
                  <a:txBody>
                    <a:bodyPr/>
                    <a:lstStyle/>
                    <a:p>
                      <a:pPr marL="0" indent="0">
                        <a:buNone/>
                      </a:pPr>
                      <a:r>
                        <a:rPr lang="en-US" sz="1100" b="1" dirty="0">
                          <a:solidFill>
                            <a:srgbClr val="167D8D"/>
                          </a:solidFill>
                          <a:latin typeface="Calibri" pitchFamily="34" charset="0"/>
                          <a:ea typeface="Calibri" pitchFamily="34" charset="-122"/>
                          <a:cs typeface="Calibri" pitchFamily="34" charset="-120"/>
                        </a:rPr>
                        <a:t>dbt’s built-ins</a:t>
                      </a:r>
                      <a:endParaRPr lang="en-US" sz="1100" dirty="0">
                        <a:latin typeface="Calibri" charset="0"/>
                        <a:ea typeface="Calibri" charset="0"/>
                        <a:cs typeface="Calibri" charset="0"/>
                      </a:endParaRPr>
                    </a:p>
                  </a:txBody>
                  <a:tcPr marL="76200" marR="762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have neither</a:t>
                      </a:r>
                      <a:endParaRPr lang="en-US" sz="1100" dirty="0">
                        <a:latin typeface="Calibri" charset="0"/>
                        <a:ea typeface="Calibri" charset="0"/>
                        <a:cs typeface="Calibri" charset="0"/>
                      </a:endParaRPr>
                    </a:p>
                  </a:txBody>
                  <a:tcPr marL="76200" marR="762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56032">
                <a:tc>
                  <a:txBody>
                    <a:bodyPr/>
                    <a:lstStyle/>
                    <a:p>
                      <a:pPr marL="0" indent="0">
                        <a:buNone/>
                      </a:pPr>
                      <a:r>
                        <a:rPr lang="en-US" sz="1100" b="1" dirty="0">
                          <a:solidFill>
                            <a:srgbClr val="167D8D"/>
                          </a:solidFill>
                          <a:latin typeface="Calibri" pitchFamily="34" charset="0"/>
                          <a:ea typeface="Calibri" pitchFamily="34" charset="-122"/>
                          <a:cs typeface="Calibri" pitchFamily="34" charset="-120"/>
                        </a:rPr>
                        <a:t>the options</a:t>
                      </a:r>
                      <a:endParaRPr lang="en-US" sz="1100" dirty="0">
                        <a:latin typeface="Calibri" charset="0"/>
                        <a:ea typeface="Calibri" charset="0"/>
                        <a:cs typeface="Calibri" charset="0"/>
                      </a:endParaRPr>
                    </a:p>
                  </a:txBody>
                  <a:tcPr marL="76200" marR="762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00" dirty="0">
                          <a:solidFill>
                            <a:srgbClr val="142B4A"/>
                          </a:solidFill>
                          <a:latin typeface="Calibri" pitchFamily="34" charset="0"/>
                          <a:ea typeface="Calibri" pitchFamily="34" charset="-122"/>
                          <a:cs typeface="Calibri" pitchFamily="34" charset="-120"/>
                        </a:rPr>
                        <a:t>more custom SQL  ·  install dbt_utils  ·  use Great Expectations</a:t>
                      </a:r>
                      <a:endParaRPr lang="en-US" sz="1100" dirty="0">
                        <a:latin typeface="Calibri" charset="0"/>
                        <a:ea typeface="Calibri" charset="0"/>
                        <a:cs typeface="Calibri" charset="0"/>
                      </a:endParaRPr>
                    </a:p>
                  </a:txBody>
                  <a:tcPr marL="76200" marR="762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167D8D"/>
                          </a:solidFill>
                          <a:latin typeface="Calibri" pitchFamily="34" charset="0"/>
                          <a:ea typeface="Calibri" pitchFamily="34" charset="-122"/>
                          <a:cs typeface="Calibri" pitchFamily="34" charset="-120"/>
                        </a:rPr>
                        <a:t>what we chose</a:t>
                      </a:r>
                      <a:endParaRPr lang="en-US" sz="1100" dirty="0">
                        <a:latin typeface="Calibri" charset="0"/>
                        <a:ea typeface="Calibri" charset="0"/>
                        <a:cs typeface="Calibri" charset="0"/>
                      </a:endParaRPr>
                    </a:p>
                  </a:txBody>
                  <a:tcPr marL="76200" marR="762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tc>
                  <a:txBody>
                    <a:bodyPr/>
                    <a:lstStyle/>
                    <a:p>
                      <a:pPr marL="0" indent="0">
                        <a:buNone/>
                      </a:pPr>
                      <a:r>
                        <a:rPr lang="en-US" sz="1100" b="1" dirty="0">
                          <a:solidFill>
                            <a:srgbClr val="142B4A"/>
                          </a:solidFill>
                          <a:latin typeface="Calibri" pitchFamily="34" charset="0"/>
                          <a:ea typeface="Calibri" pitchFamily="34" charset="-122"/>
                          <a:cs typeface="Calibri" pitchFamily="34" charset="-120"/>
                        </a:rPr>
                        <a:t>Great Expectations — the functions already exist</a:t>
                      </a:r>
                      <a:endParaRPr lang="en-US" sz="1100" dirty="0">
                        <a:latin typeface="Calibri" charset="0"/>
                        <a:ea typeface="Calibri" charset="0"/>
                        <a:cs typeface="Calibri" charset="0"/>
                      </a:endParaRPr>
                    </a:p>
                  </a:txBody>
                  <a:tcPr marL="76200" marR="76200" marT="12700" marB="127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sz="1200" b="0"/>
              <a:t>10</a:t>
            </a:fld>
            <a:endParaRPr lang="en-US" sz="1200"/>
          </a:p>
        </p:txBody>
      </p:sp>
      <p:sp>
        <p:nvSpPr>
          <p:cNvPr id="11" name="Text 2">
            <a:extLst>
              <a:ext uri="{FF2B5EF4-FFF2-40B4-BE49-F238E27FC236}">
                <a16:creationId xmlns:a16="http://schemas.microsoft.com/office/drawing/2014/main" id="{8C86B174-ADA8-689E-68EE-6652D78E3500}"/>
              </a:ext>
            </a:extLst>
          </p:cNvPr>
          <p:cNvSpPr txBox="1"/>
          <p:nvPr/>
        </p:nvSpPr>
        <p:spPr>
          <a:xfrm>
            <a:off x="548640" y="621792"/>
            <a:ext cx="11094415" cy="219456"/>
          </a:xfrm>
          <a:prstGeom prst="rect">
            <a:avLst/>
          </a:prstGeom>
          <a:noFill/>
          <a:ln/>
        </p:spPr>
        <p:txBody>
          <a:bodyPr wrap="square" lIns="0" tIns="0" rIns="0" bIns="0" rtlCol="0" anchor="ctr"/>
          <a:lstStyle/>
          <a:p>
            <a:r>
              <a:rPr lang="en-US" sz="1200" b="1" dirty="0">
                <a:solidFill>
                  <a:srgbClr val="142B4A"/>
                </a:solidFill>
                <a:latin typeface="Cambria" pitchFamily="34" charset="0"/>
                <a:ea typeface="Cambria" pitchFamily="34" charset="-122"/>
                <a:cs typeface="Cambria" pitchFamily="34" charset="-120"/>
              </a:rPr>
              <a:t>Nine tests check after star schema is built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05  DATA QUALITY</a:t>
            </a:r>
            <a:endParaRPr lang="en-US" sz="1200" dirty="0"/>
          </a:p>
        </p:txBody>
      </p:sp>
      <p:sp>
        <p:nvSpPr>
          <p:cNvPr id="7" name="Text 3"/>
          <p:cNvSpPr txBox="1"/>
          <p:nvPr/>
        </p:nvSpPr>
        <p:spPr>
          <a:xfrm>
            <a:off x="548640" y="1073446"/>
            <a:ext cx="11091672" cy="219456"/>
          </a:xfrm>
          <a:prstGeom prst="rect">
            <a:avLst/>
          </a:prstGeom>
          <a:noFill/>
          <a:ln/>
        </p:spPr>
        <p:txBody>
          <a:bodyPr wrap="square" lIns="0" tIns="0" rIns="0" bIns="0" rtlCol="0" anchor="ctr"/>
          <a:lstStyle/>
          <a:p>
            <a:pPr marL="0" indent="0">
              <a:buNone/>
            </a:pPr>
            <a:r>
              <a:rPr lang="en-US" sz="1200" b="1" kern="0" spc="150" dirty="0">
                <a:solidFill>
                  <a:srgbClr val="142B4A"/>
                </a:solidFill>
              </a:rPr>
              <a:t>GREAT EXPECTATIONS  ·  15 EXPECTATIONS  ·  12 PASS  ·  3 FAIL</a:t>
            </a:r>
            <a:endParaRPr lang="en-US" sz="1200" dirty="0"/>
          </a:p>
        </p:txBody>
      </p:sp>
      <p:graphicFrame>
        <p:nvGraphicFramePr>
          <p:cNvPr id="25" name="Table 1"/>
          <p:cNvGraphicFramePr>
            <a:graphicFrameLocks noGrp="1"/>
          </p:cNvGraphicFramePr>
          <p:nvPr>
            <p:extLst>
              <p:ext uri="{D42A27DB-BD31-4B8C-83A1-F6EECF244321}">
                <p14:modId xmlns:p14="http://schemas.microsoft.com/office/powerpoint/2010/main" val="1384081759"/>
              </p:ext>
            </p:extLst>
          </p:nvPr>
        </p:nvGraphicFramePr>
        <p:xfrm>
          <a:off x="548640" y="1320334"/>
          <a:ext cx="11091672" cy="3319272"/>
        </p:xfrm>
        <a:graphic>
          <a:graphicData uri="http://schemas.openxmlformats.org/drawingml/2006/table">
            <a:tbl>
              <a:tblPr/>
              <a:tblGrid>
                <a:gridCol w="18288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496312">
                  <a:extLst>
                    <a:ext uri="{9D8B030D-6E8A-4147-A177-3AD203B41FA5}">
                      <a16:colId xmlns:a16="http://schemas.microsoft.com/office/drawing/2014/main" val="20003"/>
                    </a:ext>
                  </a:extLst>
                </a:gridCol>
              </a:tblGrid>
              <a:tr h="256032">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EXPECTATION</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FIELD AND CONDITION</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vs DBT</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RESULT</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extLst>
                  <a:ext uri="{0D108BD9-81ED-4DB2-BD59-A6C34878D82A}">
                    <a16:rowId xmlns:a16="http://schemas.microsoft.com/office/drawing/2014/main" val="10000"/>
                  </a:ext>
                </a:extLst>
              </a:tr>
              <a:tr h="365760">
                <a:tc>
                  <a:txBody>
                    <a:bodyPr/>
                    <a:lstStyle/>
                    <a:p>
                      <a:pPr marL="0" indent="0">
                        <a:buNone/>
                      </a:pPr>
                      <a:r>
                        <a:rPr lang="en-US" sz="1400" b="1" dirty="0">
                          <a:solidFill>
                            <a:srgbClr val="142B4A"/>
                          </a:solidFill>
                          <a:latin typeface="Calibri" pitchFamily="34" charset="0"/>
                          <a:ea typeface="Calibri" pitchFamily="34" charset="-122"/>
                          <a:cs typeface="Calibri" pitchFamily="34" charset="-120"/>
                        </a:rPr>
                        <a:t>BeBetween</a:t>
                      </a:r>
                      <a:r>
                        <a:rPr lang="en-US" sz="1100" b="1" dirty="0">
                          <a:solidFill>
                            <a:srgbClr val="167D8D"/>
                          </a:solidFill>
                          <a:latin typeface="Calibri" pitchFamily="34" charset="0"/>
                          <a:ea typeface="Calibri" pitchFamily="34" charset="-122"/>
                          <a:cs typeface="Calibri" pitchFamily="34" charset="-120"/>
                        </a:rPr>
                        <a:t>  ×1</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buNone/>
                      </a:pPr>
                      <a:r>
                        <a:rPr lang="en-US" sz="1400" dirty="0">
                          <a:solidFill>
                            <a:srgbClr val="142B4A"/>
                          </a:solidFill>
                          <a:latin typeface="Calibri" pitchFamily="34" charset="0"/>
                          <a:ea typeface="Calibri" pitchFamily="34" charset="-122"/>
                          <a:cs typeface="Calibri" pitchFamily="34" charset="-120"/>
                        </a:rPr>
                        <a:t>number_of_units = 1</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ADDS</a:t>
                      </a:r>
                      <a:endParaRPr lang="en-US" sz="1100" dirty="0">
                        <a:latin typeface="Calibri" charset="0"/>
                        <a:ea typeface="Calibri" charset="0"/>
                        <a:cs typeface="Calibri" charset="0"/>
                      </a:endParaRPr>
                    </a:p>
                  </a:txBody>
                  <a:tcPr marL="88900" marR="88900" marT="38100" marB="38100" anchor="ctr">
                    <a:lnL w="25400" cap="flat" cmpd="sng" algn="ctr">
                      <a:no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no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FAIL · 180 rows</a:t>
                      </a:r>
                      <a:endParaRPr lang="en-US" sz="1100" dirty="0">
                        <a:latin typeface="Calibri" charset="0"/>
                        <a:ea typeface="Calibri" charset="0"/>
                        <a:cs typeface="Calibri" charset="0"/>
                      </a:endParaRPr>
                    </a:p>
                  </a:txBody>
                  <a:tcPr marL="88900" marR="889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no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DA"/>
                    </a:solidFill>
                  </a:tcPr>
                </a:tc>
                <a:extLst>
                  <a:ext uri="{0D108BD9-81ED-4DB2-BD59-A6C34878D82A}">
                    <a16:rowId xmlns:a16="http://schemas.microsoft.com/office/drawing/2014/main" val="10001"/>
                  </a:ext>
                </a:extLst>
              </a:tr>
              <a:tr h="365760">
                <a:tc>
                  <a:txBody>
                    <a:bodyPr/>
                    <a:lstStyle/>
                    <a:p>
                      <a:pPr marL="0" indent="0">
                        <a:buNone/>
                      </a:pPr>
                      <a:r>
                        <a:rPr lang="en-US" sz="1400" b="1" dirty="0">
                          <a:solidFill>
                            <a:srgbClr val="142B4A"/>
                          </a:solidFill>
                          <a:latin typeface="Calibri" pitchFamily="34" charset="0"/>
                          <a:ea typeface="Calibri" pitchFamily="34" charset="-122"/>
                          <a:cs typeface="Calibri" pitchFamily="34" charset="-120"/>
                        </a:rPr>
                        <a:t>BeBetween</a:t>
                      </a:r>
                      <a:r>
                        <a:rPr lang="en-US" sz="1100" b="1" dirty="0">
                          <a:solidFill>
                            <a:srgbClr val="167D8D"/>
                          </a:solidFill>
                          <a:latin typeface="Calibri" pitchFamily="34" charset="0"/>
                          <a:ea typeface="Calibri" pitchFamily="34" charset="-122"/>
                          <a:cs typeface="Calibri" pitchFamily="34" charset="-120"/>
                        </a:rPr>
                        <a:t>  ×1</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400" dirty="0">
                          <a:solidFill>
                            <a:srgbClr val="142B4A"/>
                          </a:solidFill>
                          <a:latin typeface="Calibri" pitchFamily="34" charset="0"/>
                          <a:ea typeface="Calibri" pitchFamily="34" charset="-122"/>
                          <a:cs typeface="Calibri" pitchFamily="34" charset="-120"/>
                        </a:rPr>
                        <a:t>transacted_price ≤ $75,000,000</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ADDS</a:t>
                      </a:r>
                      <a:endParaRPr lang="en-US" sz="1100" dirty="0">
                        <a:latin typeface="Calibri" charset="0"/>
                        <a:ea typeface="Calibri" charset="0"/>
                        <a:cs typeface="Calibri" charset="0"/>
                      </a:endParaRPr>
                    </a:p>
                  </a:txBody>
                  <a:tcPr marL="88900" marR="88900" marT="38100" marB="38100" anchor="ctr">
                    <a:lnL w="25400" cap="flat" cmpd="sng" algn="ctr">
                      <a:no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FAIL · 72 rows</a:t>
                      </a:r>
                      <a:endParaRPr lang="en-US" sz="1100" dirty="0">
                        <a:latin typeface="Calibri" charset="0"/>
                        <a:ea typeface="Calibri" charset="0"/>
                        <a:cs typeface="Calibri" charset="0"/>
                      </a:endParaRPr>
                    </a:p>
                  </a:txBody>
                  <a:tcPr marL="88900" marR="889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DA"/>
                    </a:solidFill>
                  </a:tcPr>
                </a:tc>
                <a:extLst>
                  <a:ext uri="{0D108BD9-81ED-4DB2-BD59-A6C34878D82A}">
                    <a16:rowId xmlns:a16="http://schemas.microsoft.com/office/drawing/2014/main" val="10002"/>
                  </a:ext>
                </a:extLst>
              </a:tr>
              <a:tr h="365760">
                <a:tc>
                  <a:txBody>
                    <a:bodyPr/>
                    <a:lstStyle/>
                    <a:p>
                      <a:pPr marL="0" indent="0">
                        <a:buNone/>
                      </a:pPr>
                      <a:r>
                        <a:rPr lang="en-US" sz="1400" b="1" dirty="0">
                          <a:solidFill>
                            <a:srgbClr val="142B4A"/>
                          </a:solidFill>
                          <a:latin typeface="Calibri" pitchFamily="34" charset="0"/>
                          <a:ea typeface="Calibri" pitchFamily="34" charset="-122"/>
                          <a:cs typeface="Calibri" pitchFamily="34" charset="-120"/>
                        </a:rPr>
                        <a:t>BeBetween</a:t>
                      </a:r>
                      <a:r>
                        <a:rPr lang="en-US" sz="1100" b="1" dirty="0">
                          <a:solidFill>
                            <a:srgbClr val="167D8D"/>
                          </a:solidFill>
                          <a:latin typeface="Calibri" pitchFamily="34" charset="0"/>
                          <a:ea typeface="Calibri" pitchFamily="34" charset="-122"/>
                          <a:cs typeface="Calibri" pitchFamily="34" charset="-120"/>
                        </a:rPr>
                        <a:t>  ×1</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400" dirty="0">
                          <a:solidFill>
                            <a:srgbClr val="142B4A"/>
                          </a:solidFill>
                          <a:latin typeface="Calibri" pitchFamily="34" charset="0"/>
                          <a:ea typeface="Calibri" pitchFamily="34" charset="-122"/>
                          <a:cs typeface="Calibri" pitchFamily="34" charset="-120"/>
                        </a:rPr>
                        <a:t>percentage_difference within ±2.5%</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ADDS</a:t>
                      </a:r>
                      <a:endParaRPr lang="en-US" sz="1100" dirty="0">
                        <a:latin typeface="Calibri" charset="0"/>
                        <a:ea typeface="Calibri" charset="0"/>
                        <a:cs typeface="Calibri" charset="0"/>
                      </a:endParaRPr>
                    </a:p>
                  </a:txBody>
                  <a:tcPr marL="88900" marR="88900" marT="38100" marB="38100" anchor="ctr">
                    <a:lnL w="25400" cap="flat" cmpd="sng" algn="ctr">
                      <a:no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FAIL · 202 rows</a:t>
                      </a:r>
                      <a:endParaRPr lang="en-US" sz="1100" dirty="0">
                        <a:latin typeface="Calibri" charset="0"/>
                        <a:ea typeface="Calibri" charset="0"/>
                        <a:cs typeface="Calibri" charset="0"/>
                      </a:endParaRPr>
                    </a:p>
                  </a:txBody>
                  <a:tcPr marL="88900" marR="889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BF0DA"/>
                    </a:solidFill>
                  </a:tcPr>
                </a:tc>
                <a:extLst>
                  <a:ext uri="{0D108BD9-81ED-4DB2-BD59-A6C34878D82A}">
                    <a16:rowId xmlns:a16="http://schemas.microsoft.com/office/drawing/2014/main" val="10003"/>
                  </a:ext>
                </a:extLst>
              </a:tr>
              <a:tr h="365760">
                <a:tc>
                  <a:txBody>
                    <a:bodyPr/>
                    <a:lstStyle/>
                    <a:p>
                      <a:pPr marL="0" indent="0">
                        <a:buNone/>
                      </a:pPr>
                      <a:r>
                        <a:rPr lang="en-US" sz="1400" b="1" dirty="0">
                          <a:solidFill>
                            <a:srgbClr val="142B4A"/>
                          </a:solidFill>
                          <a:latin typeface="Calibri" pitchFamily="34" charset="0"/>
                          <a:ea typeface="Calibri" pitchFamily="34" charset="-122"/>
                          <a:cs typeface="Calibri" pitchFamily="34" charset="-120"/>
                        </a:rPr>
                        <a:t>BeBetween &gt; 0</a:t>
                      </a:r>
                      <a:r>
                        <a:rPr lang="en-US" sz="1100" b="1" dirty="0">
                          <a:solidFill>
                            <a:srgbClr val="167D8D"/>
                          </a:solidFill>
                          <a:latin typeface="Calibri" pitchFamily="34" charset="0"/>
                          <a:ea typeface="Calibri" pitchFamily="34" charset="-122"/>
                          <a:cs typeface="Calibri" pitchFamily="34" charset="-120"/>
                        </a:rPr>
                        <a:t>  ×8</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400" dirty="0">
                          <a:solidFill>
                            <a:srgbClr val="142B4A"/>
                          </a:solidFill>
                          <a:latin typeface="Calibri" pitchFamily="34" charset="0"/>
                          <a:ea typeface="Calibri" pitchFamily="34" charset="-122"/>
                          <a:cs typeface="Calibri" pitchFamily="34" charset="-120"/>
                        </a:rPr>
                        <a:t>the 7 measures in tests/fact_transaction_valid_measures.sql, plus new_trans_price</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7 REPEAT · 1 ADDS</a:t>
                      </a:r>
                      <a:endParaRPr lang="en-US" sz="1100" dirty="0">
                        <a:latin typeface="Calibri" charset="0"/>
                        <a:ea typeface="Calibri" charset="0"/>
                        <a:cs typeface="Calibri" charset="0"/>
                      </a:endParaRPr>
                    </a:p>
                  </a:txBody>
                  <a:tcPr marL="88900" marR="88900" marT="38100" marB="38100" anchor="ctr">
                    <a:lnL w="25400" cap="flat" cmpd="sng" algn="ctr">
                      <a:no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88900" marR="889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365760">
                <a:tc>
                  <a:txBody>
                    <a:bodyPr/>
                    <a:lstStyle/>
                    <a:p>
                      <a:pPr marL="0" indent="0">
                        <a:buNone/>
                      </a:pPr>
                      <a:r>
                        <a:rPr lang="en-US" sz="1400" b="1" dirty="0">
                          <a:solidFill>
                            <a:srgbClr val="142B4A"/>
                          </a:solidFill>
                          <a:latin typeface="Calibri" pitchFamily="34" charset="0"/>
                          <a:ea typeface="Calibri" pitchFamily="34" charset="-122"/>
                          <a:cs typeface="Calibri" pitchFamily="34" charset="-120"/>
                        </a:rPr>
                        <a:t>NotBeNull</a:t>
                      </a:r>
                      <a:r>
                        <a:rPr lang="en-US" sz="1100" b="1" dirty="0">
                          <a:solidFill>
                            <a:srgbClr val="167D8D"/>
                          </a:solidFill>
                          <a:latin typeface="Calibri" pitchFamily="34" charset="0"/>
                          <a:ea typeface="Calibri" pitchFamily="34" charset="-122"/>
                          <a:cs typeface="Calibri" pitchFamily="34" charset="-120"/>
                        </a:rPr>
                        <a:t>  ×1</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400" dirty="0">
                          <a:solidFill>
                            <a:srgbClr val="142B4A"/>
                          </a:solidFill>
                          <a:latin typeface="Calibri" pitchFamily="34" charset="0"/>
                          <a:ea typeface="Calibri" pitchFamily="34" charset="-122"/>
                          <a:cs typeface="Calibri" pitchFamily="34" charset="-120"/>
                        </a:rPr>
                        <a:t>sale_date — dbt tests it in staging only</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ADDS</a:t>
                      </a:r>
                      <a:endParaRPr lang="en-US" sz="1100" dirty="0">
                        <a:latin typeface="Calibri" charset="0"/>
                        <a:ea typeface="Calibri" charset="0"/>
                        <a:cs typeface="Calibri" charset="0"/>
                      </a:endParaRPr>
                    </a:p>
                  </a:txBody>
                  <a:tcPr marL="88900" marR="88900" marT="38100" marB="38100" anchor="ctr">
                    <a:lnL w="25400" cap="flat" cmpd="sng" algn="ctr">
                      <a:no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88900" marR="889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5760">
                <a:tc>
                  <a:txBody>
                    <a:bodyPr/>
                    <a:lstStyle/>
                    <a:p>
                      <a:pPr marL="0" indent="0">
                        <a:buNone/>
                      </a:pPr>
                      <a:r>
                        <a:rPr lang="en-US" sz="1400" b="1" dirty="0">
                          <a:solidFill>
                            <a:srgbClr val="142B4A"/>
                          </a:solidFill>
                          <a:latin typeface="Calibri" pitchFamily="34" charset="0"/>
                          <a:ea typeface="Calibri" pitchFamily="34" charset="-122"/>
                          <a:cs typeface="Calibri" pitchFamily="34" charset="-120"/>
                        </a:rPr>
                        <a:t>NotBeNull</a:t>
                      </a:r>
                      <a:r>
                        <a:rPr lang="en-US" sz="1100" b="1" dirty="0">
                          <a:solidFill>
                            <a:srgbClr val="167D8D"/>
                          </a:solidFill>
                          <a:latin typeface="Calibri" pitchFamily="34" charset="0"/>
                          <a:ea typeface="Calibri" pitchFamily="34" charset="-122"/>
                          <a:cs typeface="Calibri" pitchFamily="34" charset="-120"/>
                        </a:rPr>
                        <a:t>  ×1</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400" dirty="0">
                          <a:solidFill>
                            <a:srgbClr val="142B4A"/>
                          </a:solidFill>
                          <a:latin typeface="Calibri" pitchFamily="34" charset="0"/>
                          <a:ea typeface="Calibri" pitchFamily="34" charset="-122"/>
                          <a:cs typeface="Calibri" pitchFamily="34" charset="-120"/>
                        </a:rPr>
                        <a:t>transaction_key</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REPEATS DBT</a:t>
                      </a:r>
                      <a:endParaRPr lang="en-US" sz="1100" dirty="0">
                        <a:latin typeface="Calibri" charset="0"/>
                        <a:ea typeface="Calibri" charset="0"/>
                        <a:cs typeface="Calibri" charset="0"/>
                      </a:endParaRPr>
                    </a:p>
                  </a:txBody>
                  <a:tcPr marL="88900" marR="88900" marT="38100" marB="38100" anchor="ctr">
                    <a:lnL w="25400" cap="flat" cmpd="sng" algn="ctr">
                      <a:no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88900" marR="889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365760">
                <a:tc>
                  <a:txBody>
                    <a:bodyPr/>
                    <a:lstStyle/>
                    <a:p>
                      <a:pPr marL="0" indent="0">
                        <a:buNone/>
                      </a:pPr>
                      <a:r>
                        <a:rPr lang="en-US" sz="1400" b="1" dirty="0">
                          <a:solidFill>
                            <a:srgbClr val="142B4A"/>
                          </a:solidFill>
                          <a:latin typeface="Calibri" pitchFamily="34" charset="0"/>
                          <a:ea typeface="Calibri" pitchFamily="34" charset="-122"/>
                          <a:cs typeface="Calibri" pitchFamily="34" charset="-120"/>
                        </a:rPr>
                        <a:t>BeUnique</a:t>
                      </a:r>
                      <a:r>
                        <a:rPr lang="en-US" sz="1100" b="1" dirty="0">
                          <a:solidFill>
                            <a:srgbClr val="167D8D"/>
                          </a:solidFill>
                          <a:latin typeface="Calibri" pitchFamily="34" charset="0"/>
                          <a:ea typeface="Calibri" pitchFamily="34" charset="-122"/>
                          <a:cs typeface="Calibri" pitchFamily="34" charset="-120"/>
                        </a:rPr>
                        <a:t>  ×1</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400" dirty="0">
                          <a:solidFill>
                            <a:srgbClr val="142B4A"/>
                          </a:solidFill>
                          <a:latin typeface="Calibri" pitchFamily="34" charset="0"/>
                          <a:ea typeface="Calibri" pitchFamily="34" charset="-122"/>
                          <a:cs typeface="Calibri" pitchFamily="34" charset="-120"/>
                        </a:rPr>
                        <a:t>transaction_key</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REPEATS DBT</a:t>
                      </a:r>
                      <a:endParaRPr lang="en-US" sz="1100" dirty="0">
                        <a:latin typeface="Calibri" charset="0"/>
                        <a:ea typeface="Calibri" charset="0"/>
                        <a:cs typeface="Calibri" charset="0"/>
                      </a:endParaRPr>
                    </a:p>
                  </a:txBody>
                  <a:tcPr marL="88900" marR="88900" marT="38100" marB="38100" anchor="ctr">
                    <a:lnL w="25400" cap="flat" cmpd="sng" algn="ctr">
                      <a:no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88900" marR="889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365760">
                <a:tc>
                  <a:txBody>
                    <a:bodyPr/>
                    <a:lstStyle/>
                    <a:p>
                      <a:pPr marL="0" indent="0">
                        <a:buNone/>
                      </a:pPr>
                      <a:r>
                        <a:rPr lang="en-US" sz="1400" b="1" dirty="0">
                          <a:solidFill>
                            <a:srgbClr val="142B4A"/>
                          </a:solidFill>
                          <a:latin typeface="Calibri" pitchFamily="34" charset="0"/>
                          <a:ea typeface="Calibri" pitchFamily="34" charset="-122"/>
                          <a:cs typeface="Calibri" pitchFamily="34" charset="-120"/>
                        </a:rPr>
                        <a:t>ColumnToExist</a:t>
                      </a:r>
                      <a:r>
                        <a:rPr lang="en-US" sz="1100" b="1" dirty="0">
                          <a:solidFill>
                            <a:srgbClr val="167D8D"/>
                          </a:solidFill>
                          <a:latin typeface="Calibri" pitchFamily="34" charset="0"/>
                          <a:ea typeface="Calibri" pitchFamily="34" charset="-122"/>
                          <a:cs typeface="Calibri" pitchFamily="34" charset="-120"/>
                        </a:rPr>
                        <a:t>  ×1</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buNone/>
                      </a:pPr>
                      <a:r>
                        <a:rPr lang="en-US" sz="1400" dirty="0">
                          <a:solidFill>
                            <a:srgbClr val="142B4A"/>
                          </a:solidFill>
                          <a:latin typeface="Calibri" pitchFamily="34" charset="0"/>
                          <a:ea typeface="Calibri" pitchFamily="34" charset="-122"/>
                          <a:cs typeface="Calibri" pitchFamily="34" charset="-120"/>
                        </a:rPr>
                        <a:t>transaction_key</a:t>
                      </a:r>
                      <a:endParaRPr lang="en-US" sz="14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ADDS</a:t>
                      </a:r>
                      <a:endParaRPr lang="en-US" sz="1100" dirty="0">
                        <a:latin typeface="Calibri" charset="0"/>
                        <a:ea typeface="Calibri" charset="0"/>
                        <a:cs typeface="Calibri" charset="0"/>
                      </a:endParaRPr>
                    </a:p>
                  </a:txBody>
                  <a:tcPr marL="88900" marR="88900" marT="38100" marB="38100" anchor="ctr">
                    <a:lnL w="25400" cap="flat" cmpd="sng" algn="ctr">
                      <a:no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tc>
                  <a:txBody>
                    <a:bodyPr/>
                    <a:lstStyle/>
                    <a:p>
                      <a:pPr marL="0" indent="0" algn="ctr">
                        <a:buNone/>
                      </a:pPr>
                      <a:r>
                        <a:rPr lang="en-US" sz="1100" b="1" dirty="0">
                          <a:solidFill>
                            <a:srgbClr val="142B4A"/>
                          </a:solidFill>
                          <a:latin typeface="Calibri" pitchFamily="34" charset="0"/>
                          <a:ea typeface="Calibri" pitchFamily="34" charset="-122"/>
                          <a:cs typeface="Calibri" pitchFamily="34" charset="-120"/>
                        </a:rPr>
                        <a:t>PASS</a:t>
                      </a:r>
                      <a:endParaRPr lang="en-US" sz="1100" dirty="0">
                        <a:latin typeface="Calibri" charset="0"/>
                        <a:ea typeface="Calibri" charset="0"/>
                        <a:cs typeface="Calibri" charset="0"/>
                      </a:endParaRPr>
                    </a:p>
                  </a:txBody>
                  <a:tcPr marL="88900" marR="88900" marT="38100" marB="381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4"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11</a:t>
            </a:fld>
            <a:endParaRPr lang="en-US"/>
          </a:p>
        </p:txBody>
      </p:sp>
      <p:sp>
        <p:nvSpPr>
          <p:cNvPr id="40" name="Shape 40"/>
          <p:cNvSpPr/>
          <p:nvPr/>
        </p:nvSpPr>
        <p:spPr>
          <a:xfrm>
            <a:off x="495172" y="4983480"/>
            <a:ext cx="11094415" cy="594360"/>
          </a:xfrm>
          <a:prstGeom prst="roundRect">
            <a:avLst>
              <a:gd name="adj" fmla="val 10769"/>
            </a:avLst>
          </a:prstGeom>
          <a:solidFill>
            <a:srgbClr val="E3F1F3"/>
          </a:solidFill>
          <a:ln w="9525">
            <a:solidFill>
              <a:srgbClr val="E3F1F3"/>
            </a:solidFill>
            <a:prstDash val="solid"/>
          </a:ln>
        </p:spPr>
        <p:txBody>
          <a:bodyPr/>
          <a:lstStyle/>
          <a:p>
            <a:endParaRPr/>
          </a:p>
        </p:txBody>
      </p:sp>
      <p:sp>
        <p:nvSpPr>
          <p:cNvPr id="41" name="Text 41"/>
          <p:cNvSpPr txBox="1"/>
          <p:nvPr/>
        </p:nvSpPr>
        <p:spPr>
          <a:xfrm>
            <a:off x="602413" y="4983480"/>
            <a:ext cx="10637215" cy="594360"/>
          </a:xfrm>
          <a:prstGeom prst="rect">
            <a:avLst/>
          </a:prstGeom>
          <a:noFill/>
          <a:ln/>
        </p:spPr>
        <p:txBody>
          <a:bodyPr wrap="square" lIns="0" tIns="0" rIns="0" bIns="0" rtlCol="0" anchor="ctr"/>
          <a:lstStyle/>
          <a:p>
            <a:pPr marL="0" indent="0">
              <a:buNone/>
            </a:pPr>
            <a:r>
              <a:rPr lang="en-US" sz="1050" b="1" kern="0" spc="100" dirty="0">
                <a:solidFill>
                  <a:srgbClr val="167D8D"/>
                </a:solidFill>
              </a:rPr>
              <a:t>WHY THE REPEATS STAY   </a:t>
            </a:r>
            <a:r>
              <a:rPr lang="en-US" sz="1250" dirty="0">
                <a:solidFill>
                  <a:srgbClr val="142B4A"/>
                </a:solidFill>
              </a:rPr>
              <a:t>dbt tests the tables in BigQuery; GX tests the dataframe the analysis reads. The 9 repeats re-check the same rules after the data has left the warehouse — but nothing compares the two row counts, so missing rows would pass.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05  DATA QUALITY  ·  WHAT THE THREE FAILURES MEAN</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3420122605"/>
              </p:ext>
            </p:extLst>
          </p:nvPr>
        </p:nvGraphicFramePr>
        <p:xfrm>
          <a:off x="495171" y="968326"/>
          <a:ext cx="11094415" cy="3566160"/>
        </p:xfrm>
        <a:graphic>
          <a:graphicData uri="http://schemas.openxmlformats.org/drawingml/2006/table">
            <a:tbl>
              <a:tblPr/>
              <a:tblGrid>
                <a:gridCol w="26517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4327855">
                  <a:extLst>
                    <a:ext uri="{9D8B030D-6E8A-4147-A177-3AD203B41FA5}">
                      <a16:colId xmlns:a16="http://schemas.microsoft.com/office/drawing/2014/main" val="20002"/>
                    </a:ext>
                  </a:extLst>
                </a:gridCol>
              </a:tblGrid>
              <a:tr h="274320">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CHECK AND RESULT</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WHAT IT ESTABLISHES</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WHAT IT DOES NOT ESTABLISH</a:t>
                      </a:r>
                      <a:endParaRPr lang="en-US" sz="105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142B4A"/>
                    </a:solidFill>
                  </a:tcPr>
                </a:tc>
                <a:extLst>
                  <a:ext uri="{0D108BD9-81ED-4DB2-BD59-A6C34878D82A}">
                    <a16:rowId xmlns:a16="http://schemas.microsoft.com/office/drawing/2014/main" val="10000"/>
                  </a:ext>
                </a:extLst>
              </a:tr>
              <a:tr h="109728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A   number_of_units = 1</a:t>
                      </a:r>
                      <a:endParaRPr lang="en-US" sz="1200" dirty="0">
                        <a:latin typeface="Calibri" charset="0"/>
                        <a:ea typeface="Calibri" charset="0"/>
                        <a:cs typeface="Calibri" charset="0"/>
                      </a:endParaRPr>
                    </a:p>
                    <a:p>
                      <a:pPr marL="0" indent="0">
                        <a:buNone/>
                      </a:pPr>
                      <a:r>
                        <a:rPr lang="en-US" sz="1050" b="1" dirty="0">
                          <a:solidFill>
                            <a:srgbClr val="142B4A"/>
                          </a:solidFill>
                          <a:latin typeface="Calibri" pitchFamily="34" charset="0"/>
                          <a:ea typeface="Calibri" pitchFamily="34" charset="-122"/>
                          <a:cs typeface="Calibri" pitchFamily="34" charset="-120"/>
                        </a:rPr>
                        <a:t>FAIL · 180 rows</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F4F6F8"/>
                    </a:solidFill>
                  </a:tcPr>
                </a:tc>
                <a:tc>
                  <a:txBody>
                    <a:bodyPr/>
                    <a:lstStyle/>
                    <a:p>
                      <a:pPr marL="0" indent="0">
                        <a:buNone/>
                      </a:pPr>
                      <a:r>
                        <a:rPr lang="en-US" sz="1200" dirty="0">
                          <a:solidFill>
                            <a:srgbClr val="142B4A"/>
                          </a:solidFill>
                          <a:latin typeface="Calibri" pitchFamily="34" charset="0"/>
                          <a:ea typeface="Calibri" pitchFamily="34" charset="-122"/>
                          <a:cs typeface="Calibri" pitchFamily="34" charset="-120"/>
                        </a:rPr>
                        <a:t>180 rows record more than one unit: bulk (en-bloc) sales. One row bought 560 units for $970,000,000, about $1.73m each.</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l" defTabSz="914400" rtl="0" eaLnBrk="1" latinLnBrk="0" hangingPunct="1">
                        <a:lnSpc>
                          <a:spcPct val="107000"/>
                        </a:lnSpc>
                        <a:spcAft>
                          <a:spcPts val="500"/>
                        </a:spcAft>
                        <a:buNone/>
                      </a:pPr>
                      <a:r>
                        <a:rPr lang="en-US" sz="1200" kern="1200" dirty="0">
                          <a:solidFill>
                            <a:srgbClr val="142B4A"/>
                          </a:solidFill>
                          <a:latin typeface="Calibri" pitchFamily="34" charset="0"/>
                          <a:ea typeface="Calibri" pitchFamily="34" charset="-122"/>
                          <a:cs typeface="Calibri" pitchFamily="34" charset="-120"/>
                        </a:rPr>
                        <a:t>That the rows are wrong. They are retained in the dataset, but should be identified when analyzing typical single-unit prices or transaction values.</a:t>
                      </a:r>
                      <a:endParaRPr lang="en-SG" sz="1200" kern="1200" dirty="0">
                        <a:solidFill>
                          <a:srgbClr val="142B4A"/>
                        </a:solidFill>
                        <a:latin typeface="Calibri" pitchFamily="34" charset="0"/>
                        <a:ea typeface="Calibri" pitchFamily="34" charset="-122"/>
                        <a:cs typeface="Calibri" pitchFamily="34" charset="-120"/>
                      </a:endParaRPr>
                    </a:p>
                  </a:txBody>
                  <a:tcPr marL="68580" marR="68580" marT="0" marB="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1"/>
                  </a:ext>
                </a:extLst>
              </a:tr>
              <a:tr h="109728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B   transacted_price ≤ $75,000,000</a:t>
                      </a:r>
                      <a:endParaRPr lang="en-US" sz="1200" dirty="0">
                        <a:latin typeface="Calibri" charset="0"/>
                        <a:ea typeface="Calibri" charset="0"/>
                        <a:cs typeface="Calibri" charset="0"/>
                      </a:endParaRPr>
                    </a:p>
                    <a:p>
                      <a:pPr marL="0" indent="0">
                        <a:buNone/>
                      </a:pPr>
                      <a:r>
                        <a:rPr lang="en-US" sz="1050" b="1" dirty="0">
                          <a:solidFill>
                            <a:srgbClr val="142B4A"/>
                          </a:solidFill>
                          <a:latin typeface="Calibri" pitchFamily="34" charset="0"/>
                          <a:ea typeface="Calibri" pitchFamily="34" charset="-122"/>
                          <a:cs typeface="Calibri" pitchFamily="34" charset="-120"/>
                        </a:rPr>
                        <a:t>FAIL · 72 rows</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4F6F8"/>
                    </a:solidFill>
                  </a:tcPr>
                </a:tc>
                <a:tc>
                  <a:txBody>
                    <a:bodyPr/>
                    <a:lstStyle/>
                    <a:p>
                      <a:pPr marL="0" indent="0">
                        <a:buNone/>
                      </a:pPr>
                      <a:r>
                        <a:rPr lang="en-US" sz="1200" dirty="0">
                          <a:solidFill>
                            <a:srgbClr val="142B4A"/>
                          </a:solidFill>
                          <a:latin typeface="Calibri" pitchFamily="34" charset="0"/>
                          <a:ea typeface="Calibri" pitchFamily="34" charset="-122"/>
                          <a:cs typeface="Calibri" pitchFamily="34" charset="-120"/>
                        </a:rPr>
                        <a:t>71 of the 72 failures are the same bulk rows, so the cap was applied per transaction, not per unit. The only genuine single-unit sale above the cap is $86,499,999.</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l" defTabSz="914400" rtl="0" eaLnBrk="1" latinLnBrk="0" hangingPunct="1">
                        <a:lnSpc>
                          <a:spcPct val="107000"/>
                        </a:lnSpc>
                        <a:spcAft>
                          <a:spcPts val="500"/>
                        </a:spcAft>
                        <a:buNone/>
                      </a:pPr>
                      <a:r>
                        <a:rPr lang="en-US" sz="1200" kern="1200" dirty="0">
                          <a:solidFill>
                            <a:srgbClr val="142B4A"/>
                          </a:solidFill>
                          <a:latin typeface="Calibri" pitchFamily="34" charset="0"/>
                          <a:ea typeface="Calibri" pitchFamily="34" charset="-122"/>
                          <a:cs typeface="Calibri" pitchFamily="34" charset="-120"/>
                        </a:rPr>
                        <a:t>That a flagged transaction is invalid or must involve multiple units. The threshold is a screening assumption, not proof. One flagged transaction was not identified as multi-unit and warrants further investigation.</a:t>
                      </a:r>
                      <a:endParaRPr lang="en-SG" sz="1200" kern="1200" dirty="0">
                        <a:solidFill>
                          <a:srgbClr val="142B4A"/>
                        </a:solidFill>
                        <a:latin typeface="Calibri" pitchFamily="34" charset="0"/>
                        <a:ea typeface="Calibri" pitchFamily="34" charset="-122"/>
                        <a:cs typeface="Calibri" pitchFamily="34" charset="-120"/>
                      </a:endParaRPr>
                    </a:p>
                  </a:txBody>
                  <a:tcPr marL="68580" marR="68580" marT="0" marB="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2"/>
                  </a:ext>
                </a:extLst>
              </a:tr>
              <a:tr h="1097280">
                <a:tc>
                  <a:txBody>
                    <a:bodyPr/>
                    <a:lstStyle/>
                    <a:p>
                      <a:pPr marL="0" indent="0">
                        <a:buNone/>
                      </a:pPr>
                      <a:r>
                        <a:rPr lang="en-US" sz="1200" b="1" dirty="0">
                          <a:solidFill>
                            <a:srgbClr val="000000"/>
                          </a:solidFill>
                          <a:latin typeface="Calibri" pitchFamily="34" charset="0"/>
                          <a:ea typeface="Calibri" pitchFamily="34" charset="-122"/>
                          <a:cs typeface="Calibri" pitchFamily="34" charset="-120"/>
                        </a:rPr>
                        <a:t>C   percentage_difference within ±2.5%</a:t>
                      </a:r>
                      <a:endParaRPr lang="en-US" sz="1200" dirty="0">
                        <a:latin typeface="Calibri" charset="0"/>
                        <a:ea typeface="Calibri" charset="0"/>
                        <a:cs typeface="Calibri" charset="0"/>
                      </a:endParaRPr>
                    </a:p>
                    <a:p>
                      <a:pPr marL="0" indent="0">
                        <a:buNone/>
                      </a:pPr>
                      <a:r>
                        <a:rPr lang="en-US" sz="1050" b="1" dirty="0">
                          <a:solidFill>
                            <a:srgbClr val="142B4A"/>
                          </a:solidFill>
                          <a:latin typeface="Calibri" pitchFamily="34" charset="0"/>
                          <a:ea typeface="Calibri" pitchFamily="34" charset="-122"/>
                          <a:cs typeface="Calibri" pitchFamily="34" charset="-120"/>
                        </a:rPr>
                        <a:t>FAIL · 202 rows</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F4F6F8"/>
                    </a:solidFill>
                  </a:tcPr>
                </a:tc>
                <a:tc>
                  <a:txBody>
                    <a:bodyPr/>
                    <a:lstStyle/>
                    <a:p>
                      <a:pPr marL="0" indent="0">
                        <a:buNone/>
                      </a:pPr>
                      <a:r>
                        <a:rPr lang="en-US" sz="1200" dirty="0">
                          <a:solidFill>
                            <a:srgbClr val="142B4A"/>
                          </a:solidFill>
                          <a:latin typeface="Calibri" pitchFamily="34" charset="0"/>
                          <a:ea typeface="Calibri" pitchFamily="34" charset="-122"/>
                          <a:cs typeface="Calibri" pitchFamily="34" charset="-120"/>
                        </a:rPr>
                        <a:t>On 202 rows, area_sqft × unit_price_psf differs from the published transacted_price by more than 2.5%. Both sides are URA’s own published figures, not our arithmetic.</a:t>
                      </a:r>
                      <a:endParaRPr lang="en-US" sz="1200" dirty="0">
                        <a:latin typeface="Calibri" charset="0"/>
                        <a:ea typeface="Calibri" charset="0"/>
                        <a:cs typeface="Calibri" charset="0"/>
                      </a:endParaRPr>
                    </a:p>
                  </a:txBody>
                  <a:tcPr marL="101600" marR="101600" marT="50800" marB="508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l" defTabSz="914400" rtl="0" eaLnBrk="1" latinLnBrk="0" hangingPunct="1">
                        <a:lnSpc>
                          <a:spcPct val="107000"/>
                        </a:lnSpc>
                        <a:spcAft>
                          <a:spcPts val="500"/>
                        </a:spcAft>
                        <a:buNone/>
                      </a:pPr>
                      <a:r>
                        <a:rPr lang="en-US" sz="1200" kern="1200" dirty="0">
                          <a:solidFill>
                            <a:srgbClr val="142B4A"/>
                          </a:solidFill>
                          <a:latin typeface="Calibri" pitchFamily="34" charset="0"/>
                          <a:ea typeface="Calibri" pitchFamily="34" charset="-122"/>
                          <a:cs typeface="Calibri" pitchFamily="34" charset="-120"/>
                        </a:rPr>
                        <a:t>Why the differences occur. Both component values and the published price come from the source data, but the cause of the remaining discrepancies has not been established. The records are therefore reported as unresolved and raise for further investigation.</a:t>
                      </a:r>
                      <a:endParaRPr lang="en-SG" sz="1200" kern="1200" dirty="0">
                        <a:solidFill>
                          <a:srgbClr val="142B4A"/>
                        </a:solidFill>
                        <a:latin typeface="Calibri" pitchFamily="34" charset="0"/>
                        <a:ea typeface="Calibri" pitchFamily="34" charset="-122"/>
                        <a:cs typeface="Calibri" pitchFamily="34" charset="-120"/>
                      </a:endParaRPr>
                    </a:p>
                  </a:txBody>
                  <a:tcPr marL="68580" marR="68580" marT="0" marB="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2"/>
          <p:cNvSpPr/>
          <p:nvPr/>
        </p:nvSpPr>
        <p:spPr>
          <a:xfrm>
            <a:off x="495172" y="5394960"/>
            <a:ext cx="11094415" cy="594360"/>
          </a:xfrm>
          <a:prstGeom prst="roundRect">
            <a:avLst>
              <a:gd name="adj" fmla="val 10769"/>
            </a:avLst>
          </a:prstGeom>
          <a:solidFill>
            <a:srgbClr val="E3F1F3"/>
          </a:solidFill>
          <a:ln w="9525">
            <a:solidFill>
              <a:srgbClr val="E3F1F3"/>
            </a:solidFill>
            <a:prstDash val="solid"/>
          </a:ln>
        </p:spPr>
        <p:txBody>
          <a:bodyPr/>
          <a:lstStyle/>
          <a:p>
            <a:endParaRPr/>
          </a:p>
        </p:txBody>
      </p:sp>
      <p:sp>
        <p:nvSpPr>
          <p:cNvPr id="7" name="Text 3"/>
          <p:cNvSpPr txBox="1"/>
          <p:nvPr/>
        </p:nvSpPr>
        <p:spPr>
          <a:xfrm>
            <a:off x="602413" y="5394960"/>
            <a:ext cx="10637215" cy="594360"/>
          </a:xfrm>
          <a:prstGeom prst="rect">
            <a:avLst/>
          </a:prstGeom>
          <a:noFill/>
          <a:ln/>
        </p:spPr>
        <p:txBody>
          <a:bodyPr wrap="square" lIns="0" tIns="0" rIns="0" bIns="0" rtlCol="0" anchor="ctr"/>
          <a:lstStyle/>
          <a:p>
            <a:pPr marL="0" indent="0">
              <a:buNone/>
            </a:pPr>
            <a:r>
              <a:rPr lang="en-US" sz="1050" b="1" kern="0" spc="100" dirty="0">
                <a:solidFill>
                  <a:srgbClr val="167D8D"/>
                </a:solidFill>
              </a:rPr>
              <a:t>WHY IT MATTERS   </a:t>
            </a:r>
            <a:r>
              <a:rPr lang="en-US" sz="1250" dirty="0">
                <a:solidFill>
                  <a:srgbClr val="142B4A"/>
                </a:solidFill>
              </a:rPr>
              <a:t>Removing the 180 multi-unit rows does not change the median price ($1,270,000 either way), but those rows have a median of $41,800,000, so any sum across them is skewed.</a:t>
            </a:r>
            <a:endParaRPr lang="en-US" sz="1200" dirty="0"/>
          </a:p>
        </p:txBody>
      </p:sp>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103120"/>
            <a:ext cx="5486400" cy="365760"/>
          </a:xfrm>
          <a:prstGeom prst="rect">
            <a:avLst/>
          </a:prstGeom>
          <a:noFill/>
          <a:ln/>
        </p:spPr>
        <p:txBody>
          <a:bodyPr wrap="square" lIns="0" tIns="0" rIns="0" bIns="0" rtlCol="0" anchor="t"/>
          <a:lstStyle/>
          <a:p>
            <a:pPr marL="0" indent="0">
              <a:buNone/>
            </a:pPr>
            <a:r>
              <a:rPr lang="en-US" sz="1600" b="1" kern="0" spc="300" dirty="0">
                <a:solidFill>
                  <a:srgbClr val="6CC6D3"/>
                </a:solidFill>
              </a:rPr>
              <a:t>PART 4 OF 4</a:t>
            </a:r>
            <a:endParaRPr lang="en-US" sz="1600" dirty="0"/>
          </a:p>
        </p:txBody>
      </p:sp>
      <p:sp>
        <p:nvSpPr>
          <p:cNvPr id="3" name="Text 1"/>
          <p:cNvSpPr txBox="1"/>
          <p:nvPr/>
        </p:nvSpPr>
        <p:spPr>
          <a:xfrm>
            <a:off x="548640" y="2651760"/>
            <a:ext cx="6035040" cy="164592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Findings</a:t>
            </a:r>
            <a:endParaRPr lang="en-US" sz="4000" dirty="0"/>
          </a:p>
        </p:txBody>
      </p:sp>
      <p:sp>
        <p:nvSpPr>
          <p:cNvPr id="4" name="Text 2"/>
          <p:cNvSpPr txBox="1"/>
          <p:nvPr/>
        </p:nvSpPr>
        <p:spPr>
          <a:xfrm>
            <a:off x="7498080" y="1920240"/>
            <a:ext cx="4114800" cy="219456"/>
          </a:xfrm>
          <a:prstGeom prst="rect">
            <a:avLst/>
          </a:prstGeom>
          <a:noFill/>
          <a:ln/>
        </p:spPr>
        <p:txBody>
          <a:bodyPr wrap="square" lIns="0" tIns="0" rIns="0" bIns="0" rtlCol="0" anchor="ctr"/>
          <a:lstStyle/>
          <a:p>
            <a:pPr marL="0" indent="0">
              <a:buNone/>
            </a:pPr>
            <a:r>
              <a:rPr lang="en-US" sz="1100" b="1" kern="0" spc="150" dirty="0">
                <a:solidFill>
                  <a:srgbClr val="6CC6D3"/>
                </a:solidFill>
              </a:rPr>
              <a:t>IN THIS SECTION</a:t>
            </a:r>
            <a:endParaRPr lang="en-US" sz="1100" dirty="0"/>
          </a:p>
        </p:txBody>
      </p:sp>
      <p:sp>
        <p:nvSpPr>
          <p:cNvPr id="5" name="Text 3"/>
          <p:cNvSpPr txBox="1"/>
          <p:nvPr/>
        </p:nvSpPr>
        <p:spPr>
          <a:xfrm>
            <a:off x="7498080" y="2286000"/>
            <a:ext cx="4160520" cy="2377440"/>
          </a:xfrm>
          <a:prstGeom prst="rect">
            <a:avLst/>
          </a:prstGeom>
          <a:noFill/>
          <a:ln/>
        </p:spPr>
        <p:txBody>
          <a:bodyPr wrap="square" lIns="0" tIns="0" rIns="0" bIns="0" rtlCol="0" anchor="t"/>
          <a:lstStyle/>
          <a:p>
            <a:pPr marL="0" indent="0">
              <a:spcAft>
                <a:spcPts val="1200"/>
              </a:spcAft>
              <a:buNone/>
            </a:pPr>
            <a:r>
              <a:rPr lang="en-US" sz="1400" b="1" dirty="0">
                <a:solidFill>
                  <a:srgbClr val="6CC6D3"/>
                </a:solidFill>
              </a:rPr>
              <a:t>06  </a:t>
            </a:r>
            <a:r>
              <a:rPr lang="en-US" sz="1400" dirty="0">
                <a:solidFill>
                  <a:srgbClr val="FFFFFF"/>
                </a:solidFill>
              </a:rPr>
              <a:t>Price and volume over time</a:t>
            </a:r>
            <a:endParaRPr lang="en-US" sz="1200" dirty="0"/>
          </a:p>
          <a:p>
            <a:pPr marL="0" indent="0">
              <a:spcAft>
                <a:spcPts val="1200"/>
              </a:spcAft>
              <a:buNone/>
            </a:pPr>
            <a:r>
              <a:rPr lang="en-US" sz="1400" b="1" dirty="0">
                <a:solidFill>
                  <a:srgbClr val="6CC6D3"/>
                </a:solidFill>
              </a:rPr>
              <a:t>07  </a:t>
            </a:r>
            <a:r>
              <a:rPr lang="en-US" sz="1400" dirty="0">
                <a:solidFill>
                  <a:srgbClr val="FFFFFF"/>
                </a:solidFill>
              </a:rPr>
              <a:t>Top 10 projects</a:t>
            </a:r>
            <a:endParaRPr lang="en-US" sz="1200" dirty="0"/>
          </a:p>
          <a:p>
            <a:pPr marL="0" indent="0">
              <a:spcAft>
                <a:spcPts val="1200"/>
              </a:spcAft>
              <a:buNone/>
            </a:pPr>
            <a:r>
              <a:rPr lang="en-US" sz="1400" b="1" dirty="0">
                <a:solidFill>
                  <a:srgbClr val="6CC6D3"/>
                </a:solidFill>
              </a:rPr>
              <a:t>08  </a:t>
            </a:r>
            <a:r>
              <a:rPr lang="en-US" sz="1400" dirty="0">
                <a:solidFill>
                  <a:srgbClr val="FFFFFF"/>
                </a:solidFill>
              </a:rPr>
              <a:t>Location</a:t>
            </a:r>
            <a:endParaRPr lang="en-US" sz="1200" dirty="0"/>
          </a:p>
          <a:p>
            <a:pPr marL="0" indent="0">
              <a:spcAft>
                <a:spcPts val="1200"/>
              </a:spcAft>
              <a:buNone/>
            </a:pPr>
            <a:r>
              <a:rPr lang="en-US" sz="1400" b="1" dirty="0">
                <a:solidFill>
                  <a:srgbClr val="6CC6D3"/>
                </a:solidFill>
              </a:rPr>
              <a:t>09  </a:t>
            </a:r>
            <a:r>
              <a:rPr lang="en-US" sz="1400" dirty="0">
                <a:solidFill>
                  <a:srgbClr val="FFFFFF"/>
                </a:solidFill>
              </a:rPr>
              <a:t>Buyer mix</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06  FINDING  ·  PRICE AND VOLUME OVER TIME</a:t>
            </a:r>
            <a:endParaRPr lang="en-US" sz="1200" dirty="0"/>
          </a:p>
        </p:txBody>
      </p:sp>
      <p:sp>
        <p:nvSpPr>
          <p:cNvPr id="3" name="Text 0"/>
          <p:cNvSpPr>
            <a:spLocks noGrp="1"/>
          </p:cNvSpPr>
          <p:nvPr>
            <p:ph type="title" idx="101" hasCustomPrompt="1"/>
          </p:nvPr>
        </p:nvSpPr>
        <p:spPr>
          <a:xfrm>
            <a:off x="548792" y="736473"/>
            <a:ext cx="11094415" cy="493776"/>
          </a:xfrm>
          <a:prstGeom prst="rect">
            <a:avLst/>
          </a:prstGeom>
          <a:noFill/>
          <a:ln/>
        </p:spPr>
        <p:txBody>
          <a:bodyPr wrap="square" lIns="0" tIns="0" rIns="0" bIns="0" rtlCol="0" anchor="t"/>
          <a:lstStyle/>
          <a:p>
            <a:pPr marL="0" indent="0" algn="l">
              <a:buNone/>
            </a:pPr>
            <a:r>
              <a:rPr lang="en-US" sz="2400" b="1" dirty="0">
                <a:solidFill>
                  <a:srgbClr val="142B4A"/>
                </a:solidFill>
                <a:latin typeface="Cambria" pitchFamily="34" charset="0"/>
                <a:ea typeface="Cambria" pitchFamily="34" charset="-122"/>
                <a:cs typeface="Cambria" pitchFamily="34" charset="-120"/>
              </a:rPr>
              <a:t>Monthly median $psf ranged from $1,044 to $1,813 across Apr 2013–Apr 2022</a:t>
            </a:r>
            <a:endParaRPr lang="en-US" sz="2400" dirty="0"/>
          </a:p>
        </p:txBody>
      </p:sp>
      <p:sp>
        <p:nvSpPr>
          <p:cNvPr id="4" name="Shape 2"/>
          <p:cNvSpPr/>
          <p:nvPr/>
        </p:nvSpPr>
        <p:spPr>
          <a:xfrm>
            <a:off x="548640" y="1463040"/>
            <a:ext cx="2601468" cy="822960"/>
          </a:xfrm>
          <a:prstGeom prst="roundRect">
            <a:avLst>
              <a:gd name="adj" fmla="val 7778"/>
            </a:avLst>
          </a:prstGeom>
          <a:solidFill>
            <a:srgbClr val="F4F6F8"/>
          </a:solidFill>
          <a:ln w="9525">
            <a:solidFill>
              <a:srgbClr val="D9E0E8"/>
            </a:solidFill>
            <a:prstDash val="solid"/>
          </a:ln>
        </p:spPr>
      </p:sp>
      <p:sp>
        <p:nvSpPr>
          <p:cNvPr id="5" name="Text 3"/>
          <p:cNvSpPr txBox="1"/>
          <p:nvPr/>
        </p:nvSpPr>
        <p:spPr>
          <a:xfrm>
            <a:off x="731520" y="1499616"/>
            <a:ext cx="2235708" cy="420624"/>
          </a:xfrm>
          <a:prstGeom prst="rect">
            <a:avLst/>
          </a:prstGeom>
          <a:noFill/>
          <a:ln/>
        </p:spPr>
        <p:txBody>
          <a:bodyPr wrap="square" lIns="0" tIns="0" rIns="0" bIns="0" rtlCol="0" anchor="ctr"/>
          <a:lstStyle/>
          <a:p>
            <a:pPr marL="0" indent="0">
              <a:buNone/>
            </a:pPr>
            <a:r>
              <a:rPr lang="en-US" sz="2400" b="1" dirty="0">
                <a:solidFill>
                  <a:srgbClr val="167D8D"/>
                </a:solidFill>
                <a:latin typeface="Cambria" pitchFamily="34" charset="0"/>
                <a:ea typeface="Cambria" pitchFamily="34" charset="-122"/>
                <a:cs typeface="Cambria" pitchFamily="34" charset="-120"/>
              </a:rPr>
              <a:t>109</a:t>
            </a:r>
            <a:endParaRPr lang="en-US" sz="2400" dirty="0"/>
          </a:p>
        </p:txBody>
      </p:sp>
      <p:sp>
        <p:nvSpPr>
          <p:cNvPr id="6" name="Text 4"/>
          <p:cNvSpPr txBox="1"/>
          <p:nvPr/>
        </p:nvSpPr>
        <p:spPr>
          <a:xfrm>
            <a:off x="731520" y="1920240"/>
            <a:ext cx="2235708" cy="274320"/>
          </a:xfrm>
          <a:prstGeom prst="rect">
            <a:avLst/>
          </a:prstGeom>
          <a:noFill/>
          <a:ln/>
        </p:spPr>
        <p:txBody>
          <a:bodyPr wrap="square" lIns="0" tIns="0" rIns="0" bIns="0" rtlCol="0" anchor="t"/>
          <a:lstStyle/>
          <a:p>
            <a:pPr marL="0" indent="0">
              <a:buNone/>
            </a:pPr>
            <a:r>
              <a:rPr lang="en-US" sz="1150" dirty="0">
                <a:solidFill>
                  <a:srgbClr val="55657A"/>
                </a:solidFill>
              </a:rPr>
              <a:t>months, Apr 2013 – Apr 2022</a:t>
            </a:r>
            <a:endParaRPr lang="en-US" sz="1150" dirty="0"/>
          </a:p>
        </p:txBody>
      </p:sp>
      <p:sp>
        <p:nvSpPr>
          <p:cNvPr id="7" name="Shape 5"/>
          <p:cNvSpPr/>
          <p:nvPr/>
        </p:nvSpPr>
        <p:spPr>
          <a:xfrm>
            <a:off x="3379622" y="1463040"/>
            <a:ext cx="2601468" cy="822960"/>
          </a:xfrm>
          <a:prstGeom prst="roundRect">
            <a:avLst>
              <a:gd name="adj" fmla="val 7778"/>
            </a:avLst>
          </a:prstGeom>
          <a:solidFill>
            <a:srgbClr val="F4F6F8"/>
          </a:solidFill>
          <a:ln w="9525">
            <a:solidFill>
              <a:srgbClr val="D9E0E8"/>
            </a:solidFill>
            <a:prstDash val="solid"/>
          </a:ln>
        </p:spPr>
      </p:sp>
      <p:sp>
        <p:nvSpPr>
          <p:cNvPr id="8" name="Text 6"/>
          <p:cNvSpPr txBox="1"/>
          <p:nvPr/>
        </p:nvSpPr>
        <p:spPr>
          <a:xfrm>
            <a:off x="3562502" y="1499616"/>
            <a:ext cx="2235708" cy="420624"/>
          </a:xfrm>
          <a:prstGeom prst="rect">
            <a:avLst/>
          </a:prstGeom>
          <a:noFill/>
          <a:ln/>
        </p:spPr>
        <p:txBody>
          <a:bodyPr wrap="square" lIns="0" tIns="0" rIns="0" bIns="0" rtlCol="0" anchor="ctr"/>
          <a:lstStyle/>
          <a:p>
            <a:pPr marL="0" indent="0">
              <a:buNone/>
            </a:pPr>
            <a:r>
              <a:rPr lang="en-US" sz="2400" b="1" dirty="0">
                <a:solidFill>
                  <a:srgbClr val="167D8D"/>
                </a:solidFill>
                <a:latin typeface="Cambria" pitchFamily="34" charset="0"/>
                <a:ea typeface="Cambria" pitchFamily="34" charset="-122"/>
                <a:cs typeface="Cambria" pitchFamily="34" charset="-120"/>
              </a:rPr>
              <a:t>170,224</a:t>
            </a:r>
            <a:endParaRPr lang="en-US" sz="2400" dirty="0"/>
          </a:p>
        </p:txBody>
      </p:sp>
      <p:sp>
        <p:nvSpPr>
          <p:cNvPr id="9" name="Text 7"/>
          <p:cNvSpPr txBox="1"/>
          <p:nvPr/>
        </p:nvSpPr>
        <p:spPr>
          <a:xfrm>
            <a:off x="3562502" y="1920240"/>
            <a:ext cx="2235708" cy="274320"/>
          </a:xfrm>
          <a:prstGeom prst="rect">
            <a:avLst/>
          </a:prstGeom>
          <a:noFill/>
          <a:ln/>
        </p:spPr>
        <p:txBody>
          <a:bodyPr wrap="square" lIns="0" tIns="0" rIns="0" bIns="0" rtlCol="0" anchor="t"/>
          <a:lstStyle/>
          <a:p>
            <a:pPr marL="0" indent="0">
              <a:buNone/>
            </a:pPr>
            <a:r>
              <a:rPr lang="en-US" sz="1150" dirty="0">
                <a:solidFill>
                  <a:srgbClr val="55657A"/>
                </a:solidFill>
              </a:rPr>
              <a:t>transactions in total</a:t>
            </a:r>
            <a:endParaRPr lang="en-US" sz="1150" dirty="0"/>
          </a:p>
        </p:txBody>
      </p:sp>
      <p:sp>
        <p:nvSpPr>
          <p:cNvPr id="10" name="Shape 8"/>
          <p:cNvSpPr/>
          <p:nvPr/>
        </p:nvSpPr>
        <p:spPr>
          <a:xfrm>
            <a:off x="6210605" y="1463040"/>
            <a:ext cx="2601468" cy="822960"/>
          </a:xfrm>
          <a:prstGeom prst="roundRect">
            <a:avLst>
              <a:gd name="adj" fmla="val 7778"/>
            </a:avLst>
          </a:prstGeom>
          <a:solidFill>
            <a:srgbClr val="F4F6F8"/>
          </a:solidFill>
          <a:ln w="9525">
            <a:solidFill>
              <a:srgbClr val="D9E0E8"/>
            </a:solidFill>
            <a:prstDash val="solid"/>
          </a:ln>
        </p:spPr>
      </p:sp>
      <p:sp>
        <p:nvSpPr>
          <p:cNvPr id="11" name="Text 9"/>
          <p:cNvSpPr txBox="1"/>
          <p:nvPr/>
        </p:nvSpPr>
        <p:spPr>
          <a:xfrm>
            <a:off x="6393485" y="1499616"/>
            <a:ext cx="2235708" cy="420624"/>
          </a:xfrm>
          <a:prstGeom prst="rect">
            <a:avLst/>
          </a:prstGeom>
          <a:noFill/>
          <a:ln/>
        </p:spPr>
        <p:txBody>
          <a:bodyPr wrap="square" lIns="0" tIns="0" rIns="0" bIns="0" rtlCol="0" anchor="ctr"/>
          <a:lstStyle/>
          <a:p>
            <a:pPr marL="0" indent="0">
              <a:buNone/>
            </a:pPr>
            <a:r>
              <a:rPr lang="en-US" sz="2400" b="1" dirty="0">
                <a:solidFill>
                  <a:srgbClr val="167D8D"/>
                </a:solidFill>
                <a:latin typeface="Cambria" pitchFamily="34" charset="0"/>
                <a:ea typeface="Cambria" pitchFamily="34" charset="-122"/>
                <a:cs typeface="Cambria" pitchFamily="34" charset="-120"/>
              </a:rPr>
              <a:t>$1,044</a:t>
            </a:r>
            <a:endParaRPr lang="en-US" sz="2400" dirty="0"/>
          </a:p>
        </p:txBody>
      </p:sp>
      <p:sp>
        <p:nvSpPr>
          <p:cNvPr id="12" name="Text 10"/>
          <p:cNvSpPr txBox="1"/>
          <p:nvPr/>
        </p:nvSpPr>
        <p:spPr>
          <a:xfrm>
            <a:off x="6393485" y="1920240"/>
            <a:ext cx="2235708" cy="274320"/>
          </a:xfrm>
          <a:prstGeom prst="rect">
            <a:avLst/>
          </a:prstGeom>
          <a:noFill/>
          <a:ln/>
        </p:spPr>
        <p:txBody>
          <a:bodyPr wrap="square" lIns="0" tIns="0" rIns="0" bIns="0" rtlCol="0" anchor="t"/>
          <a:lstStyle/>
          <a:p>
            <a:pPr marL="0" indent="0">
              <a:buNone/>
            </a:pPr>
            <a:r>
              <a:rPr lang="en-US" sz="1150" dirty="0">
                <a:solidFill>
                  <a:srgbClr val="55657A"/>
                </a:solidFill>
              </a:rPr>
              <a:t>lowest monthly median (Jul 2015)</a:t>
            </a:r>
            <a:endParaRPr lang="en-US" sz="1150" dirty="0"/>
          </a:p>
        </p:txBody>
      </p:sp>
      <p:sp>
        <p:nvSpPr>
          <p:cNvPr id="13" name="Shape 11"/>
          <p:cNvSpPr/>
          <p:nvPr/>
        </p:nvSpPr>
        <p:spPr>
          <a:xfrm>
            <a:off x="9041587" y="1463040"/>
            <a:ext cx="2601468" cy="822960"/>
          </a:xfrm>
          <a:prstGeom prst="roundRect">
            <a:avLst>
              <a:gd name="adj" fmla="val 7778"/>
            </a:avLst>
          </a:prstGeom>
          <a:solidFill>
            <a:srgbClr val="F4F6F8"/>
          </a:solidFill>
          <a:ln w="9525">
            <a:solidFill>
              <a:srgbClr val="D9E0E8"/>
            </a:solidFill>
            <a:prstDash val="solid"/>
          </a:ln>
        </p:spPr>
      </p:sp>
      <p:sp>
        <p:nvSpPr>
          <p:cNvPr id="14" name="Text 12"/>
          <p:cNvSpPr txBox="1"/>
          <p:nvPr/>
        </p:nvSpPr>
        <p:spPr>
          <a:xfrm>
            <a:off x="9224467" y="1499616"/>
            <a:ext cx="2235708" cy="420624"/>
          </a:xfrm>
          <a:prstGeom prst="rect">
            <a:avLst/>
          </a:prstGeom>
          <a:noFill/>
          <a:ln/>
        </p:spPr>
        <p:txBody>
          <a:bodyPr wrap="square" lIns="0" tIns="0" rIns="0" bIns="0" rtlCol="0" anchor="ctr"/>
          <a:lstStyle/>
          <a:p>
            <a:pPr marL="0" indent="0">
              <a:buNone/>
            </a:pPr>
            <a:r>
              <a:rPr lang="en-US" sz="2400" b="1" dirty="0">
                <a:solidFill>
                  <a:srgbClr val="167D8D"/>
                </a:solidFill>
                <a:latin typeface="Cambria" pitchFamily="34" charset="0"/>
                <a:ea typeface="Cambria" pitchFamily="34" charset="-122"/>
                <a:cs typeface="Cambria" pitchFamily="34" charset="-120"/>
              </a:rPr>
              <a:t>$1,813</a:t>
            </a:r>
            <a:endParaRPr lang="en-US" sz="2400" dirty="0"/>
          </a:p>
        </p:txBody>
      </p:sp>
      <p:sp>
        <p:nvSpPr>
          <p:cNvPr id="15" name="Text 13"/>
          <p:cNvSpPr txBox="1"/>
          <p:nvPr/>
        </p:nvSpPr>
        <p:spPr>
          <a:xfrm>
            <a:off x="9224467" y="1920240"/>
            <a:ext cx="2235708" cy="274320"/>
          </a:xfrm>
          <a:prstGeom prst="rect">
            <a:avLst/>
          </a:prstGeom>
          <a:noFill/>
          <a:ln/>
        </p:spPr>
        <p:txBody>
          <a:bodyPr wrap="square" lIns="0" tIns="0" rIns="0" bIns="0" rtlCol="0" anchor="t"/>
          <a:lstStyle/>
          <a:p>
            <a:pPr marL="0" indent="0">
              <a:buNone/>
            </a:pPr>
            <a:r>
              <a:rPr lang="en-US" sz="1150" dirty="0">
                <a:solidFill>
                  <a:srgbClr val="55657A"/>
                </a:solidFill>
              </a:rPr>
              <a:t>highest monthly median (Apr 2022)</a:t>
            </a:r>
            <a:endParaRPr lang="en-US" sz="1150" dirty="0"/>
          </a:p>
        </p:txBody>
      </p:sp>
      <p:graphicFrame>
        <p:nvGraphicFramePr>
          <p:cNvPr id="16" name="Chart 0"/>
          <p:cNvGraphicFramePr/>
          <p:nvPr/>
        </p:nvGraphicFramePr>
        <p:xfrm>
          <a:off x="457200" y="2423160"/>
          <a:ext cx="7406640" cy="3520440"/>
        </p:xfrm>
        <a:graphic>
          <a:graphicData uri="http://schemas.openxmlformats.org/drawingml/2006/chart">
            <c:chart xmlns:c="http://schemas.openxmlformats.org/drawingml/2006/chart" xmlns:r="http://schemas.openxmlformats.org/officeDocument/2006/relationships" r:id="rId3"/>
          </a:graphicData>
        </a:graphic>
      </p:graphicFrame>
      <p:sp>
        <p:nvSpPr>
          <p:cNvPr id="17" name="Shape 14"/>
          <p:cNvSpPr/>
          <p:nvPr/>
        </p:nvSpPr>
        <p:spPr>
          <a:xfrm>
            <a:off x="8001000" y="2518790"/>
            <a:ext cx="3642055" cy="3470529"/>
          </a:xfrm>
          <a:prstGeom prst="roundRect">
            <a:avLst>
              <a:gd name="adj" fmla="val 1772"/>
            </a:avLst>
          </a:prstGeom>
          <a:solidFill>
            <a:srgbClr val="F4F6F8"/>
          </a:solidFill>
          <a:ln w="9525">
            <a:solidFill>
              <a:srgbClr val="D9E0E8"/>
            </a:solidFill>
            <a:prstDash val="solid"/>
          </a:ln>
        </p:spPr>
      </p:sp>
      <p:sp>
        <p:nvSpPr>
          <p:cNvPr id="18" name="Text 15"/>
          <p:cNvSpPr txBox="1"/>
          <p:nvPr/>
        </p:nvSpPr>
        <p:spPr>
          <a:xfrm>
            <a:off x="8183880" y="2781300"/>
            <a:ext cx="3276295" cy="219456"/>
          </a:xfrm>
          <a:prstGeom prst="rect">
            <a:avLst/>
          </a:prstGeom>
          <a:noFill/>
          <a:ln/>
        </p:spPr>
        <p:txBody>
          <a:bodyPr wrap="square" lIns="0" tIns="0" rIns="0" bIns="0" rtlCol="0" anchor="ctr"/>
          <a:lstStyle/>
          <a:p>
            <a:pPr marL="0" indent="0">
              <a:buNone/>
            </a:pPr>
            <a:r>
              <a:rPr lang="en-US" sz="1100" b="1" kern="0" spc="150" dirty="0">
                <a:solidFill>
                  <a:srgbClr val="167D8D"/>
                </a:solidFill>
              </a:rPr>
              <a:t>WHAT THE SERIES SHOWS</a:t>
            </a:r>
            <a:endParaRPr lang="en-US" sz="1100" dirty="0"/>
          </a:p>
        </p:txBody>
      </p:sp>
      <p:sp>
        <p:nvSpPr>
          <p:cNvPr id="19" name="Text 16"/>
          <p:cNvSpPr txBox="1"/>
          <p:nvPr/>
        </p:nvSpPr>
        <p:spPr>
          <a:xfrm>
            <a:off x="8191695" y="3101340"/>
            <a:ext cx="3276295" cy="548640"/>
          </a:xfrm>
          <a:prstGeom prst="rect">
            <a:avLst/>
          </a:prstGeom>
          <a:noFill/>
          <a:ln/>
        </p:spPr>
        <p:txBody>
          <a:bodyPr wrap="square" lIns="0" tIns="0" rIns="0" bIns="0" rtlCol="0" anchor="t"/>
          <a:lstStyle/>
          <a:p>
            <a:pPr marL="0" indent="0">
              <a:buNone/>
            </a:pPr>
            <a:r>
              <a:rPr lang="en-US" sz="1200" dirty="0">
                <a:solidFill>
                  <a:srgbClr val="142B4A"/>
                </a:solidFill>
              </a:rPr>
              <a:t>Monthly median price per sq ft, every month from April 2013 to April 2022. 109 points, 170,224 transactions.</a:t>
            </a:r>
            <a:endParaRPr lang="en-US" sz="1200" dirty="0"/>
          </a:p>
        </p:txBody>
      </p:sp>
      <p:sp>
        <p:nvSpPr>
          <p:cNvPr id="20" name="Shape 17"/>
          <p:cNvSpPr/>
          <p:nvPr/>
        </p:nvSpPr>
        <p:spPr>
          <a:xfrm>
            <a:off x="8183880" y="3741419"/>
            <a:ext cx="3276295" cy="1055751"/>
          </a:xfrm>
          <a:prstGeom prst="rect">
            <a:avLst/>
          </a:prstGeom>
          <a:solidFill>
            <a:srgbClr val="FFFFFF"/>
          </a:solidFill>
          <a:ln w="6350">
            <a:solidFill>
              <a:srgbClr val="D9E0E8"/>
            </a:solidFill>
            <a:prstDash val="solid"/>
          </a:ln>
        </p:spPr>
      </p:sp>
      <p:sp>
        <p:nvSpPr>
          <p:cNvPr id="21" name="Text 18"/>
          <p:cNvSpPr txBox="1"/>
          <p:nvPr/>
        </p:nvSpPr>
        <p:spPr>
          <a:xfrm>
            <a:off x="8321040" y="3796284"/>
            <a:ext cx="3001975" cy="310896"/>
          </a:xfrm>
          <a:prstGeom prst="rect">
            <a:avLst/>
          </a:prstGeom>
          <a:noFill/>
          <a:ln/>
        </p:spPr>
        <p:txBody>
          <a:bodyPr wrap="square" lIns="0" tIns="0" rIns="0" bIns="0" rtlCol="0" anchor="ctr"/>
          <a:lstStyle/>
          <a:p>
            <a:pPr marL="0" indent="0">
              <a:buNone/>
            </a:pPr>
            <a:r>
              <a:rPr lang="en-US" sz="1800" b="1" dirty="0">
                <a:solidFill>
                  <a:srgbClr val="167D8D"/>
                </a:solidFill>
                <a:latin typeface="Cambria" pitchFamily="34" charset="0"/>
                <a:ea typeface="Cambria" pitchFamily="34" charset="-122"/>
                <a:cs typeface="Cambria" pitchFamily="34" charset="-120"/>
              </a:rPr>
              <a:t>$1,044</a:t>
            </a:r>
            <a:r>
              <a:rPr lang="en-US" sz="1800" b="1" dirty="0">
                <a:solidFill>
                  <a:srgbClr val="167D8D"/>
                </a:solidFill>
                <a:latin typeface="Calibri" pitchFamily="34" charset="0"/>
                <a:ea typeface="Calibri" pitchFamily="34" charset="-122"/>
                <a:cs typeface="Calibri" pitchFamily="34" charset="-120"/>
              </a:rPr>
              <a:t>  →  </a:t>
            </a:r>
            <a:r>
              <a:rPr lang="en-US" sz="1800" b="1" dirty="0">
                <a:solidFill>
                  <a:srgbClr val="167D8D"/>
                </a:solidFill>
                <a:latin typeface="Cambria" pitchFamily="34" charset="0"/>
                <a:ea typeface="Cambria" pitchFamily="34" charset="-122"/>
                <a:cs typeface="Cambria" pitchFamily="34" charset="-120"/>
              </a:rPr>
              <a:t>$1,813</a:t>
            </a:r>
            <a:endParaRPr lang="en-US" sz="1800" dirty="0"/>
          </a:p>
        </p:txBody>
      </p:sp>
      <p:sp>
        <p:nvSpPr>
          <p:cNvPr id="22" name="Text 19"/>
          <p:cNvSpPr txBox="1"/>
          <p:nvPr/>
        </p:nvSpPr>
        <p:spPr>
          <a:xfrm>
            <a:off x="8321040" y="4107180"/>
            <a:ext cx="3001975" cy="329184"/>
          </a:xfrm>
          <a:prstGeom prst="rect">
            <a:avLst/>
          </a:prstGeom>
          <a:noFill/>
          <a:ln/>
        </p:spPr>
        <p:txBody>
          <a:bodyPr wrap="square" lIns="0" tIns="0" rIns="0" bIns="0" rtlCol="0" anchor="t"/>
          <a:lstStyle/>
          <a:p>
            <a:pPr marL="0" indent="0">
              <a:buNone/>
            </a:pPr>
            <a:r>
              <a:rPr lang="en-US" sz="1150" dirty="0">
                <a:solidFill>
                  <a:srgbClr val="55657A"/>
                </a:solidFill>
              </a:rPr>
              <a:t>74% difference between the lowest and highest monthly medians — not a start-to-end growth rate</a:t>
            </a:r>
            <a:endParaRPr lang="en-US" sz="1150" dirty="0"/>
          </a:p>
        </p:txBody>
      </p:sp>
      <p:sp>
        <p:nvSpPr>
          <p:cNvPr id="30"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07  FINDING  ·  TOP 10 PROJECTS</a:t>
            </a:r>
            <a:endParaRPr lang="en-US" sz="1200" dirty="0"/>
          </a:p>
        </p:txBody>
      </p:sp>
      <p:sp>
        <p:nvSpPr>
          <p:cNvPr id="3" name="Text 0"/>
          <p:cNvSpPr>
            <a:spLocks noGrp="1"/>
          </p:cNvSpPr>
          <p:nvPr>
            <p:ph type="title" idx="101" hasCustomPrompt="1"/>
          </p:nvPr>
        </p:nvSpPr>
        <p:spPr>
          <a:xfrm>
            <a:off x="548640" y="585216"/>
            <a:ext cx="11094415" cy="731520"/>
          </a:xfrm>
          <a:prstGeom prst="rect">
            <a:avLst/>
          </a:prstGeom>
          <a:noFill/>
          <a:ln/>
        </p:spPr>
        <p:txBody>
          <a:bodyPr wrap="square" lIns="0" tIns="0" rIns="0" bIns="0" rtlCol="0" anchor="t"/>
          <a:lstStyle/>
          <a:p>
            <a:pPr marL="0" indent="0" algn="l">
              <a:buNone/>
            </a:pPr>
            <a:r>
              <a:rPr lang="en-US" sz="2400" b="1" dirty="0">
                <a:solidFill>
                  <a:srgbClr val="142B4A"/>
                </a:solidFill>
                <a:latin typeface="Cambria" pitchFamily="34" charset="0"/>
                <a:ea typeface="Cambria" pitchFamily="34" charset="-122"/>
                <a:cs typeface="Cambria" pitchFamily="34" charset="-120"/>
              </a:rPr>
              <a:t>Ten projects account for 15,132 sales — 8.9% of all 170,224 transactions</a:t>
            </a:r>
            <a:endParaRPr lang="en-US" sz="2400" dirty="0"/>
          </a:p>
        </p:txBody>
      </p:sp>
      <p:graphicFrame>
        <p:nvGraphicFramePr>
          <p:cNvPr id="4" name="Chart 0"/>
          <p:cNvGraphicFramePr/>
          <p:nvPr>
            <p:extLst>
              <p:ext uri="{D42A27DB-BD31-4B8C-83A1-F6EECF244321}">
                <p14:modId xmlns:p14="http://schemas.microsoft.com/office/powerpoint/2010/main" val="981859648"/>
              </p:ext>
            </p:extLst>
          </p:nvPr>
        </p:nvGraphicFramePr>
        <p:xfrm>
          <a:off x="457200" y="1114425"/>
          <a:ext cx="7040880" cy="4829175"/>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89520" y="1463040"/>
            <a:ext cx="4053535" cy="3794760"/>
          </a:xfrm>
          <a:prstGeom prst="roundRect">
            <a:avLst>
              <a:gd name="adj" fmla="val 1579"/>
            </a:avLst>
          </a:prstGeom>
          <a:solidFill>
            <a:srgbClr val="F4F6F8"/>
          </a:solidFill>
          <a:ln w="9525">
            <a:solidFill>
              <a:srgbClr val="D9E0E8"/>
            </a:solidFill>
            <a:prstDash val="solid"/>
          </a:ln>
        </p:spPr>
      </p:sp>
      <p:sp>
        <p:nvSpPr>
          <p:cNvPr id="6" name="Text 3"/>
          <p:cNvSpPr txBox="1"/>
          <p:nvPr/>
        </p:nvSpPr>
        <p:spPr>
          <a:xfrm>
            <a:off x="7772400" y="1600200"/>
            <a:ext cx="3687775" cy="219456"/>
          </a:xfrm>
          <a:prstGeom prst="rect">
            <a:avLst/>
          </a:prstGeom>
          <a:noFill/>
          <a:ln/>
        </p:spPr>
        <p:txBody>
          <a:bodyPr wrap="square" lIns="0" tIns="0" rIns="0" bIns="0" rtlCol="0" anchor="ctr"/>
          <a:lstStyle/>
          <a:p>
            <a:pPr marL="0" indent="0">
              <a:buNone/>
            </a:pPr>
            <a:r>
              <a:rPr lang="en-US" sz="1100" b="1" kern="0" spc="150" dirty="0">
                <a:solidFill>
                  <a:srgbClr val="167D8D"/>
                </a:solidFill>
              </a:rPr>
              <a:t>WHAT DRIVES THE RANKING</a:t>
            </a:r>
            <a:endParaRPr lang="en-US" sz="1100" dirty="0"/>
          </a:p>
        </p:txBody>
      </p:sp>
      <p:sp>
        <p:nvSpPr>
          <p:cNvPr id="7" name="Text 4"/>
          <p:cNvSpPr txBox="1"/>
          <p:nvPr/>
        </p:nvSpPr>
        <p:spPr>
          <a:xfrm>
            <a:off x="7772400" y="1920240"/>
            <a:ext cx="3687775" cy="640080"/>
          </a:xfrm>
          <a:prstGeom prst="rect">
            <a:avLst/>
          </a:prstGeom>
          <a:noFill/>
          <a:ln/>
        </p:spPr>
        <p:txBody>
          <a:bodyPr wrap="square" lIns="0" tIns="0" rIns="0" bIns="0" rtlCol="0" anchor="t"/>
          <a:lstStyle/>
          <a:p>
            <a:pPr marL="0" indent="0">
              <a:buNone/>
            </a:pPr>
            <a:r>
              <a:rPr lang="en-US" sz="1200" dirty="0">
                <a:solidFill>
                  <a:srgbClr val="142B4A"/>
                </a:solidFill>
              </a:rPr>
              <a:t>This counts transactions, not value. A large project launched inside the window generates hundreds of sales; a small or older one generates few.</a:t>
            </a:r>
            <a:endParaRPr lang="en-US" sz="1200" dirty="0"/>
          </a:p>
        </p:txBody>
      </p:sp>
      <p:sp>
        <p:nvSpPr>
          <p:cNvPr id="8" name="Shape 5"/>
          <p:cNvSpPr/>
          <p:nvPr/>
        </p:nvSpPr>
        <p:spPr>
          <a:xfrm>
            <a:off x="7772400" y="2651760"/>
            <a:ext cx="3687775" cy="512064"/>
          </a:xfrm>
          <a:prstGeom prst="rect">
            <a:avLst/>
          </a:prstGeom>
          <a:solidFill>
            <a:srgbClr val="FFFFFF"/>
          </a:solidFill>
          <a:ln w="6350">
            <a:solidFill>
              <a:srgbClr val="D9E0E8"/>
            </a:solidFill>
            <a:prstDash val="solid"/>
          </a:ln>
        </p:spPr>
      </p:sp>
      <p:sp>
        <p:nvSpPr>
          <p:cNvPr id="9" name="Text 6"/>
          <p:cNvSpPr txBox="1"/>
          <p:nvPr/>
        </p:nvSpPr>
        <p:spPr>
          <a:xfrm>
            <a:off x="7909560" y="2651760"/>
            <a:ext cx="1188720" cy="512064"/>
          </a:xfrm>
          <a:prstGeom prst="rect">
            <a:avLst/>
          </a:prstGeom>
          <a:noFill/>
          <a:ln/>
        </p:spPr>
        <p:txBody>
          <a:bodyPr wrap="square" lIns="0" tIns="0" rIns="0" bIns="0" rtlCol="0" anchor="ctr"/>
          <a:lstStyle/>
          <a:p>
            <a:pPr marL="0" indent="0">
              <a:buNone/>
            </a:pPr>
            <a:r>
              <a:rPr lang="en-US" sz="2000" b="1" dirty="0">
                <a:solidFill>
                  <a:srgbClr val="167D8D"/>
                </a:solidFill>
                <a:latin typeface="Cambria" pitchFamily="34" charset="0"/>
                <a:ea typeface="Cambria" pitchFamily="34" charset="-122"/>
                <a:cs typeface="Cambria" pitchFamily="34" charset="-120"/>
              </a:rPr>
              <a:t>15,132</a:t>
            </a:r>
            <a:endParaRPr lang="en-US" sz="2000" dirty="0"/>
          </a:p>
        </p:txBody>
      </p:sp>
      <p:sp>
        <p:nvSpPr>
          <p:cNvPr id="10" name="Text 7"/>
          <p:cNvSpPr txBox="1"/>
          <p:nvPr/>
        </p:nvSpPr>
        <p:spPr>
          <a:xfrm>
            <a:off x="9144000" y="2651760"/>
            <a:ext cx="2224735" cy="512064"/>
          </a:xfrm>
          <a:prstGeom prst="rect">
            <a:avLst/>
          </a:prstGeom>
          <a:noFill/>
          <a:ln/>
        </p:spPr>
        <p:txBody>
          <a:bodyPr wrap="square" lIns="0" tIns="0" rIns="0" bIns="0" rtlCol="0" anchor="ctr"/>
          <a:lstStyle/>
          <a:p>
            <a:pPr marL="0" indent="0">
              <a:buNone/>
            </a:pPr>
            <a:r>
              <a:rPr lang="en-US" sz="1150" dirty="0">
                <a:solidFill>
                  <a:srgbClr val="142B4A"/>
                </a:solidFill>
              </a:rPr>
              <a:t>sales across the top ten</a:t>
            </a:r>
            <a:endParaRPr lang="en-US" sz="1150" dirty="0"/>
          </a:p>
        </p:txBody>
      </p:sp>
      <p:sp>
        <p:nvSpPr>
          <p:cNvPr id="11" name="Shape 8"/>
          <p:cNvSpPr/>
          <p:nvPr/>
        </p:nvSpPr>
        <p:spPr>
          <a:xfrm>
            <a:off x="7772400" y="3236976"/>
            <a:ext cx="3687775" cy="512064"/>
          </a:xfrm>
          <a:prstGeom prst="rect">
            <a:avLst/>
          </a:prstGeom>
          <a:solidFill>
            <a:srgbClr val="FFFFFF"/>
          </a:solidFill>
          <a:ln w="6350">
            <a:solidFill>
              <a:srgbClr val="D9E0E8"/>
            </a:solidFill>
            <a:prstDash val="solid"/>
          </a:ln>
        </p:spPr>
      </p:sp>
      <p:sp>
        <p:nvSpPr>
          <p:cNvPr id="12" name="Text 9"/>
          <p:cNvSpPr txBox="1"/>
          <p:nvPr/>
        </p:nvSpPr>
        <p:spPr>
          <a:xfrm>
            <a:off x="7909560" y="3236976"/>
            <a:ext cx="1188720" cy="512064"/>
          </a:xfrm>
          <a:prstGeom prst="rect">
            <a:avLst/>
          </a:prstGeom>
          <a:noFill/>
          <a:ln/>
        </p:spPr>
        <p:txBody>
          <a:bodyPr wrap="square" lIns="0" tIns="0" rIns="0" bIns="0" rtlCol="0" anchor="ctr"/>
          <a:lstStyle/>
          <a:p>
            <a:pPr marL="0" indent="0">
              <a:buNone/>
            </a:pPr>
            <a:r>
              <a:rPr lang="en-US" sz="2000" b="1" dirty="0">
                <a:solidFill>
                  <a:srgbClr val="167D8D"/>
                </a:solidFill>
                <a:latin typeface="Cambria" pitchFamily="34" charset="0"/>
                <a:ea typeface="Cambria" pitchFamily="34" charset="-122"/>
                <a:cs typeface="Cambria" pitchFamily="34" charset="-120"/>
              </a:rPr>
              <a:t>8.9%</a:t>
            </a:r>
            <a:endParaRPr lang="en-US" sz="2000" dirty="0"/>
          </a:p>
        </p:txBody>
      </p:sp>
      <p:sp>
        <p:nvSpPr>
          <p:cNvPr id="13" name="Text 10"/>
          <p:cNvSpPr txBox="1"/>
          <p:nvPr/>
        </p:nvSpPr>
        <p:spPr>
          <a:xfrm>
            <a:off x="9144000" y="3236976"/>
            <a:ext cx="2224735" cy="512064"/>
          </a:xfrm>
          <a:prstGeom prst="rect">
            <a:avLst/>
          </a:prstGeom>
          <a:noFill/>
          <a:ln/>
        </p:spPr>
        <p:txBody>
          <a:bodyPr wrap="square" lIns="0" tIns="0" rIns="0" bIns="0" rtlCol="0" anchor="ctr"/>
          <a:lstStyle/>
          <a:p>
            <a:pPr marL="0" indent="0">
              <a:buNone/>
            </a:pPr>
            <a:r>
              <a:rPr lang="en-US" sz="1150" dirty="0">
                <a:solidFill>
                  <a:srgbClr val="142B4A"/>
                </a:solidFill>
              </a:rPr>
              <a:t>of all 170,224 transactions</a:t>
            </a:r>
            <a:endParaRPr lang="en-US" sz="1150" dirty="0"/>
          </a:p>
        </p:txBody>
      </p:sp>
      <p:sp>
        <p:nvSpPr>
          <p:cNvPr id="14" name="Shape 11"/>
          <p:cNvSpPr/>
          <p:nvPr/>
        </p:nvSpPr>
        <p:spPr>
          <a:xfrm>
            <a:off x="7772400" y="3822192"/>
            <a:ext cx="3687775" cy="512064"/>
          </a:xfrm>
          <a:prstGeom prst="rect">
            <a:avLst/>
          </a:prstGeom>
          <a:solidFill>
            <a:srgbClr val="FFFFFF"/>
          </a:solidFill>
          <a:ln w="6350">
            <a:solidFill>
              <a:srgbClr val="D9E0E8"/>
            </a:solidFill>
            <a:prstDash val="solid"/>
          </a:ln>
        </p:spPr>
      </p:sp>
      <p:sp>
        <p:nvSpPr>
          <p:cNvPr id="15" name="Text 12"/>
          <p:cNvSpPr txBox="1"/>
          <p:nvPr/>
        </p:nvSpPr>
        <p:spPr>
          <a:xfrm>
            <a:off x="7909560" y="3822192"/>
            <a:ext cx="1188720" cy="512064"/>
          </a:xfrm>
          <a:prstGeom prst="rect">
            <a:avLst/>
          </a:prstGeom>
          <a:noFill/>
          <a:ln/>
        </p:spPr>
        <p:txBody>
          <a:bodyPr wrap="square" lIns="0" tIns="0" rIns="0" bIns="0" rtlCol="0" anchor="ctr"/>
          <a:lstStyle/>
          <a:p>
            <a:pPr marL="0" indent="0">
              <a:buNone/>
            </a:pPr>
            <a:r>
              <a:rPr lang="en-US" sz="2000" b="1" dirty="0">
                <a:solidFill>
                  <a:srgbClr val="167D8D"/>
                </a:solidFill>
                <a:latin typeface="Cambria" pitchFamily="34" charset="0"/>
                <a:ea typeface="Cambria" pitchFamily="34" charset="-122"/>
                <a:cs typeface="Cambria" pitchFamily="34" charset="-120"/>
              </a:rPr>
              <a:t>2,208</a:t>
            </a:r>
            <a:endParaRPr lang="en-US" sz="2000" dirty="0"/>
          </a:p>
        </p:txBody>
      </p:sp>
      <p:sp>
        <p:nvSpPr>
          <p:cNvPr id="16" name="Text 13"/>
          <p:cNvSpPr txBox="1"/>
          <p:nvPr/>
        </p:nvSpPr>
        <p:spPr>
          <a:xfrm>
            <a:off x="9144000" y="3822192"/>
            <a:ext cx="2224735" cy="512064"/>
          </a:xfrm>
          <a:prstGeom prst="rect">
            <a:avLst/>
          </a:prstGeom>
          <a:noFill/>
          <a:ln/>
        </p:spPr>
        <p:txBody>
          <a:bodyPr wrap="square" lIns="0" tIns="0" rIns="0" bIns="0" rtlCol="0" anchor="ctr"/>
          <a:lstStyle/>
          <a:p>
            <a:pPr marL="0" indent="0">
              <a:buNone/>
            </a:pPr>
            <a:r>
              <a:rPr lang="en-US" sz="1150" dirty="0">
                <a:solidFill>
                  <a:srgbClr val="142B4A"/>
                </a:solidFill>
              </a:rPr>
              <a:t>Treasure at Tampines, the largest — 1.3% of the market alone</a:t>
            </a:r>
            <a:endParaRPr lang="en-US" sz="1150" dirty="0"/>
          </a:p>
        </p:txBody>
      </p:sp>
      <p:sp>
        <p:nvSpPr>
          <p:cNvPr id="17" name="Shape 14"/>
          <p:cNvSpPr/>
          <p:nvPr/>
        </p:nvSpPr>
        <p:spPr>
          <a:xfrm>
            <a:off x="7772400" y="4407408"/>
            <a:ext cx="3687775" cy="512064"/>
          </a:xfrm>
          <a:prstGeom prst="rect">
            <a:avLst/>
          </a:prstGeom>
          <a:solidFill>
            <a:srgbClr val="FFFFFF"/>
          </a:solidFill>
          <a:ln w="6350">
            <a:solidFill>
              <a:srgbClr val="D9E0E8"/>
            </a:solidFill>
            <a:prstDash val="solid"/>
          </a:ln>
        </p:spPr>
      </p:sp>
      <p:sp>
        <p:nvSpPr>
          <p:cNvPr id="18" name="Text 15"/>
          <p:cNvSpPr txBox="1"/>
          <p:nvPr/>
        </p:nvSpPr>
        <p:spPr>
          <a:xfrm>
            <a:off x="7909560" y="4407408"/>
            <a:ext cx="1188720" cy="512064"/>
          </a:xfrm>
          <a:prstGeom prst="rect">
            <a:avLst/>
          </a:prstGeom>
          <a:noFill/>
          <a:ln/>
        </p:spPr>
        <p:txBody>
          <a:bodyPr wrap="square" lIns="0" tIns="0" rIns="0" bIns="0" rtlCol="0" anchor="ctr"/>
          <a:lstStyle/>
          <a:p>
            <a:pPr marL="0" indent="0">
              <a:buNone/>
            </a:pPr>
            <a:r>
              <a:rPr lang="en-US" sz="2000" b="1" dirty="0">
                <a:solidFill>
                  <a:srgbClr val="167D8D"/>
                </a:solidFill>
                <a:latin typeface="Cambria" pitchFamily="34" charset="0"/>
                <a:ea typeface="Cambria" pitchFamily="34" charset="-122"/>
                <a:cs typeface="Cambria" pitchFamily="34" charset="-120"/>
              </a:rPr>
              <a:t>994</a:t>
            </a:r>
            <a:endParaRPr lang="en-US" sz="2000" dirty="0"/>
          </a:p>
        </p:txBody>
      </p:sp>
      <p:sp>
        <p:nvSpPr>
          <p:cNvPr id="19" name="Text 16"/>
          <p:cNvSpPr txBox="1"/>
          <p:nvPr/>
        </p:nvSpPr>
        <p:spPr>
          <a:xfrm>
            <a:off x="9144000" y="4407408"/>
            <a:ext cx="2224735" cy="512064"/>
          </a:xfrm>
          <a:prstGeom prst="rect">
            <a:avLst/>
          </a:prstGeom>
          <a:noFill/>
          <a:ln/>
        </p:spPr>
        <p:txBody>
          <a:bodyPr wrap="square" lIns="0" tIns="0" rIns="0" bIns="0" rtlCol="0" anchor="ctr"/>
          <a:lstStyle/>
          <a:p>
            <a:pPr marL="0" indent="0">
              <a:buNone/>
            </a:pPr>
            <a:r>
              <a:rPr lang="en-US" sz="1150" dirty="0">
                <a:solidFill>
                  <a:srgbClr val="142B4A"/>
                </a:solidFill>
              </a:rPr>
              <a:t>the gap between first and tenth</a:t>
            </a:r>
            <a:endParaRPr lang="en-US" sz="1150" dirty="0"/>
          </a:p>
        </p:txBody>
      </p:sp>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08  FINDING  ·  LOCATION</a:t>
            </a:r>
            <a:endParaRPr lang="en-US" sz="1200" dirty="0"/>
          </a:p>
        </p:txBody>
      </p:sp>
      <p:sp>
        <p:nvSpPr>
          <p:cNvPr id="3" name="Text 0"/>
          <p:cNvSpPr>
            <a:spLocks noGrp="1"/>
          </p:cNvSpPr>
          <p:nvPr>
            <p:ph type="title" idx="101" hasCustomPrompt="1"/>
          </p:nvPr>
        </p:nvSpPr>
        <p:spPr>
          <a:xfrm>
            <a:off x="548640" y="850392"/>
            <a:ext cx="11094415" cy="512064"/>
          </a:xfrm>
          <a:prstGeom prst="rect">
            <a:avLst/>
          </a:prstGeom>
          <a:noFill/>
          <a:ln/>
        </p:spPr>
        <p:txBody>
          <a:bodyPr wrap="square" lIns="0" tIns="0" rIns="0" bIns="0" rtlCol="0" anchor="t"/>
          <a:lstStyle/>
          <a:p>
            <a:pPr marL="0" indent="0" algn="l">
              <a:buNone/>
            </a:pPr>
            <a:r>
              <a:rPr lang="en-US" sz="2200" b="1" dirty="0">
                <a:solidFill>
                  <a:srgbClr val="142B4A"/>
                </a:solidFill>
                <a:latin typeface="Cambria" pitchFamily="34" charset="0"/>
                <a:ea typeface="Cambria" pitchFamily="34" charset="-122"/>
                <a:cs typeface="Cambria" pitchFamily="34" charset="-120"/>
              </a:rPr>
              <a:t>Central’s median price per sq ft is 1.59× the North’s, and Central holds 51% of all sales</a:t>
            </a:r>
            <a:endParaRPr lang="en-US" sz="2200" dirty="0"/>
          </a:p>
        </p:txBody>
      </p:sp>
      <p:graphicFrame>
        <p:nvGraphicFramePr>
          <p:cNvPr id="4" name="Chart 0"/>
          <p:cNvGraphicFramePr/>
          <p:nvPr/>
        </p:nvGraphicFramePr>
        <p:xfrm>
          <a:off x="457200" y="1417320"/>
          <a:ext cx="704088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4005072"/>
            <a:ext cx="5486400" cy="219456"/>
          </a:xfrm>
          <a:prstGeom prst="rect">
            <a:avLst/>
          </a:prstGeom>
          <a:noFill/>
          <a:ln/>
        </p:spPr>
        <p:txBody>
          <a:bodyPr wrap="square" lIns="0" tIns="0" rIns="0" bIns="0" rtlCol="0" anchor="ctr"/>
          <a:lstStyle/>
          <a:p>
            <a:pPr marL="0" indent="0">
              <a:buNone/>
            </a:pPr>
            <a:r>
              <a:rPr lang="en-US" sz="1100" b="1" kern="0" spc="150" dirty="0">
                <a:solidFill>
                  <a:srgbClr val="142B4A"/>
                </a:solidFill>
              </a:rPr>
              <a:t>AND HOW THE SALES ARE SPREAD</a:t>
            </a:r>
            <a:endParaRPr lang="en-US" sz="11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6858000" cy="1627632"/>
        </p:xfrm>
        <a:graphic>
          <a:graphicData uri="http://schemas.openxmlformats.org/drawingml/2006/table">
            <a:tbl>
              <a:tblPr/>
              <a:tblGrid>
                <a:gridCol w="23774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56032">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REGION</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r">
                        <a:buNone/>
                      </a:pPr>
                      <a:r>
                        <a:rPr lang="en-US" sz="1050" b="1" kern="0" spc="50" dirty="0">
                          <a:solidFill>
                            <a:srgbClr val="FFFFFF"/>
                          </a:solidFill>
                          <a:latin typeface="Calibri" pitchFamily="34" charset="0"/>
                          <a:ea typeface="Calibri" pitchFamily="34" charset="-122"/>
                          <a:cs typeface="Calibri" pitchFamily="34" charset="-120"/>
                        </a:rPr>
                        <a:t>MEDIAN $PSF</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r">
                        <a:buNone/>
                      </a:pPr>
                      <a:r>
                        <a:rPr lang="en-US" sz="1050" b="1" kern="0" spc="50" dirty="0">
                          <a:solidFill>
                            <a:srgbClr val="FFFFFF"/>
                          </a:solidFill>
                          <a:latin typeface="Calibri" pitchFamily="34" charset="0"/>
                          <a:ea typeface="Calibri" pitchFamily="34" charset="-122"/>
                          <a:cs typeface="Calibri" pitchFamily="34" charset="-120"/>
                        </a:rPr>
                        <a:t>TRANSACTIONS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r">
                        <a:buNone/>
                      </a:pPr>
                      <a:r>
                        <a:rPr lang="en-US" sz="1050" b="1" kern="0" spc="50" dirty="0">
                          <a:solidFill>
                            <a:srgbClr val="FFFFFF"/>
                          </a:solidFill>
                          <a:latin typeface="Calibri" pitchFamily="34" charset="0"/>
                          <a:ea typeface="Calibri" pitchFamily="34" charset="-122"/>
                          <a:cs typeface="Calibri" pitchFamily="34" charset="-120"/>
                        </a:rPr>
                        <a:t>SHARE</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extLst>
                  <a:ext uri="{0D108BD9-81ED-4DB2-BD59-A6C34878D82A}">
                    <a16:rowId xmlns:a16="http://schemas.microsoft.com/office/drawing/2014/main" val="10000"/>
                  </a:ext>
                </a:extLst>
              </a:tr>
              <a:tr h="274320">
                <a:tc>
                  <a:txBody>
                    <a:bodyPr/>
                    <a:lstStyle/>
                    <a:p>
                      <a:pPr marL="0" indent="0" algn="l">
                        <a:buNone/>
                      </a:pPr>
                      <a:r>
                        <a:rPr lang="en-US" sz="1150" b="1" dirty="0">
                          <a:solidFill>
                            <a:srgbClr val="142B4A"/>
                          </a:solidFill>
                          <a:latin typeface="Calibri" pitchFamily="34" charset="0"/>
                          <a:ea typeface="Calibri" pitchFamily="34" charset="-122"/>
                          <a:cs typeface="Calibri" pitchFamily="34" charset="-120"/>
                        </a:rPr>
                        <a:t>Central Region</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E3F1F3"/>
                    </a:solidFill>
                  </a:tcPr>
                </a:tc>
                <a:tc>
                  <a:txBody>
                    <a:bodyPr/>
                    <a:lstStyle/>
                    <a:p>
                      <a:pPr marL="0" indent="0" algn="r">
                        <a:buNone/>
                      </a:pPr>
                      <a:r>
                        <a:rPr lang="en-US" sz="1150" b="1" dirty="0">
                          <a:solidFill>
                            <a:srgbClr val="167D8D"/>
                          </a:solidFill>
                          <a:latin typeface="Calibri" pitchFamily="34" charset="0"/>
                          <a:ea typeface="Calibri" pitchFamily="34" charset="-122"/>
                          <a:cs typeface="Calibri" pitchFamily="34" charset="-120"/>
                        </a:rPr>
                        <a:t>$1,689</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E3F1F3"/>
                    </a:solidFill>
                  </a:tcPr>
                </a:tc>
                <a:tc>
                  <a:txBody>
                    <a:bodyPr/>
                    <a:lstStyle/>
                    <a:p>
                      <a:pPr marL="0" indent="0" algn="r">
                        <a:buNone/>
                      </a:pPr>
                      <a:r>
                        <a:rPr lang="en-US" sz="1150" b="1" dirty="0">
                          <a:solidFill>
                            <a:srgbClr val="142B4A"/>
                          </a:solidFill>
                          <a:latin typeface="Calibri" pitchFamily="34" charset="0"/>
                          <a:ea typeface="Calibri" pitchFamily="34" charset="-122"/>
                          <a:cs typeface="Calibri" pitchFamily="34" charset="-120"/>
                        </a:rPr>
                        <a:t>86,110</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E3F1F3"/>
                    </a:solidFill>
                  </a:tcPr>
                </a:tc>
                <a:tc>
                  <a:txBody>
                    <a:bodyPr/>
                    <a:lstStyle/>
                    <a:p>
                      <a:pPr marL="0" indent="0" algn="r">
                        <a:buNone/>
                      </a:pPr>
                      <a:r>
                        <a:rPr lang="en-US" sz="1150" b="1" dirty="0">
                          <a:solidFill>
                            <a:srgbClr val="167D8D"/>
                          </a:solidFill>
                          <a:latin typeface="Calibri" pitchFamily="34" charset="0"/>
                          <a:ea typeface="Calibri" pitchFamily="34" charset="-122"/>
                          <a:cs typeface="Calibri" pitchFamily="34" charset="-120"/>
                        </a:rPr>
                        <a:t>50.6%</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solidFill>
                      <a:srgbClr val="E3F1F3"/>
                    </a:solidFill>
                  </a:tcPr>
                </a:tc>
                <a:extLst>
                  <a:ext uri="{0D108BD9-81ED-4DB2-BD59-A6C34878D82A}">
                    <a16:rowId xmlns:a16="http://schemas.microsoft.com/office/drawing/2014/main" val="10001"/>
                  </a:ext>
                </a:extLst>
              </a:tr>
              <a:tr h="274320">
                <a:tc>
                  <a:txBody>
                    <a:bodyPr/>
                    <a:lstStyle/>
                    <a:p>
                      <a:pPr marL="0" indent="0" algn="l">
                        <a:buNone/>
                      </a:pPr>
                      <a:r>
                        <a:rPr lang="en-US" sz="1150" dirty="0">
                          <a:solidFill>
                            <a:srgbClr val="142B4A"/>
                          </a:solidFill>
                          <a:latin typeface="Calibri" pitchFamily="34" charset="0"/>
                          <a:ea typeface="Calibri" pitchFamily="34" charset="-122"/>
                          <a:cs typeface="Calibri" pitchFamily="34" charset="-120"/>
                        </a:rPr>
                        <a:t>West Region</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$1,286</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22,484</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13.2%</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l">
                        <a:buNone/>
                      </a:pPr>
                      <a:r>
                        <a:rPr lang="en-US" sz="1150" dirty="0">
                          <a:solidFill>
                            <a:srgbClr val="142B4A"/>
                          </a:solidFill>
                          <a:latin typeface="Calibri" pitchFamily="34" charset="0"/>
                          <a:ea typeface="Calibri" pitchFamily="34" charset="-122"/>
                          <a:cs typeface="Calibri" pitchFamily="34" charset="-120"/>
                        </a:rPr>
                        <a:t>North East Region</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$1,239</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26,402</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15.5%</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lgn="l">
                        <a:buNone/>
                      </a:pPr>
                      <a:r>
                        <a:rPr lang="en-US" sz="1150" dirty="0">
                          <a:solidFill>
                            <a:srgbClr val="142B4A"/>
                          </a:solidFill>
                          <a:latin typeface="Calibri" pitchFamily="34" charset="0"/>
                          <a:ea typeface="Calibri" pitchFamily="34" charset="-122"/>
                          <a:cs typeface="Calibri" pitchFamily="34" charset="-120"/>
                        </a:rPr>
                        <a:t>East Region</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$1,121</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29,235</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17.2%</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0" indent="0" algn="l">
                        <a:buNone/>
                      </a:pPr>
                      <a:r>
                        <a:rPr lang="en-US" sz="1150" dirty="0">
                          <a:solidFill>
                            <a:srgbClr val="142B4A"/>
                          </a:solidFill>
                          <a:latin typeface="Calibri" pitchFamily="34" charset="0"/>
                          <a:ea typeface="Calibri" pitchFamily="34" charset="-122"/>
                          <a:cs typeface="Calibri" pitchFamily="34" charset="-120"/>
                        </a:rPr>
                        <a:t>North Region</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$1,065</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5,993</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150" dirty="0">
                          <a:solidFill>
                            <a:srgbClr val="142B4A"/>
                          </a:solidFill>
                          <a:latin typeface="Calibri" pitchFamily="34" charset="0"/>
                          <a:ea typeface="Calibri" pitchFamily="34" charset="-122"/>
                          <a:cs typeface="Calibri" pitchFamily="34" charset="-120"/>
                        </a:rPr>
                        <a:t>3.5%</a:t>
                      </a:r>
                      <a:endParaRPr lang="en-US" sz="115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Shape 3"/>
          <p:cNvSpPr/>
          <p:nvPr/>
        </p:nvSpPr>
        <p:spPr>
          <a:xfrm>
            <a:off x="7589520" y="1463040"/>
            <a:ext cx="4053535" cy="4480560"/>
          </a:xfrm>
          <a:prstGeom prst="roundRect">
            <a:avLst>
              <a:gd name="adj" fmla="val 1579"/>
            </a:avLst>
          </a:prstGeom>
          <a:solidFill>
            <a:srgbClr val="F4F6F8"/>
          </a:solidFill>
          <a:ln w="9525">
            <a:solidFill>
              <a:srgbClr val="D9E0E8"/>
            </a:solidFill>
            <a:prstDash val="solid"/>
          </a:ln>
        </p:spPr>
      </p:sp>
      <p:sp>
        <p:nvSpPr>
          <p:cNvPr id="8" name="Text 4"/>
          <p:cNvSpPr txBox="1"/>
          <p:nvPr/>
        </p:nvSpPr>
        <p:spPr>
          <a:xfrm>
            <a:off x="7772400" y="1600200"/>
            <a:ext cx="3687775" cy="219456"/>
          </a:xfrm>
          <a:prstGeom prst="rect">
            <a:avLst/>
          </a:prstGeom>
          <a:noFill/>
          <a:ln/>
        </p:spPr>
        <p:txBody>
          <a:bodyPr wrap="square" lIns="0" tIns="0" rIns="0" bIns="0" rtlCol="0" anchor="ctr"/>
          <a:lstStyle/>
          <a:p>
            <a:pPr marL="0" indent="0">
              <a:buNone/>
            </a:pPr>
            <a:r>
              <a:rPr lang="en-US" sz="1100" b="1" kern="0" spc="150" dirty="0">
                <a:solidFill>
                  <a:srgbClr val="167D8D"/>
                </a:solidFill>
              </a:rPr>
              <a:t>READING IT</a:t>
            </a:r>
            <a:endParaRPr lang="en-US" sz="1100" dirty="0"/>
          </a:p>
        </p:txBody>
      </p:sp>
      <p:sp>
        <p:nvSpPr>
          <p:cNvPr id="9" name="Shape 5"/>
          <p:cNvSpPr/>
          <p:nvPr/>
        </p:nvSpPr>
        <p:spPr>
          <a:xfrm>
            <a:off x="7772400" y="1920240"/>
            <a:ext cx="3687775" cy="713232"/>
          </a:xfrm>
          <a:prstGeom prst="rect">
            <a:avLst/>
          </a:prstGeom>
          <a:solidFill>
            <a:srgbClr val="FFFFFF"/>
          </a:solidFill>
          <a:ln w="6350">
            <a:solidFill>
              <a:srgbClr val="D9E0E8"/>
            </a:solidFill>
            <a:prstDash val="solid"/>
          </a:ln>
        </p:spPr>
      </p:sp>
      <p:sp>
        <p:nvSpPr>
          <p:cNvPr id="10" name="Text 6"/>
          <p:cNvSpPr txBox="1"/>
          <p:nvPr/>
        </p:nvSpPr>
        <p:spPr>
          <a:xfrm>
            <a:off x="7909560" y="1920240"/>
            <a:ext cx="1188720" cy="713232"/>
          </a:xfrm>
          <a:prstGeom prst="rect">
            <a:avLst/>
          </a:prstGeom>
          <a:noFill/>
          <a:ln/>
        </p:spPr>
        <p:txBody>
          <a:bodyPr wrap="square" lIns="0" tIns="0" rIns="0" bIns="0" rtlCol="0" anchor="ctr"/>
          <a:lstStyle/>
          <a:p>
            <a:pPr marL="0" indent="0">
              <a:buNone/>
            </a:pPr>
            <a:r>
              <a:rPr lang="en-US" sz="2000" b="1" dirty="0">
                <a:solidFill>
                  <a:srgbClr val="167D8D"/>
                </a:solidFill>
                <a:latin typeface="Cambria" pitchFamily="34" charset="0"/>
                <a:ea typeface="Cambria" pitchFamily="34" charset="-122"/>
                <a:cs typeface="Cambria" pitchFamily="34" charset="-120"/>
              </a:rPr>
              <a:t>1.59×</a:t>
            </a:r>
            <a:endParaRPr lang="en-US" sz="2000" dirty="0"/>
          </a:p>
        </p:txBody>
      </p:sp>
      <p:sp>
        <p:nvSpPr>
          <p:cNvPr id="11" name="Text 7"/>
          <p:cNvSpPr txBox="1"/>
          <p:nvPr/>
        </p:nvSpPr>
        <p:spPr>
          <a:xfrm>
            <a:off x="9144000" y="1920240"/>
            <a:ext cx="2224735" cy="713232"/>
          </a:xfrm>
          <a:prstGeom prst="rect">
            <a:avLst/>
          </a:prstGeom>
          <a:noFill/>
          <a:ln/>
        </p:spPr>
        <p:txBody>
          <a:bodyPr wrap="square" lIns="0" tIns="0" rIns="0" bIns="0" rtlCol="0" anchor="ctr"/>
          <a:lstStyle/>
          <a:p>
            <a:pPr marL="0" indent="0">
              <a:buNone/>
            </a:pPr>
            <a:r>
              <a:rPr lang="en-US" sz="1150" dirty="0">
                <a:solidFill>
                  <a:srgbClr val="142B4A"/>
                </a:solidFill>
              </a:rPr>
              <a:t>Central ($1,689) against North ($1,065) per sq ft</a:t>
            </a:r>
            <a:endParaRPr lang="en-US" sz="1150" dirty="0"/>
          </a:p>
        </p:txBody>
      </p:sp>
      <p:sp>
        <p:nvSpPr>
          <p:cNvPr id="12" name="Shape 8"/>
          <p:cNvSpPr/>
          <p:nvPr/>
        </p:nvSpPr>
        <p:spPr>
          <a:xfrm>
            <a:off x="7772400" y="2706624"/>
            <a:ext cx="3687775" cy="713232"/>
          </a:xfrm>
          <a:prstGeom prst="rect">
            <a:avLst/>
          </a:prstGeom>
          <a:solidFill>
            <a:srgbClr val="FFFFFF"/>
          </a:solidFill>
          <a:ln w="6350">
            <a:solidFill>
              <a:srgbClr val="D9E0E8"/>
            </a:solidFill>
            <a:prstDash val="solid"/>
          </a:ln>
        </p:spPr>
      </p:sp>
      <p:sp>
        <p:nvSpPr>
          <p:cNvPr id="13" name="Text 9"/>
          <p:cNvSpPr txBox="1"/>
          <p:nvPr/>
        </p:nvSpPr>
        <p:spPr>
          <a:xfrm>
            <a:off x="7909560" y="2706624"/>
            <a:ext cx="1188720" cy="713232"/>
          </a:xfrm>
          <a:prstGeom prst="rect">
            <a:avLst/>
          </a:prstGeom>
          <a:noFill/>
          <a:ln/>
        </p:spPr>
        <p:txBody>
          <a:bodyPr wrap="square" lIns="0" tIns="0" rIns="0" bIns="0" rtlCol="0" anchor="ctr"/>
          <a:lstStyle/>
          <a:p>
            <a:pPr marL="0" indent="0">
              <a:buNone/>
            </a:pPr>
            <a:r>
              <a:rPr lang="en-US" sz="2000" b="1" dirty="0">
                <a:solidFill>
                  <a:srgbClr val="167D8D"/>
                </a:solidFill>
                <a:latin typeface="Cambria" pitchFamily="34" charset="0"/>
                <a:ea typeface="Cambria" pitchFamily="34" charset="-122"/>
                <a:cs typeface="Cambria" pitchFamily="34" charset="-120"/>
              </a:rPr>
              <a:t>50.6%</a:t>
            </a:r>
            <a:endParaRPr lang="en-US" sz="2000" dirty="0"/>
          </a:p>
        </p:txBody>
      </p:sp>
      <p:sp>
        <p:nvSpPr>
          <p:cNvPr id="14" name="Text 10"/>
          <p:cNvSpPr txBox="1"/>
          <p:nvPr/>
        </p:nvSpPr>
        <p:spPr>
          <a:xfrm>
            <a:off x="9144000" y="2706624"/>
            <a:ext cx="2224735" cy="713232"/>
          </a:xfrm>
          <a:prstGeom prst="rect">
            <a:avLst/>
          </a:prstGeom>
          <a:noFill/>
          <a:ln/>
        </p:spPr>
        <p:txBody>
          <a:bodyPr wrap="square" lIns="0" tIns="0" rIns="0" bIns="0" rtlCol="0" anchor="ctr"/>
          <a:lstStyle/>
          <a:p>
            <a:pPr marL="0" indent="0">
              <a:buNone/>
            </a:pPr>
            <a:r>
              <a:rPr lang="en-US" sz="1150" dirty="0">
                <a:solidFill>
                  <a:srgbClr val="142B4A"/>
                </a:solidFill>
              </a:rPr>
              <a:t>of all transactions are in Central — 86,110 of 170,224</a:t>
            </a:r>
            <a:endParaRPr lang="en-US" sz="1150" dirty="0"/>
          </a:p>
        </p:txBody>
      </p:sp>
      <p:sp>
        <p:nvSpPr>
          <p:cNvPr id="15" name="Shape 11"/>
          <p:cNvSpPr/>
          <p:nvPr/>
        </p:nvSpPr>
        <p:spPr>
          <a:xfrm>
            <a:off x="7772400" y="3493008"/>
            <a:ext cx="3687775" cy="713232"/>
          </a:xfrm>
          <a:prstGeom prst="rect">
            <a:avLst/>
          </a:prstGeom>
          <a:solidFill>
            <a:srgbClr val="FFFFFF"/>
          </a:solidFill>
          <a:ln w="6350">
            <a:solidFill>
              <a:srgbClr val="D9E0E8"/>
            </a:solidFill>
            <a:prstDash val="solid"/>
          </a:ln>
        </p:spPr>
      </p:sp>
      <p:sp>
        <p:nvSpPr>
          <p:cNvPr id="16" name="Text 12"/>
          <p:cNvSpPr txBox="1"/>
          <p:nvPr/>
        </p:nvSpPr>
        <p:spPr>
          <a:xfrm>
            <a:off x="7909560" y="3493008"/>
            <a:ext cx="1188720" cy="713232"/>
          </a:xfrm>
          <a:prstGeom prst="rect">
            <a:avLst/>
          </a:prstGeom>
          <a:noFill/>
          <a:ln/>
        </p:spPr>
        <p:txBody>
          <a:bodyPr wrap="square" lIns="0" tIns="0" rIns="0" bIns="0" rtlCol="0" anchor="ctr"/>
          <a:lstStyle/>
          <a:p>
            <a:pPr marL="0" indent="0">
              <a:buNone/>
            </a:pPr>
            <a:r>
              <a:rPr lang="en-US" sz="2000" b="1" dirty="0">
                <a:solidFill>
                  <a:srgbClr val="167D8D"/>
                </a:solidFill>
                <a:latin typeface="Cambria" pitchFamily="34" charset="0"/>
                <a:ea typeface="Cambria" pitchFamily="34" charset="-122"/>
                <a:cs typeface="Cambria" pitchFamily="34" charset="-120"/>
              </a:rPr>
              <a:t>5,993</a:t>
            </a:r>
            <a:endParaRPr lang="en-US" sz="2000" dirty="0"/>
          </a:p>
        </p:txBody>
      </p:sp>
      <p:sp>
        <p:nvSpPr>
          <p:cNvPr id="17" name="Text 13"/>
          <p:cNvSpPr txBox="1"/>
          <p:nvPr/>
        </p:nvSpPr>
        <p:spPr>
          <a:xfrm>
            <a:off x="9144000" y="3493008"/>
            <a:ext cx="2224735" cy="713232"/>
          </a:xfrm>
          <a:prstGeom prst="rect">
            <a:avLst/>
          </a:prstGeom>
          <a:noFill/>
          <a:ln/>
        </p:spPr>
        <p:txBody>
          <a:bodyPr wrap="square" lIns="0" tIns="0" rIns="0" bIns="0" rtlCol="0" anchor="ctr"/>
          <a:lstStyle/>
          <a:p>
            <a:pPr marL="0" indent="0">
              <a:buNone/>
            </a:pPr>
            <a:r>
              <a:rPr lang="en-US" sz="1150" dirty="0">
                <a:solidFill>
                  <a:srgbClr val="142B4A"/>
                </a:solidFill>
              </a:rPr>
              <a:t>transactions in North, the thinnest market at 3.5%</a:t>
            </a:r>
            <a:endParaRPr lang="en-US" sz="1150" dirty="0"/>
          </a:p>
        </p:txBody>
      </p:sp>
      <p:sp>
        <p:nvSpPr>
          <p:cNvPr id="18" name="Shape 14"/>
          <p:cNvSpPr/>
          <p:nvPr/>
        </p:nvSpPr>
        <p:spPr>
          <a:xfrm>
            <a:off x="7772400" y="4279392"/>
            <a:ext cx="3687775" cy="713232"/>
          </a:xfrm>
          <a:prstGeom prst="rect">
            <a:avLst/>
          </a:prstGeom>
          <a:solidFill>
            <a:srgbClr val="FFFFFF"/>
          </a:solidFill>
          <a:ln w="6350">
            <a:solidFill>
              <a:srgbClr val="D9E0E8"/>
            </a:solidFill>
            <a:prstDash val="solid"/>
          </a:ln>
        </p:spPr>
      </p:sp>
      <p:sp>
        <p:nvSpPr>
          <p:cNvPr id="19" name="Text 15"/>
          <p:cNvSpPr txBox="1"/>
          <p:nvPr/>
        </p:nvSpPr>
        <p:spPr>
          <a:xfrm>
            <a:off x="7909560" y="4279392"/>
            <a:ext cx="1188720" cy="713232"/>
          </a:xfrm>
          <a:prstGeom prst="rect">
            <a:avLst/>
          </a:prstGeom>
          <a:noFill/>
          <a:ln/>
        </p:spPr>
        <p:txBody>
          <a:bodyPr wrap="square" lIns="0" tIns="0" rIns="0" bIns="0" rtlCol="0" anchor="ctr"/>
          <a:lstStyle/>
          <a:p>
            <a:pPr marL="0" indent="0">
              <a:buNone/>
            </a:pPr>
            <a:r>
              <a:rPr lang="en-US" sz="1300" b="1" dirty="0">
                <a:solidFill>
                  <a:srgbClr val="167D8D"/>
                </a:solidFill>
                <a:latin typeface="Cambria" pitchFamily="34" charset="0"/>
                <a:ea typeface="Cambria" pitchFamily="34" charset="-122"/>
                <a:cs typeface="Cambria" pitchFamily="34" charset="-120"/>
              </a:rPr>
              <a:t>medians, pooled</a:t>
            </a:r>
            <a:endParaRPr lang="en-US" sz="1300" dirty="0"/>
          </a:p>
        </p:txBody>
      </p:sp>
      <p:sp>
        <p:nvSpPr>
          <p:cNvPr id="20" name="Text 16"/>
          <p:cNvSpPr txBox="1"/>
          <p:nvPr/>
        </p:nvSpPr>
        <p:spPr>
          <a:xfrm>
            <a:off x="9144000" y="4279392"/>
            <a:ext cx="2224735" cy="713232"/>
          </a:xfrm>
          <a:prstGeom prst="rect">
            <a:avLst/>
          </a:prstGeom>
          <a:noFill/>
          <a:ln/>
        </p:spPr>
        <p:txBody>
          <a:bodyPr wrap="square" lIns="0" tIns="0" rIns="0" bIns="0" rtlCol="0" anchor="ctr"/>
          <a:lstStyle/>
          <a:p>
            <a:pPr marL="0" indent="0">
              <a:buNone/>
            </a:pPr>
            <a:r>
              <a:rPr lang="en-US" sz="1150" dirty="0">
                <a:solidFill>
                  <a:srgbClr val="142B4A"/>
                </a:solidFill>
              </a:rPr>
              <a:t>across all 109 months, April 2013 to April 2022</a:t>
            </a:r>
            <a:endParaRPr lang="en-US" sz="1150" dirty="0"/>
          </a:p>
        </p:txBody>
      </p:sp>
      <p:sp>
        <p:nvSpPr>
          <p:cNvPr id="6" name="Text 17"/>
          <p:cNvSpPr txBox="1"/>
          <p:nvPr/>
        </p:nvSpPr>
        <p:spPr>
          <a:xfrm>
            <a:off x="7772400" y="5102352"/>
            <a:ext cx="3687775" cy="786384"/>
          </a:xfrm>
          <a:prstGeom prst="rect">
            <a:avLst/>
          </a:prstGeom>
          <a:noFill/>
          <a:ln/>
        </p:spPr>
        <p:txBody>
          <a:bodyPr wrap="square" lIns="0" tIns="0" rIns="0" bIns="0" rtlCol="0" anchor="t"/>
          <a:lstStyle/>
          <a:p>
            <a:pPr marL="0" indent="0">
              <a:buNone/>
            </a:pPr>
            <a:r>
              <a:rPr lang="en-US" sz="1100" i="1" dirty="0">
                <a:solidFill>
                  <a:srgbClr val="55657A"/>
                </a:solidFill>
              </a:rPr>
              <a:t>The ranking holds in every year, but the gap narrows: Central was 1.72× North in 2014 and 1.51× by 2021. A pooled median hides that.</a:t>
            </a:r>
            <a:endParaRPr lang="en-US" sz="1100" dirty="0"/>
          </a:p>
        </p:txBody>
      </p:sp>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47472"/>
            <a:ext cx="11094415" cy="219456"/>
          </a:xfrm>
          <a:prstGeom prst="rect">
            <a:avLst/>
          </a:prstGeom>
          <a:noFill/>
          <a:ln/>
        </p:spPr>
        <p:txBody>
          <a:bodyPr wrap="square" lIns="0" tIns="0" rIns="0" bIns="0" rtlCol="0" anchor="t"/>
          <a:lstStyle/>
          <a:p>
            <a:pPr marL="0" indent="0">
              <a:buNone/>
            </a:pPr>
            <a:r>
              <a:rPr lang="en-US" sz="1200" b="1" kern="0" spc="200" dirty="0">
                <a:solidFill>
                  <a:srgbClr val="167D8D"/>
                </a:solidFill>
              </a:rPr>
              <a:t>09  FINDING  ·  BUYER MIX</a:t>
            </a:r>
            <a:endParaRPr lang="en-US" sz="1200" dirty="0"/>
          </a:p>
        </p:txBody>
      </p:sp>
      <p:sp>
        <p:nvSpPr>
          <p:cNvPr id="3" name="Text 0"/>
          <p:cNvSpPr>
            <a:spLocks noGrp="1"/>
          </p:cNvSpPr>
          <p:nvPr>
            <p:ph type="title" idx="101" hasCustomPrompt="1"/>
          </p:nvPr>
        </p:nvSpPr>
        <p:spPr>
          <a:xfrm>
            <a:off x="548640" y="585216"/>
            <a:ext cx="11094415" cy="731520"/>
          </a:xfrm>
          <a:prstGeom prst="rect">
            <a:avLst/>
          </a:prstGeom>
          <a:noFill/>
          <a:ln/>
        </p:spPr>
        <p:txBody>
          <a:bodyPr wrap="square" lIns="0" tIns="0" rIns="0" bIns="0" rtlCol="0" anchor="t"/>
          <a:lstStyle/>
          <a:p>
            <a:pPr marL="0" indent="0" algn="l">
              <a:buNone/>
            </a:pPr>
            <a:r>
              <a:rPr lang="en-US" sz="2400" b="1" dirty="0">
                <a:solidFill>
                  <a:srgbClr val="142B4A"/>
                </a:solidFill>
                <a:latin typeface="Cambria" pitchFamily="34" charset="0"/>
                <a:ea typeface="Cambria" pitchFamily="34" charset="-122"/>
                <a:cs typeface="Cambria" pitchFamily="34" charset="-120"/>
              </a:rPr>
              <a:t>HDB-address(Buyer) transactions have a lower median price and a higher new-sale share</a:t>
            </a:r>
            <a:endParaRPr lang="en-US" sz="2400" dirty="0"/>
          </a:p>
        </p:txBody>
      </p:sp>
      <p:sp>
        <p:nvSpPr>
          <p:cNvPr id="4" name="Text 2"/>
          <p:cNvSpPr txBox="1"/>
          <p:nvPr/>
        </p:nvSpPr>
        <p:spPr>
          <a:xfrm>
            <a:off x="548640" y="1417320"/>
            <a:ext cx="6400800" cy="219456"/>
          </a:xfrm>
          <a:prstGeom prst="rect">
            <a:avLst/>
          </a:prstGeom>
          <a:noFill/>
          <a:ln/>
        </p:spPr>
        <p:txBody>
          <a:bodyPr wrap="square" lIns="0" tIns="0" rIns="0" bIns="0" rtlCol="0" anchor="ctr"/>
          <a:lstStyle/>
          <a:p>
            <a:pPr marL="0" indent="0">
              <a:buNone/>
            </a:pPr>
            <a:r>
              <a:rPr lang="en-US" sz="1100" b="1" kern="0" spc="150" dirty="0">
                <a:solidFill>
                  <a:srgbClr val="167D8D"/>
                </a:solidFill>
              </a:rPr>
              <a:t>WHO IS BUYING  </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64208"/>
          <a:ext cx="6858000" cy="1316736"/>
        </p:xfrm>
        <a:graphic>
          <a:graphicData uri="http://schemas.openxmlformats.org/drawingml/2006/table">
            <a:tbl>
              <a:tblPr/>
              <a:tblGrid>
                <a:gridCol w="12801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tblGrid>
              <a:tr h="274320">
                <a:tc>
                  <a:txBody>
                    <a:bodyPr/>
                    <a:lstStyle/>
                    <a:p>
                      <a:pPr marL="0" indent="0">
                        <a:buNone/>
                      </a:pPr>
                      <a:r>
                        <a:rPr lang="en-US" sz="1050" b="1" kern="0" spc="50" dirty="0">
                          <a:solidFill>
                            <a:srgbClr val="FFFFFF"/>
                          </a:solidFill>
                          <a:latin typeface="Calibri" pitchFamily="34" charset="0"/>
                          <a:ea typeface="Calibri" pitchFamily="34" charset="-122"/>
                          <a:cs typeface="Calibri" pitchFamily="34" charset="-120"/>
                        </a:rPr>
                        <a:t>BUYER</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r">
                        <a:buNone/>
                      </a:pPr>
                      <a:r>
                        <a:rPr lang="en-US" sz="1050" b="1" kern="0" spc="50" dirty="0">
                          <a:solidFill>
                            <a:srgbClr val="FFFFFF"/>
                          </a:solidFill>
                          <a:latin typeface="Calibri" pitchFamily="34" charset="0"/>
                          <a:ea typeface="Calibri" pitchFamily="34" charset="-122"/>
                          <a:cs typeface="Calibri" pitchFamily="34" charset="-120"/>
                        </a:rPr>
                        <a:t>SALES</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r">
                        <a:buNone/>
                      </a:pPr>
                      <a:r>
                        <a:rPr lang="en-US" sz="1050" b="1" kern="0" spc="50" dirty="0">
                          <a:solidFill>
                            <a:srgbClr val="FFFFFF"/>
                          </a:solidFill>
                          <a:latin typeface="Calibri" pitchFamily="34" charset="0"/>
                          <a:ea typeface="Calibri" pitchFamily="34" charset="-122"/>
                          <a:cs typeface="Calibri" pitchFamily="34" charset="-120"/>
                        </a:rPr>
                        <a:t>SHARE</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r">
                        <a:buNone/>
                      </a:pPr>
                      <a:r>
                        <a:rPr lang="en-US" sz="1050" b="1" kern="0" spc="50" dirty="0">
                          <a:solidFill>
                            <a:srgbClr val="FFFFFF"/>
                          </a:solidFill>
                          <a:latin typeface="Calibri" pitchFamily="34" charset="0"/>
                          <a:ea typeface="Calibri" pitchFamily="34" charset="-122"/>
                          <a:cs typeface="Calibri" pitchFamily="34" charset="-120"/>
                        </a:rPr>
                        <a:t>MEDIAN PRICE</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r">
                        <a:buNone/>
                      </a:pPr>
                      <a:r>
                        <a:rPr lang="en-US" sz="1050" b="1" kern="0" spc="50" dirty="0">
                          <a:solidFill>
                            <a:srgbClr val="FFFFFF"/>
                          </a:solidFill>
                          <a:latin typeface="Calibri" pitchFamily="34" charset="0"/>
                          <a:ea typeface="Calibri" pitchFamily="34" charset="-122"/>
                          <a:cs typeface="Calibri" pitchFamily="34" charset="-120"/>
                        </a:rPr>
                        <a:t>$PSF</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tc>
                  <a:txBody>
                    <a:bodyPr/>
                    <a:lstStyle/>
                    <a:p>
                      <a:pPr marL="0" indent="0" algn="r">
                        <a:buNone/>
                      </a:pPr>
                      <a:r>
                        <a:rPr lang="en-US" sz="1050" b="1" kern="0" spc="50" dirty="0">
                          <a:solidFill>
                            <a:srgbClr val="FFFFFF"/>
                          </a:solidFill>
                          <a:latin typeface="Calibri" pitchFamily="34" charset="0"/>
                          <a:ea typeface="Calibri" pitchFamily="34" charset="-122"/>
                          <a:cs typeface="Calibri" pitchFamily="34" charset="-120"/>
                        </a:rPr>
                        <a:t>SQ FT</a:t>
                      </a:r>
                      <a:endParaRPr lang="en-US" sz="105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0" cap="flat" cmpd="sng" algn="ctr">
                      <a:noFill/>
                    </a:lnB>
                    <a:solidFill>
                      <a:srgbClr val="142B4A"/>
                    </a:solidFill>
                  </a:tcPr>
                </a:tc>
                <a:extLst>
                  <a:ext uri="{0D108BD9-81ED-4DB2-BD59-A6C34878D82A}">
                    <a16:rowId xmlns:a16="http://schemas.microsoft.com/office/drawing/2014/main" val="10000"/>
                  </a:ext>
                </a:extLst>
              </a:tr>
              <a:tr h="347472">
                <a:tc>
                  <a:txBody>
                    <a:bodyPr/>
                    <a:lstStyle/>
                    <a:p>
                      <a:pPr marL="0" indent="0" algn="l">
                        <a:buNone/>
                      </a:pPr>
                      <a:r>
                        <a:rPr lang="en-US" sz="1200" b="1" dirty="0">
                          <a:solidFill>
                            <a:srgbClr val="142B4A"/>
                          </a:solidFill>
                          <a:latin typeface="Calibri" pitchFamily="34" charset="0"/>
                          <a:ea typeface="Calibri" pitchFamily="34" charset="-122"/>
                          <a:cs typeface="Calibri" pitchFamily="34" charset="-120"/>
                        </a:rPr>
                        <a:t>PRIVATE</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88,914</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52.2%</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r">
                        <a:buNone/>
                      </a:pPr>
                      <a:r>
                        <a:rPr lang="en-US" sz="1200" b="1" dirty="0">
                          <a:solidFill>
                            <a:srgbClr val="142B4A"/>
                          </a:solidFill>
                          <a:latin typeface="Calibri" pitchFamily="34" charset="0"/>
                          <a:ea typeface="Calibri" pitchFamily="34" charset="-122"/>
                          <a:cs typeface="Calibri" pitchFamily="34" charset="-120"/>
                        </a:rPr>
                        <a:t>$1,420,000</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$1,452</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1,055</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1"/>
                  </a:ext>
                </a:extLst>
              </a:tr>
              <a:tr h="347472">
                <a:tc>
                  <a:txBody>
                    <a:bodyPr/>
                    <a:lstStyle/>
                    <a:p>
                      <a:pPr marL="0" indent="0" algn="l">
                        <a:buNone/>
                      </a:pPr>
                      <a:r>
                        <a:rPr lang="en-US" sz="1200" b="1" dirty="0">
                          <a:solidFill>
                            <a:srgbClr val="142B4A"/>
                          </a:solidFill>
                          <a:latin typeface="Calibri" pitchFamily="34" charset="0"/>
                          <a:ea typeface="Calibri" pitchFamily="34" charset="-122"/>
                          <a:cs typeface="Calibri" pitchFamily="34" charset="-120"/>
                        </a:rPr>
                        <a:t>HDB</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E3F1F3"/>
                    </a:solidFill>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68,528</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E3F1F3"/>
                    </a:solidFill>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40.3%</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E3F1F3"/>
                    </a:solidFill>
                  </a:tcPr>
                </a:tc>
                <a:tc>
                  <a:txBody>
                    <a:bodyPr/>
                    <a:lstStyle/>
                    <a:p>
                      <a:pPr marL="0" indent="0" algn="r">
                        <a:buNone/>
                      </a:pPr>
                      <a:r>
                        <a:rPr lang="en-US" sz="1200" b="1" dirty="0">
                          <a:solidFill>
                            <a:srgbClr val="142B4A"/>
                          </a:solidFill>
                          <a:latin typeface="Calibri" pitchFamily="34" charset="0"/>
                          <a:ea typeface="Calibri" pitchFamily="34" charset="-122"/>
                          <a:cs typeface="Calibri" pitchFamily="34" charset="-120"/>
                        </a:rPr>
                        <a:t>$1,100,800</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E3F1F3"/>
                    </a:solidFill>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$1,327</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E3F1F3"/>
                    </a:solidFill>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883</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solidFill>
                      <a:srgbClr val="E3F1F3"/>
                    </a:solidFill>
                  </a:tcPr>
                </a:tc>
                <a:extLst>
                  <a:ext uri="{0D108BD9-81ED-4DB2-BD59-A6C34878D82A}">
                    <a16:rowId xmlns:a16="http://schemas.microsoft.com/office/drawing/2014/main" val="10002"/>
                  </a:ext>
                </a:extLst>
              </a:tr>
              <a:tr h="347472">
                <a:tc>
                  <a:txBody>
                    <a:bodyPr/>
                    <a:lstStyle/>
                    <a:p>
                      <a:pPr marL="0" indent="0" algn="l">
                        <a:buNone/>
                      </a:pPr>
                      <a:r>
                        <a:rPr lang="en-US" sz="1200" b="1" dirty="0">
                          <a:solidFill>
                            <a:srgbClr val="55657A"/>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12,782</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7.5%</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200" b="1" dirty="0">
                          <a:solidFill>
                            <a:srgbClr val="142B4A"/>
                          </a:solidFill>
                          <a:latin typeface="Calibri" pitchFamily="34" charset="0"/>
                          <a:ea typeface="Calibri" pitchFamily="34" charset="-122"/>
                          <a:cs typeface="Calibri" pitchFamily="34" charset="-120"/>
                        </a:rPr>
                        <a:t>$1,348,000</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$1,686</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tc>
                  <a:txBody>
                    <a:bodyPr/>
                    <a:lstStyle/>
                    <a:p>
                      <a:pPr marL="0" indent="0" algn="r">
                        <a:buNone/>
                      </a:pPr>
                      <a:r>
                        <a:rPr lang="en-US" sz="1200" dirty="0">
                          <a:solidFill>
                            <a:srgbClr val="142B4A"/>
                          </a:solidFill>
                          <a:latin typeface="Calibri" pitchFamily="34" charset="0"/>
                          <a:ea typeface="Calibri" pitchFamily="34" charset="-122"/>
                          <a:cs typeface="Calibri" pitchFamily="34" charset="-120"/>
                        </a:rPr>
                        <a:t>775</a:t>
                      </a:r>
                      <a:endParaRPr lang="en-US" sz="1200" dirty="0">
                        <a:latin typeface="Calibri" charset="0"/>
                        <a:ea typeface="Calibri" charset="0"/>
                        <a:cs typeface="Calibri" charset="0"/>
                      </a:endParaRPr>
                    </a:p>
                  </a:txBody>
                  <a:tcPr marL="88900" marR="88900" marT="38100" marB="38100" anchor="ctr">
                    <a:lnL w="0" cap="flat" cmpd="sng" algn="ctr">
                      <a:noFill/>
                    </a:lnL>
                    <a:lnR w="0" cap="flat" cmpd="sng" algn="ctr">
                      <a:noFill/>
                    </a:lnR>
                    <a:lnT w="9525" cap="flat" cmpd="sng" algn="ctr">
                      <a:solidFill>
                        <a:srgbClr val="D9E0E8"/>
                      </a:solidFill>
                      <a:prstDash val="solid"/>
                      <a:round/>
                      <a:headEnd type="none" w="med" len="med"/>
                      <a:tailEnd type="none" w="med" len="med"/>
                    </a:lnT>
                    <a:lnB w="9525" cap="flat" cmpd="sng" algn="ctr">
                      <a:solidFill>
                        <a:srgbClr val="D9E0E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txBox="1"/>
          <p:nvPr/>
        </p:nvSpPr>
        <p:spPr>
          <a:xfrm>
            <a:off x="548640" y="3291840"/>
            <a:ext cx="6400800" cy="219456"/>
          </a:xfrm>
          <a:prstGeom prst="rect">
            <a:avLst/>
          </a:prstGeom>
          <a:noFill/>
          <a:ln/>
        </p:spPr>
        <p:txBody>
          <a:bodyPr wrap="square" lIns="0" tIns="0" rIns="0" bIns="0" rtlCol="0" anchor="ctr"/>
          <a:lstStyle/>
          <a:p>
            <a:pPr marL="0" indent="0">
              <a:buNone/>
            </a:pPr>
            <a:r>
              <a:rPr lang="en-US" sz="1100" b="1" kern="0" spc="150" dirty="0">
                <a:solidFill>
                  <a:srgbClr val="142B4A"/>
                </a:solidFill>
              </a:rPr>
              <a:t>AND WHAT THEY BUY  ·  % of each group’s purchases</a:t>
            </a:r>
            <a:endParaRPr lang="en-US" sz="1100" dirty="0"/>
          </a:p>
        </p:txBody>
      </p:sp>
      <p:graphicFrame>
        <p:nvGraphicFramePr>
          <p:cNvPr id="7" name="Chart 0"/>
          <p:cNvGraphicFramePr/>
          <p:nvPr/>
        </p:nvGraphicFramePr>
        <p:xfrm>
          <a:off x="457200" y="3520440"/>
          <a:ext cx="7040880"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4"/>
          <p:cNvSpPr/>
          <p:nvPr/>
        </p:nvSpPr>
        <p:spPr>
          <a:xfrm>
            <a:off x="7589520" y="1463040"/>
            <a:ext cx="4053535" cy="4480560"/>
          </a:xfrm>
          <a:prstGeom prst="roundRect">
            <a:avLst>
              <a:gd name="adj" fmla="val 1579"/>
            </a:avLst>
          </a:prstGeom>
          <a:solidFill>
            <a:srgbClr val="F4F6F8"/>
          </a:solidFill>
          <a:ln w="9525">
            <a:solidFill>
              <a:srgbClr val="D9E0E8"/>
            </a:solidFill>
            <a:prstDash val="solid"/>
          </a:ln>
        </p:spPr>
      </p:sp>
      <p:sp>
        <p:nvSpPr>
          <p:cNvPr id="9" name="Text 5"/>
          <p:cNvSpPr txBox="1"/>
          <p:nvPr/>
        </p:nvSpPr>
        <p:spPr>
          <a:xfrm>
            <a:off x="7772400" y="1600200"/>
            <a:ext cx="3687775" cy="219456"/>
          </a:xfrm>
          <a:prstGeom prst="rect">
            <a:avLst/>
          </a:prstGeom>
          <a:noFill/>
          <a:ln/>
        </p:spPr>
        <p:txBody>
          <a:bodyPr wrap="square" lIns="0" tIns="0" rIns="0" bIns="0" rtlCol="0" anchor="ctr"/>
          <a:lstStyle/>
          <a:p>
            <a:pPr marL="0" indent="0">
              <a:buNone/>
            </a:pPr>
            <a:r>
              <a:rPr lang="en-US" sz="1100" b="1" kern="0" spc="150" dirty="0">
                <a:solidFill>
                  <a:srgbClr val="167D8D"/>
                </a:solidFill>
              </a:rPr>
              <a:t>READING IT</a:t>
            </a:r>
            <a:endParaRPr lang="en-US" sz="1100" dirty="0"/>
          </a:p>
        </p:txBody>
      </p:sp>
      <p:sp>
        <p:nvSpPr>
          <p:cNvPr id="10" name="Shape 6"/>
          <p:cNvSpPr/>
          <p:nvPr/>
        </p:nvSpPr>
        <p:spPr>
          <a:xfrm>
            <a:off x="7772400" y="1920240"/>
            <a:ext cx="3687775" cy="768096"/>
          </a:xfrm>
          <a:prstGeom prst="rect">
            <a:avLst/>
          </a:prstGeom>
          <a:solidFill>
            <a:srgbClr val="FFFFFF"/>
          </a:solidFill>
          <a:ln w="6350">
            <a:solidFill>
              <a:srgbClr val="D9E0E8"/>
            </a:solidFill>
            <a:prstDash val="solid"/>
          </a:ln>
        </p:spPr>
      </p:sp>
      <p:sp>
        <p:nvSpPr>
          <p:cNvPr id="11" name="Text 7"/>
          <p:cNvSpPr txBox="1"/>
          <p:nvPr/>
        </p:nvSpPr>
        <p:spPr>
          <a:xfrm>
            <a:off x="7909560" y="1975104"/>
            <a:ext cx="3413455" cy="310896"/>
          </a:xfrm>
          <a:prstGeom prst="rect">
            <a:avLst/>
          </a:prstGeom>
          <a:noFill/>
          <a:ln/>
        </p:spPr>
        <p:txBody>
          <a:bodyPr wrap="square" lIns="0" tIns="0" rIns="0" bIns="0" rtlCol="0" anchor="ctr"/>
          <a:lstStyle/>
          <a:p>
            <a:pPr marL="0" indent="0">
              <a:buNone/>
            </a:pPr>
            <a:r>
              <a:rPr lang="en-US" sz="1800" b="1" dirty="0">
                <a:solidFill>
                  <a:srgbClr val="167D8D"/>
                </a:solidFill>
                <a:latin typeface="Cambria" pitchFamily="34" charset="0"/>
                <a:ea typeface="Cambria" pitchFamily="34" charset="-122"/>
                <a:cs typeface="Cambria" pitchFamily="34" charset="-120"/>
              </a:rPr>
              <a:t>$319,200</a:t>
            </a:r>
            <a:endParaRPr lang="en-US" sz="1800" dirty="0"/>
          </a:p>
        </p:txBody>
      </p:sp>
      <p:sp>
        <p:nvSpPr>
          <p:cNvPr id="12" name="Text 8"/>
          <p:cNvSpPr txBox="1"/>
          <p:nvPr/>
        </p:nvSpPr>
        <p:spPr>
          <a:xfrm>
            <a:off x="7909560" y="2286000"/>
            <a:ext cx="3413455" cy="365760"/>
          </a:xfrm>
          <a:prstGeom prst="rect">
            <a:avLst/>
          </a:prstGeom>
          <a:noFill/>
          <a:ln/>
        </p:spPr>
        <p:txBody>
          <a:bodyPr wrap="square" lIns="0" tIns="0" rIns="0" bIns="0" rtlCol="0" anchor="t"/>
          <a:lstStyle/>
          <a:p>
            <a:pPr marL="0" indent="0">
              <a:buNone/>
            </a:pPr>
            <a:r>
              <a:rPr lang="en-US" sz="1150" dirty="0">
                <a:solidFill>
                  <a:srgbClr val="55657A"/>
                </a:solidFill>
              </a:rPr>
              <a:t>median transaction-price gap between the PRIVATE-address and HDB-address groups</a:t>
            </a:r>
            <a:endParaRPr lang="en-US" sz="1150" dirty="0"/>
          </a:p>
        </p:txBody>
      </p:sp>
      <p:sp>
        <p:nvSpPr>
          <p:cNvPr id="13" name="Shape 9"/>
          <p:cNvSpPr/>
          <p:nvPr/>
        </p:nvSpPr>
        <p:spPr>
          <a:xfrm>
            <a:off x="7772400" y="2761488"/>
            <a:ext cx="3687775" cy="768096"/>
          </a:xfrm>
          <a:prstGeom prst="rect">
            <a:avLst/>
          </a:prstGeom>
          <a:solidFill>
            <a:srgbClr val="FFFFFF"/>
          </a:solidFill>
          <a:ln w="6350">
            <a:solidFill>
              <a:srgbClr val="D9E0E8"/>
            </a:solidFill>
            <a:prstDash val="solid"/>
          </a:ln>
        </p:spPr>
      </p:sp>
      <p:sp>
        <p:nvSpPr>
          <p:cNvPr id="14" name="Text 10"/>
          <p:cNvSpPr txBox="1"/>
          <p:nvPr/>
        </p:nvSpPr>
        <p:spPr>
          <a:xfrm>
            <a:off x="7909560" y="2816352"/>
            <a:ext cx="3413455" cy="310896"/>
          </a:xfrm>
          <a:prstGeom prst="rect">
            <a:avLst/>
          </a:prstGeom>
          <a:noFill/>
          <a:ln/>
        </p:spPr>
        <p:txBody>
          <a:bodyPr wrap="square" lIns="0" tIns="0" rIns="0" bIns="0" rtlCol="0" anchor="ctr"/>
          <a:lstStyle/>
          <a:p>
            <a:pPr marL="0" indent="0">
              <a:buNone/>
            </a:pPr>
            <a:r>
              <a:rPr lang="en-US" sz="1800" b="1" dirty="0">
                <a:solidFill>
                  <a:srgbClr val="167D8D"/>
                </a:solidFill>
                <a:latin typeface="Cambria" pitchFamily="34" charset="0"/>
                <a:ea typeface="Cambria" pitchFamily="34" charset="-122"/>
                <a:cs typeface="Cambria" pitchFamily="34" charset="-120"/>
              </a:rPr>
              <a:t>53.9% vs 39.8%</a:t>
            </a:r>
            <a:endParaRPr lang="en-US" sz="1800" dirty="0"/>
          </a:p>
        </p:txBody>
      </p:sp>
      <p:sp>
        <p:nvSpPr>
          <p:cNvPr id="15" name="Text 11"/>
          <p:cNvSpPr txBox="1"/>
          <p:nvPr/>
        </p:nvSpPr>
        <p:spPr>
          <a:xfrm>
            <a:off x="7909560" y="3127248"/>
            <a:ext cx="3413455" cy="365760"/>
          </a:xfrm>
          <a:prstGeom prst="rect">
            <a:avLst/>
          </a:prstGeom>
          <a:noFill/>
          <a:ln/>
        </p:spPr>
        <p:txBody>
          <a:bodyPr wrap="square" lIns="0" tIns="0" rIns="0" bIns="0" rtlCol="0" anchor="t"/>
          <a:lstStyle/>
          <a:p>
            <a:pPr marL="0" indent="0">
              <a:buNone/>
            </a:pPr>
            <a:r>
              <a:rPr lang="en-US" sz="1150" dirty="0">
                <a:solidFill>
                  <a:srgbClr val="55657A"/>
                </a:solidFill>
              </a:rPr>
              <a:t>share of purchases that are new launches — higher for the HDB-address group</a:t>
            </a:r>
            <a:endParaRPr lang="en-US" sz="1150" dirty="0"/>
          </a:p>
        </p:txBody>
      </p:sp>
      <p:sp>
        <p:nvSpPr>
          <p:cNvPr id="16" name="Shape 12"/>
          <p:cNvSpPr/>
          <p:nvPr/>
        </p:nvSpPr>
        <p:spPr>
          <a:xfrm>
            <a:off x="7772400" y="3602736"/>
            <a:ext cx="3687775" cy="768096"/>
          </a:xfrm>
          <a:prstGeom prst="rect">
            <a:avLst/>
          </a:prstGeom>
          <a:solidFill>
            <a:srgbClr val="FFFFFF"/>
          </a:solidFill>
          <a:ln w="6350">
            <a:solidFill>
              <a:srgbClr val="D9E0E8"/>
            </a:solidFill>
            <a:prstDash val="solid"/>
          </a:ln>
        </p:spPr>
      </p:sp>
      <p:sp>
        <p:nvSpPr>
          <p:cNvPr id="17" name="Text 13"/>
          <p:cNvSpPr txBox="1"/>
          <p:nvPr/>
        </p:nvSpPr>
        <p:spPr>
          <a:xfrm>
            <a:off x="7909560" y="3657600"/>
            <a:ext cx="3413455" cy="310896"/>
          </a:xfrm>
          <a:prstGeom prst="rect">
            <a:avLst/>
          </a:prstGeom>
          <a:noFill/>
          <a:ln/>
        </p:spPr>
        <p:txBody>
          <a:bodyPr wrap="square" lIns="0" tIns="0" rIns="0" bIns="0" rtlCol="0" anchor="ctr"/>
          <a:lstStyle/>
          <a:p>
            <a:pPr marL="0" indent="0">
              <a:buNone/>
            </a:pPr>
            <a:r>
              <a:rPr lang="en-US" sz="1800" b="1" dirty="0">
                <a:solidFill>
                  <a:srgbClr val="167D8D"/>
                </a:solidFill>
                <a:latin typeface="Cambria" pitchFamily="34" charset="0"/>
                <a:ea typeface="Cambria" pitchFamily="34" charset="-122"/>
                <a:cs typeface="Cambria" pitchFamily="34" charset="-120"/>
              </a:rPr>
              <a:t>$1,327 vs $1,452</a:t>
            </a:r>
            <a:endParaRPr lang="en-US" sz="1800" dirty="0"/>
          </a:p>
        </p:txBody>
      </p:sp>
      <p:sp>
        <p:nvSpPr>
          <p:cNvPr id="18" name="Text 14"/>
          <p:cNvSpPr txBox="1"/>
          <p:nvPr/>
        </p:nvSpPr>
        <p:spPr>
          <a:xfrm>
            <a:off x="7909560" y="3968496"/>
            <a:ext cx="3413455" cy="365760"/>
          </a:xfrm>
          <a:prstGeom prst="rect">
            <a:avLst/>
          </a:prstGeom>
          <a:noFill/>
          <a:ln/>
        </p:spPr>
        <p:txBody>
          <a:bodyPr wrap="square" lIns="0" tIns="0" rIns="0" bIns="0" rtlCol="0" anchor="t"/>
          <a:lstStyle/>
          <a:p>
            <a:pPr marL="0" indent="0">
              <a:buNone/>
            </a:pPr>
            <a:r>
              <a:rPr lang="en-US" sz="1150" dirty="0">
                <a:solidFill>
                  <a:srgbClr val="55657A"/>
                </a:solidFill>
              </a:rPr>
              <a:t>median $psf — HDB-address buyers pay less per square foot</a:t>
            </a:r>
            <a:endParaRPr lang="en-US" sz="1150" dirty="0"/>
          </a:p>
        </p:txBody>
      </p:sp>
      <p:sp>
        <p:nvSpPr>
          <p:cNvPr id="5" name="Text 18"/>
          <p:cNvSpPr txBox="1"/>
          <p:nvPr/>
        </p:nvSpPr>
        <p:spPr>
          <a:xfrm>
            <a:off x="7772400" y="4617720"/>
            <a:ext cx="3687775" cy="566928"/>
          </a:xfrm>
          <a:prstGeom prst="rect">
            <a:avLst/>
          </a:prstGeom>
          <a:noFill/>
          <a:ln/>
        </p:spPr>
        <p:txBody>
          <a:bodyPr wrap="square" lIns="0" tIns="0" rIns="0" bIns="0" rtlCol="0" anchor="t"/>
          <a:lstStyle/>
          <a:p>
            <a:pPr marL="0" indent="0">
              <a:buNone/>
            </a:pPr>
            <a:r>
              <a:rPr lang="en-US" sz="1100" i="1" dirty="0">
                <a:solidFill>
                  <a:srgbClr val="55657A"/>
                </a:solidFill>
              </a:rPr>
              <a:t>N.A is 7.5% of sales and 97.1% new launches — a source category recorded from 2015, which are likely to be foreign investors</a:t>
            </a:r>
            <a:endParaRPr lang="en-US" sz="1100" dirty="0"/>
          </a:p>
        </p:txBody>
      </p:sp>
      <p:sp>
        <p:nvSpPr>
          <p:cNvPr id="25" name="Slide Number Placeholder 0"/>
          <p:cNvSpPr>
            <a:spLocks noGrp="1"/>
          </p:cNvSpPr>
          <p:nvPr>
            <p:ph type="sldNum" sz="quarter" idx="4294967295"/>
          </p:nvPr>
        </p:nvSpPr>
        <p:spPr>
          <a:xfrm>
            <a:off x="10972800" y="6473952"/>
            <a:ext cx="670255" cy="201168"/>
          </a:xfrm>
          <a:prstGeom prst="rect">
            <a:avLst/>
          </a:prstGeom>
          <a:extLst>
            <a:ext uri="{C572A759-6A51-4108-AA02-DFA0A04FC94B}">
              <ma14:wrappingTextBoxFlag xmlns:ma14="http://schemas.microsoft.com/office/mac/drawingml/2011/main" xmlns="" val="0"/>
            </a:ext>
          </a:extLst>
        </p:spPr>
        <p:txBody>
          <a:bodyPr/>
          <a:lstStyle>
            <a:lvl1pPr>
              <a:defRPr sz="1000">
                <a:solidFill>
                  <a:srgbClr val="7A8797"/>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Illustration of a data pipeline"/>
          <p:cNvPicPr>
            <a:picLocks noChangeAspect="1"/>
          </p:cNvPicPr>
          <p:nvPr/>
        </p:nvPicPr>
        <p:blipFill>
          <a:blip r:embed="rId3"/>
          <a:stretch>
            <a:fillRect/>
          </a:stretch>
        </p:blipFill>
        <p:spPr>
          <a:xfrm>
            <a:off x="5952744" y="0"/>
            <a:ext cx="6238951" cy="6858000"/>
          </a:xfrm>
          <a:prstGeom prst="rect">
            <a:avLst/>
          </a:prstGeom>
        </p:spPr>
      </p:pic>
      <p:sp>
        <p:nvSpPr>
          <p:cNvPr id="3" name="Text 0"/>
          <p:cNvSpPr txBox="1"/>
          <p:nvPr/>
        </p:nvSpPr>
        <p:spPr>
          <a:xfrm>
            <a:off x="548640" y="1737360"/>
            <a:ext cx="5303520" cy="914400"/>
          </a:xfrm>
          <a:prstGeom prst="rect">
            <a:avLst/>
          </a:prstGeom>
          <a:noFill/>
          <a:ln/>
        </p:spPr>
        <p:txBody>
          <a:bodyPr wrap="square" lIns="0" tIns="0" rIns="0" bIns="0" rtlCol="0" anchor="ctr"/>
          <a:lstStyle/>
          <a:p>
            <a:pPr marL="0" indent="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4" name="Text 1"/>
          <p:cNvSpPr txBox="1"/>
          <p:nvPr/>
        </p:nvSpPr>
        <p:spPr>
          <a:xfrm>
            <a:off x="548640" y="3200400"/>
            <a:ext cx="4937760" cy="219456"/>
          </a:xfrm>
          <a:prstGeom prst="rect">
            <a:avLst/>
          </a:prstGeom>
          <a:noFill/>
          <a:ln/>
        </p:spPr>
        <p:txBody>
          <a:bodyPr wrap="square" lIns="0" tIns="0" rIns="0" bIns="0" rtlCol="0" anchor="ctr"/>
          <a:lstStyle/>
          <a:p>
            <a:pPr marL="0" indent="0">
              <a:buNone/>
            </a:pPr>
            <a:r>
              <a:rPr lang="en-US" sz="1100" b="1" kern="0" spc="150" dirty="0">
                <a:solidFill>
                  <a:srgbClr val="6CC6D3"/>
                </a:solidFill>
              </a:rPr>
              <a:t>DATA</a:t>
            </a:r>
            <a:endParaRPr lang="en-US" sz="1100" dirty="0"/>
          </a:p>
        </p:txBody>
      </p:sp>
      <p:sp>
        <p:nvSpPr>
          <p:cNvPr id="5" name="Text 2"/>
          <p:cNvSpPr txBox="1"/>
          <p:nvPr/>
        </p:nvSpPr>
        <p:spPr>
          <a:xfrm>
            <a:off x="548640" y="3493008"/>
            <a:ext cx="4937760" cy="640080"/>
          </a:xfrm>
          <a:prstGeom prst="rect">
            <a:avLst/>
          </a:prstGeom>
          <a:noFill/>
          <a:ln/>
        </p:spPr>
        <p:txBody>
          <a:bodyPr wrap="square" lIns="0" tIns="0" rIns="0" bIns="0" rtlCol="0" anchor="t"/>
          <a:lstStyle/>
          <a:p>
            <a:pPr marL="0" indent="0">
              <a:buNone/>
            </a:pPr>
            <a:r>
              <a:rPr lang="en-US" sz="1500" dirty="0">
                <a:solidFill>
                  <a:srgbClr val="FFFFFF"/>
                </a:solidFill>
              </a:rPr>
              <a:t>URA private residential transactions, April 2013 – April 2022 (19 CSV exports)</a:t>
            </a:r>
            <a:endParaRPr lang="en-US" sz="1500" dirty="0"/>
          </a:p>
        </p:txBody>
      </p:sp>
      <p:sp>
        <p:nvSpPr>
          <p:cNvPr id="6" name="Text 3"/>
          <p:cNvSpPr txBox="1"/>
          <p:nvPr/>
        </p:nvSpPr>
        <p:spPr>
          <a:xfrm>
            <a:off x="548640" y="4343400"/>
            <a:ext cx="4937760" cy="219456"/>
          </a:xfrm>
          <a:prstGeom prst="rect">
            <a:avLst/>
          </a:prstGeom>
          <a:noFill/>
          <a:ln/>
        </p:spPr>
        <p:txBody>
          <a:bodyPr wrap="square" lIns="0" tIns="0" rIns="0" bIns="0" rtlCol="0" anchor="ctr"/>
          <a:lstStyle/>
          <a:p>
            <a:pPr marL="0" indent="0">
              <a:buNone/>
            </a:pPr>
            <a:r>
              <a:rPr lang="en-US" sz="1100" b="1" kern="0" spc="150" dirty="0">
                <a:solidFill>
                  <a:srgbClr val="6CC6D3"/>
                </a:solidFill>
              </a:rPr>
              <a:t>STACK</a:t>
            </a:r>
            <a:endParaRPr lang="en-US" sz="1100" dirty="0"/>
          </a:p>
        </p:txBody>
      </p:sp>
      <p:sp>
        <p:nvSpPr>
          <p:cNvPr id="7" name="Text 4"/>
          <p:cNvSpPr txBox="1"/>
          <p:nvPr/>
        </p:nvSpPr>
        <p:spPr>
          <a:xfrm>
            <a:off x="548640" y="4636008"/>
            <a:ext cx="4937760" cy="640080"/>
          </a:xfrm>
          <a:prstGeom prst="rect">
            <a:avLst/>
          </a:prstGeom>
          <a:noFill/>
          <a:ln/>
        </p:spPr>
        <p:txBody>
          <a:bodyPr wrap="square" lIns="0" tIns="0" rIns="0" bIns="0" rtlCol="0" anchor="t"/>
          <a:lstStyle/>
          <a:p>
            <a:pPr marL="0" indent="0">
              <a:buNone/>
            </a:pPr>
            <a:r>
              <a:rPr lang="en-US" sz="1500" dirty="0">
                <a:solidFill>
                  <a:srgbClr val="FFFFFF"/>
                </a:solidFill>
              </a:rPr>
              <a:t>DuckDB · Meltano · BigQuery · dbt · Great Expectations · SQLAlchemy + pandas</a:t>
            </a:r>
            <a:endParaRPr lang="en-US" sz="1500" dirty="0"/>
          </a:p>
        </p:txBody>
      </p:sp>
    </p:spTree>
  </p:cSld>
  <p:clrMapOvr>
    <a:masterClrMapping/>
  </p:clrMapOvr>
</p:sld>
</file>

<file path=ppt/theme/theme1.xml><?xml version="1.0" encoding="utf-8"?>
<a:theme xmlns:a="http://schemas.openxmlformats.org/drawingml/2006/main" name="Property Pipeline">
  <a:themeElements>
    <a:clrScheme name="Property Pipeline">
      <a:dk1>
        <a:srgbClr val="142B4A"/>
      </a:dk1>
      <a:lt1>
        <a:srgbClr val="FFFFFF"/>
      </a:lt1>
      <a:dk2>
        <a:srgbClr val="142B4A"/>
      </a:dk2>
      <a:lt2>
        <a:srgbClr val="F4F6F8"/>
      </a:lt2>
      <a:accent1>
        <a:srgbClr val="167D8D"/>
      </a:accent1>
      <a:accent2>
        <a:srgbClr val="E4A64B"/>
      </a:accent2>
      <a:accent3>
        <a:srgbClr val="55657A"/>
      </a:accent3>
      <a:accent4>
        <a:srgbClr val="6CC6D3"/>
      </a:accent4>
      <a:accent5>
        <a:srgbClr val="0E5663"/>
      </a:accent5>
      <a:accent6>
        <a:srgbClr val="D9E0E8"/>
      </a:accent6>
      <a:hlink>
        <a:srgbClr val="167D8D"/>
      </a:hlink>
      <a:folHlink>
        <a:srgbClr val="55657A"/>
      </a:folHlink>
    </a:clrScheme>
    <a:fontScheme name="Property Pipeli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221</TotalTime>
  <Words>5552</Words>
  <Application>Microsoft Office PowerPoint</Application>
  <PresentationFormat>Widescreen</PresentationFormat>
  <Paragraphs>633</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-apple-system-body</vt:lpstr>
      <vt:lpstr>Arial</vt:lpstr>
      <vt:lpstr>Calibri</vt:lpstr>
      <vt:lpstr>Cambria</vt:lpstr>
      <vt:lpstr>Courier New</vt:lpstr>
      <vt:lpstr>Property Pipeline</vt:lpstr>
      <vt:lpstr>PowerPoint Presentation</vt:lpstr>
      <vt:lpstr>PowerPoint Presentation</vt:lpstr>
      <vt:lpstr>Every defect in the raw export fails silently</vt:lpstr>
      <vt:lpstr>Only dbt runs inside BigQuery; Great Expectations and the analysis notebook read out of it</vt:lpstr>
      <vt:lpstr>PowerPoint Presentation</vt:lpstr>
      <vt:lpstr>Price and area fields contain text-formatted numbers that need cleaning</vt:lpstr>
      <vt:lpstr>Eleven tests check that the cleaning worked, before the star schema is allowed to build</vt:lpstr>
      <vt:lpstr>Twenty-one raw columns split three ways; star adds 2 more</vt:lpstr>
      <vt:lpstr>PowerPoint Presentation</vt:lpstr>
      <vt:lpstr>PowerPoint Presentation</vt:lpstr>
      <vt:lpstr>PowerPoint Presentation</vt:lpstr>
      <vt:lpstr>PowerPoint Presentation</vt:lpstr>
      <vt:lpstr>PowerPoint Presentation</vt:lpstr>
      <vt:lpstr>Monthly median $psf ranged from $1,044 to $1,813 across Apr 2013–Apr 2022</vt:lpstr>
      <vt:lpstr>Ten projects account for 15,132 sales — 8.9% of all 170,224 transactions</vt:lpstr>
      <vt:lpstr>Central’s median price per sq ft is 1.59× the North’s, and Central holds 51% of all sales</vt:lpstr>
      <vt:lpstr>HDB-address(Buyer) transactions have a lower median price and a higher new-sale share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Singapore Property Transaction Pipeline</dc:title>
  <dc:subject>PptxGenJS Presentation</dc:subject>
  <dc:creator>Group 5</dc:creator>
  <cp:lastModifiedBy>sy wong</cp:lastModifiedBy>
  <cp:revision>113</cp:revision>
  <dcterms:created xsi:type="dcterms:W3CDTF">2026-10-14T06:58:18Z</dcterms:created>
  <dcterms:modified xsi:type="dcterms:W3CDTF">2026-10-15T14:07:39Z</dcterms:modified>
</cp:coreProperties>
</file>